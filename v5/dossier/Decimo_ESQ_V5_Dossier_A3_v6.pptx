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512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jpg"/><Relationship Id="rId4" Type="http://schemas.openxmlformats.org/officeDocument/2006/relationships/image" Target="../media/image20.jpg"/><Relationship Id="rId5"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3.jpg"/><Relationship Id="rId5" Type="http://schemas.openxmlformats.org/officeDocument/2006/relationships/image" Target="../media/image24.jpg"/><Relationship Id="rId6"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7.jpg"/><Relationship Id="rId4" Type="http://schemas.openxmlformats.org/officeDocument/2006/relationships/image" Target="../media/image28.jpg"/><Relationship Id="rId5"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image" Target="../media/image30.jpg"/><Relationship Id="rId4" Type="http://schemas.openxmlformats.org/officeDocument/2006/relationships/image" Target="../media/image31.jpg"/><Relationship Id="rId5" Type="http://schemas.openxmlformats.org/officeDocument/2006/relationships/image" Target="../media/image32.jpg"/><Relationship Id="rId6" Type="http://schemas.openxmlformats.org/officeDocument/2006/relationships/image" Target="../media/image33.jpg"/><Relationship Id="rId7"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jpg"/>
          <p:cNvPicPr>
            <a:picLocks noChangeAspect="1"/>
          </p:cNvPicPr>
          <p:nvPr/>
        </p:nvPicPr>
        <p:blipFill>
          <a:blip r:embed="rId2"/>
          <a:stretch>
            <a:fillRect/>
          </a:stretch>
        </p:blipFill>
        <p:spPr>
          <a:xfrm>
            <a:off x="504000" y="504000"/>
            <a:ext cx="8172000" cy="9684000"/>
          </a:xfrm>
          <a:prstGeom prst="rect">
            <a:avLst/>
          </a:prstGeom>
        </p:spPr>
      </p:pic>
      <p:cxnSp>
        <p:nvCxnSpPr>
          <p:cNvPr id="3" name="Connector 2"/>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4" name="Picture 3" descr="KDemi_v3_A_arche_lockup_mono.png"/>
          <p:cNvPicPr>
            <a:picLocks noChangeAspect="1"/>
          </p:cNvPicPr>
          <p:nvPr/>
        </p:nvPicPr>
        <p:blipFill>
          <a:blip r:embed="rId3"/>
          <a:stretch>
            <a:fillRect/>
          </a:stretch>
        </p:blipFill>
        <p:spPr>
          <a:xfrm>
            <a:off x="9468000" y="504000"/>
            <a:ext cx="1872000" cy="634920"/>
          </a:xfrm>
          <a:prstGeom prst="rect">
            <a:avLst/>
          </a:prstGeom>
        </p:spPr>
      </p:pic>
      <p:sp>
        <p:nvSpPr>
          <p:cNvPr id="5" name="TextBox 4"/>
          <p:cNvSpPr txBox="1"/>
          <p:nvPr/>
        </p:nvSpPr>
        <p:spPr>
          <a:xfrm>
            <a:off x="9468000" y="3744000"/>
            <a:ext cx="5292000" cy="1222400"/>
          </a:xfrm>
          <a:prstGeom prst="rect">
            <a:avLst/>
          </a:prstGeom>
          <a:noFill/>
        </p:spPr>
        <p:txBody>
          <a:bodyPr wrap="square" lIns="0" rIns="0" tIns="0" bIns="0" anchor="t">
            <a:spAutoFit/>
          </a:bodyPr>
          <a:lstStyle/>
          <a:p>
            <a:pPr algn="l">
              <a:lnSpc>
                <a:spcPts val="4600"/>
              </a:lnSpc>
            </a:pPr>
            <a:r>
              <a:rPr sz="4400" b="1">
                <a:solidFill>
                  <a:srgbClr val="4A4A4A"/>
                </a:solidFill>
                <a:latin typeface="Archivo"/>
              </a:rPr>
              <a:t>Bibliothèque</a:t>
            </a:r>
          </a:p>
          <a:p>
            <a:pPr algn="l">
              <a:lnSpc>
                <a:spcPts val="4600"/>
              </a:lnSpc>
            </a:pPr>
            <a:r>
              <a:rPr sz="4400" b="1">
                <a:solidFill>
                  <a:srgbClr val="4A4A4A"/>
                </a:solidFill>
                <a:latin typeface="Archivo"/>
              </a:rPr>
              <a:t>Decimo</a:t>
            </a:r>
          </a:p>
        </p:txBody>
      </p:sp>
      <p:cxnSp>
        <p:nvCxnSpPr>
          <p:cNvPr id="6" name="Connector 5"/>
          <p:cNvCxnSpPr/>
          <p:nvPr/>
        </p:nvCxnSpPr>
        <p:spPr>
          <a:xfrm>
            <a:off x="9468000" y="5184000"/>
            <a:ext cx="648000" cy="0"/>
          </a:xfrm>
          <a:prstGeom prst="line">
            <a:avLst/>
          </a:prstGeom>
          <a:ln w="12700">
            <a:solidFill>
              <a:srgbClr val="B4583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468000" y="5400000"/>
            <a:ext cx="5292000" cy="244499"/>
          </a:xfrm>
          <a:prstGeom prst="rect">
            <a:avLst/>
          </a:prstGeom>
          <a:noFill/>
        </p:spPr>
        <p:txBody>
          <a:bodyPr wrap="square" lIns="0" rIns="0" tIns="0" bIns="0" anchor="t">
            <a:spAutoFit/>
          </a:bodyPr>
          <a:lstStyle/>
          <a:p>
            <a:pPr algn="l">
              <a:lnSpc>
                <a:spcPts val="1500"/>
              </a:lnSpc>
            </a:pPr>
            <a:r>
              <a:rPr sz="1150">
                <a:solidFill>
                  <a:srgbClr val="4A4A4A"/>
                </a:solidFill>
                <a:latin typeface="Archivo"/>
              </a:rPr>
              <a:t>Esquisse V5 · aménagement intérieur et devanture</a:t>
            </a:r>
          </a:p>
        </p:txBody>
      </p:sp>
      <p:sp>
        <p:nvSpPr>
          <p:cNvPr id="8" name="TextBox 7"/>
          <p:cNvSpPr txBox="1"/>
          <p:nvPr/>
        </p:nvSpPr>
        <p:spPr>
          <a:xfrm>
            <a:off x="9468000" y="5760000"/>
            <a:ext cx="5292000" cy="409599"/>
          </a:xfrm>
          <a:prstGeom prst="rect">
            <a:avLst/>
          </a:prstGeom>
          <a:noFill/>
        </p:spPr>
        <p:txBody>
          <a:bodyPr wrap="square" lIns="0" rIns="0" tIns="0" bIns="0" anchor="t">
            <a:spAutoFit/>
          </a:bodyPr>
          <a:lstStyle/>
          <a:p>
            <a:pPr algn="l">
              <a:lnSpc>
                <a:spcPts val="1400"/>
              </a:lnSpc>
            </a:pPr>
            <a:r>
              <a:rPr sz="1000">
                <a:solidFill>
                  <a:srgbClr val="8C8C8C"/>
                </a:solidFill>
                <a:latin typeface="Archivo"/>
              </a:rPr>
              <a:t>Local en rez-de-chaussée sous logements</a:t>
            </a:r>
          </a:p>
          <a:p>
            <a:pPr algn="l">
              <a:lnSpc>
                <a:spcPts val="1400"/>
              </a:lnSpc>
            </a:pPr>
            <a:r>
              <a:rPr sz="1000">
                <a:solidFill>
                  <a:srgbClr val="8C8C8C"/>
                </a:solidFill>
                <a:latin typeface="Archivo"/>
              </a:rPr>
              <a:t>Deux Plateaux, Abidjan</a:t>
            </a:r>
          </a:p>
        </p:txBody>
      </p:sp>
      <p:cxnSp>
        <p:nvCxnSpPr>
          <p:cNvPr id="9" name="Connector 8"/>
          <p:cNvCxnSpPr/>
          <p:nvPr/>
        </p:nvCxnSpPr>
        <p:spPr>
          <a:xfrm>
            <a:off x="9468000" y="8712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468000" y="8856000"/>
            <a:ext cx="5292000" cy="155600"/>
          </a:xfrm>
          <a:prstGeom prst="rect">
            <a:avLst/>
          </a:prstGeom>
          <a:noFill/>
        </p:spPr>
        <p:txBody>
          <a:bodyPr wrap="square" lIns="0" rIns="0" tIns="0" bIns="0" anchor="t">
            <a:spAutoFit/>
          </a:bodyPr>
          <a:lstStyle/>
          <a:p>
            <a:pPr algn="l">
              <a:lnSpc>
                <a:spcPts val="800"/>
              </a:lnSpc>
            </a:pPr>
            <a:r>
              <a:rPr sz="680">
                <a:solidFill>
                  <a:srgbClr val="8C8C8C"/>
                </a:solidFill>
                <a:latin typeface="Archivo"/>
              </a:rPr>
              <a:t>DOSSIER DE PRÉSENTATION</a:t>
            </a:r>
          </a:p>
        </p:txBody>
      </p:sp>
      <p:sp>
        <p:nvSpPr>
          <p:cNvPr id="11" name="TextBox 10"/>
          <p:cNvSpPr txBox="1"/>
          <p:nvPr/>
        </p:nvSpPr>
        <p:spPr>
          <a:xfrm>
            <a:off x="9468000" y="9036000"/>
            <a:ext cx="529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D.A · plans · coupe · élévations · vues 3D · axonométries · électricité · plomberie · détails techniques</a:t>
            </a:r>
          </a:p>
        </p:txBody>
      </p:sp>
      <p:sp>
        <p:nvSpPr>
          <p:cNvPr id="12" name="TextBox 11"/>
          <p:cNvSpPr txBox="1"/>
          <p:nvPr/>
        </p:nvSpPr>
        <p:spPr>
          <a:xfrm>
            <a:off x="9468000" y="9468000"/>
            <a:ext cx="529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15 octobre 2026 · indice F</a:t>
            </a:r>
          </a:p>
        </p:txBody>
      </p:sp>
      <p:sp>
        <p:nvSpPr>
          <p:cNvPr id="13" name="TextBox 12"/>
          <p:cNvSpPr txBox="1"/>
          <p:nvPr/>
        </p:nvSpPr>
        <p:spPr>
          <a:xfrm>
            <a:off x="9468000" y="9864000"/>
            <a:ext cx="529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En couverture : l'arbre à livres sous l'oculus indigo, rendu tiré de la vue 04 de la maquette IFC V5</a:t>
            </a:r>
          </a:p>
        </p:txBody>
      </p:sp>
      <p:sp>
        <p:nvSpPr>
          <p:cNvPr id="14" name="TextBox 13"/>
          <p:cNvSpPr txBox="1"/>
          <p:nvPr/>
        </p:nvSpPr>
        <p:spPr>
          <a:xfrm>
            <a:off x="9468000" y="10404000"/>
            <a:ext cx="216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 · architecture · intérieur</a:t>
            </a:r>
          </a:p>
        </p:txBody>
      </p:sp>
      <p:sp>
        <p:nvSpPr>
          <p:cNvPr id="15" name="TextBox 1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02_dev.jpg"/>
          <p:cNvPicPr>
            <a:picLocks noChangeAspect="1"/>
          </p:cNvPicPr>
          <p:nvPr/>
        </p:nvPicPr>
        <p:blipFill>
          <a:blip r:embed="rId2"/>
          <a:stretch>
            <a:fillRect/>
          </a:stretch>
        </p:blipFill>
        <p:spPr>
          <a:xfrm>
            <a:off x="504000" y="504000"/>
            <a:ext cx="8172000" cy="5400000"/>
          </a:xfrm>
          <a:prstGeom prst="rect">
            <a:avLst/>
          </a:prstGeom>
        </p:spPr>
      </p:pic>
      <p:sp>
        <p:nvSpPr>
          <p:cNvPr id="3" name="TextBox 2"/>
          <p:cNvSpPr txBox="1"/>
          <p:nvPr/>
        </p:nvSpPr>
        <p:spPr>
          <a:xfrm>
            <a:off x="504000" y="5976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La devanture sous la pergola conservée de la V4, rendu tiré de la vue 01 de la maquette</a:t>
            </a:r>
          </a:p>
        </p:txBody>
      </p:sp>
      <p:cxnSp>
        <p:nvCxnSpPr>
          <p:cNvPr id="4" name="Connector 3"/>
          <p:cNvCxnSpPr/>
          <p:nvPr/>
        </p:nvCxnSpPr>
        <p:spPr>
          <a:xfrm>
            <a:off x="504000" y="6336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4000" y="6480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Le lieu</a:t>
            </a:r>
          </a:p>
        </p:txBody>
      </p:sp>
      <p:sp>
        <p:nvSpPr>
          <p:cNvPr id="6" name="TextBox 5"/>
          <p:cNvSpPr txBox="1"/>
          <p:nvPr/>
        </p:nvSpPr>
        <p:spPr>
          <a:xfrm>
            <a:off x="504000" y="6768000"/>
            <a:ext cx="2604000" cy="879499"/>
          </a:xfrm>
          <a:prstGeom prst="rect">
            <a:avLst/>
          </a:prstGeom>
          <a:noFill/>
        </p:spPr>
        <p:txBody>
          <a:bodyPr wrap="square" lIns="0" rIns="0" tIns="0" bIns="0" anchor="t">
            <a:spAutoFit/>
          </a:bodyPr>
          <a:lstStyle/>
          <a:p>
            <a:pPr algn="l">
              <a:lnSpc>
                <a:spcPts val="1300"/>
              </a:lnSpc>
            </a:pPr>
            <a:r>
              <a:rPr sz="900">
                <a:solidFill>
                  <a:srgbClr val="4A4A4A"/>
                </a:solidFill>
                <a:latin typeface="Archivo"/>
              </a:rPr>
              <a:t>Un local commercial de 6,78 × 7,68 m au rez-de-chaussée d'un immeuble de logements, à Deux Plateaux. Poteaux, voiles et dalle haute appartiennent à l'immeuble et restent intacts : le projet est un aménagement, pas une construction.</a:t>
            </a:r>
          </a:p>
        </p:txBody>
      </p:sp>
      <p:cxnSp>
        <p:nvCxnSpPr>
          <p:cNvPr id="7" name="Connector 6"/>
          <p:cNvCxnSpPr/>
          <p:nvPr/>
        </p:nvCxnSpPr>
        <p:spPr>
          <a:xfrm>
            <a:off x="3288000" y="6336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288000" y="6480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Le programme</a:t>
            </a:r>
          </a:p>
        </p:txBody>
      </p:sp>
      <p:sp>
        <p:nvSpPr>
          <p:cNvPr id="9" name="TextBox 8"/>
          <p:cNvSpPr txBox="1"/>
          <p:nvPr/>
        </p:nvSpPr>
        <p:spPr>
          <a:xfrm>
            <a:off x="3288000" y="6768000"/>
            <a:ext cx="2604000" cy="879499"/>
          </a:xfrm>
          <a:prstGeom prst="rect">
            <a:avLst/>
          </a:prstGeom>
          <a:noFill/>
        </p:spPr>
        <p:txBody>
          <a:bodyPr wrap="square" lIns="0" rIns="0" tIns="0" bIns="0" anchor="t">
            <a:spAutoFit/>
          </a:bodyPr>
          <a:lstStyle/>
          <a:p>
            <a:pPr algn="l">
              <a:lnSpc>
                <a:spcPts val="1300"/>
              </a:lnSpc>
            </a:pPr>
            <a:r>
              <a:rPr sz="900">
                <a:solidFill>
                  <a:srgbClr val="4A4A4A"/>
                </a:solidFill>
                <a:latin typeface="Archivo"/>
              </a:rPr>
              <a:t>Une bibliothèque de quartier : une salle de lecture autour de l'arbre à livres, un coin lecture en vitrine, une salle de réunion, un seul WC, un rangement et un placard technique. La terrasse couverte prolonge la lecture sur la rue.</a:t>
            </a:r>
          </a:p>
        </p:txBody>
      </p:sp>
      <p:cxnSp>
        <p:nvCxnSpPr>
          <p:cNvPr id="10" name="Connector 9"/>
          <p:cNvCxnSpPr/>
          <p:nvPr/>
        </p:nvCxnSpPr>
        <p:spPr>
          <a:xfrm>
            <a:off x="6072000" y="6336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72000" y="6480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Le parti</a:t>
            </a:r>
          </a:p>
        </p:txBody>
      </p:sp>
      <p:sp>
        <p:nvSpPr>
          <p:cNvPr id="12" name="TextBox 11"/>
          <p:cNvSpPr txBox="1"/>
          <p:nvPr/>
        </p:nvSpPr>
        <p:spPr>
          <a:xfrm>
            <a:off x="6072000" y="6768000"/>
            <a:ext cx="2604000" cy="714399"/>
          </a:xfrm>
          <a:prstGeom prst="rect">
            <a:avLst/>
          </a:prstGeom>
          <a:noFill/>
        </p:spPr>
        <p:txBody>
          <a:bodyPr wrap="square" lIns="0" rIns="0" tIns="0" bIns="0" anchor="t">
            <a:spAutoFit/>
          </a:bodyPr>
          <a:lstStyle/>
          <a:p>
            <a:pPr algn="l">
              <a:lnSpc>
                <a:spcPts val="1300"/>
              </a:lnSpc>
            </a:pPr>
            <a:r>
              <a:rPr sz="900">
                <a:solidFill>
                  <a:srgbClr val="4A4A4A"/>
                </a:solidFill>
                <a:latin typeface="Archivo"/>
              </a:rPr>
              <a:t>Terre, ombre et bois. La claustra en terre cuite filtre le soleil, l'iroko habille tout ce qui se touche et la chaux tout ce qui se voit. L'arbre à livres et son oculus indigo sont le seul objet fort de la salle.</a:t>
            </a:r>
          </a:p>
        </p:txBody>
      </p:sp>
      <p:cxnSp>
        <p:nvCxnSpPr>
          <p:cNvPr id="13" name="Connector 12"/>
          <p:cNvCxnSpPr/>
          <p:nvPr/>
        </p:nvCxnSpPr>
        <p:spPr>
          <a:xfrm>
            <a:off x="504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4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43,55 m²</a:t>
            </a:r>
          </a:p>
        </p:txBody>
      </p:sp>
      <p:sp>
        <p:nvSpPr>
          <p:cNvPr id="15" name="TextBox 14"/>
          <p:cNvSpPr txBox="1"/>
          <p:nvPr/>
        </p:nvSpPr>
        <p:spPr>
          <a:xfrm>
            <a:off x="504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surface intérieure, 7 espaces</a:t>
            </a:r>
          </a:p>
        </p:txBody>
      </p:sp>
      <p:cxnSp>
        <p:nvCxnSpPr>
          <p:cNvPr id="16" name="Connector 15"/>
          <p:cNvCxnSpPr/>
          <p:nvPr/>
        </p:nvCxnSpPr>
        <p:spPr>
          <a:xfrm>
            <a:off x="2592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592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15,74 m²</a:t>
            </a:r>
          </a:p>
        </p:txBody>
      </p:sp>
      <p:sp>
        <p:nvSpPr>
          <p:cNvPr id="18" name="TextBox 17"/>
          <p:cNvSpPr txBox="1"/>
          <p:nvPr/>
        </p:nvSpPr>
        <p:spPr>
          <a:xfrm>
            <a:off x="2592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terrasse couverte sous pergola</a:t>
            </a:r>
          </a:p>
        </p:txBody>
      </p:sp>
      <p:cxnSp>
        <p:nvCxnSpPr>
          <p:cNvPr id="19" name="Connector 18"/>
          <p:cNvCxnSpPr/>
          <p:nvPr/>
        </p:nvCxnSpPr>
        <p:spPr>
          <a:xfrm>
            <a:off x="4680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80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3,00 m</a:t>
            </a:r>
          </a:p>
        </p:txBody>
      </p:sp>
      <p:sp>
        <p:nvSpPr>
          <p:cNvPr id="21" name="TextBox 20"/>
          <p:cNvSpPr txBox="1"/>
          <p:nvPr/>
        </p:nvSpPr>
        <p:spPr>
          <a:xfrm>
            <a:off x="4680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hauteur sous faux-plafond</a:t>
            </a:r>
          </a:p>
        </p:txBody>
      </p:sp>
      <p:cxnSp>
        <p:nvCxnSpPr>
          <p:cNvPr id="22" name="Connector 21"/>
          <p:cNvCxnSpPr/>
          <p:nvPr/>
        </p:nvCxnSpPr>
        <p:spPr>
          <a:xfrm>
            <a:off x="6768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768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141 / 141</a:t>
            </a:r>
          </a:p>
        </p:txBody>
      </p:sp>
      <p:sp>
        <p:nvSpPr>
          <p:cNvPr id="24" name="TextBox 23"/>
          <p:cNvSpPr txBox="1"/>
          <p:nvPr/>
        </p:nvSpPr>
        <p:spPr>
          <a:xfrm>
            <a:off x="6768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éléments existants V4 conservés à l'identique</a:t>
            </a:r>
          </a:p>
        </p:txBody>
      </p:sp>
      <p:cxnSp>
        <p:nvCxnSpPr>
          <p:cNvPr id="25" name="Connector 24"/>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26" name="Picture 25" descr="KDemi_v3_A_arche_lockup_mono.png"/>
          <p:cNvPicPr>
            <a:picLocks noChangeAspect="1"/>
          </p:cNvPicPr>
          <p:nvPr/>
        </p:nvPicPr>
        <p:blipFill>
          <a:blip r:embed="rId3"/>
          <a:stretch>
            <a:fillRect/>
          </a:stretch>
        </p:blipFill>
        <p:spPr>
          <a:xfrm>
            <a:off x="9468000" y="432000"/>
            <a:ext cx="1656000" cy="561660"/>
          </a:xfrm>
          <a:prstGeom prst="rect">
            <a:avLst/>
          </a:prstGeom>
        </p:spPr>
      </p:pic>
      <p:sp>
        <p:nvSpPr>
          <p:cNvPr id="27" name="TextBox 26"/>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Le projet</a:t>
            </a:r>
          </a:p>
        </p:txBody>
      </p:sp>
      <p:sp>
        <p:nvSpPr>
          <p:cNvPr id="28" name="TextBox 27"/>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Une salle de lecture fraîche en pied d'immeuble</a:t>
            </a:r>
          </a:p>
        </p:txBody>
      </p:sp>
      <p:sp>
        <p:nvSpPr>
          <p:cNvPr id="29" name="TextBox 28"/>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Esquisse V5 · existant V4 inchangé</a:t>
            </a:r>
          </a:p>
        </p:txBody>
      </p:sp>
      <p:cxnSp>
        <p:nvCxnSpPr>
          <p:cNvPr id="30" name="Connector 29"/>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SOMMAIRE</a:t>
            </a:r>
          </a:p>
        </p:txBody>
      </p:sp>
      <p:sp>
        <p:nvSpPr>
          <p:cNvPr id="33" name="TextBox 32"/>
          <p:cNvSpPr txBox="1"/>
          <p:nvPr/>
        </p:nvSpPr>
        <p:spPr>
          <a:xfrm>
            <a:off x="9468000" y="2707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Couverture</a:t>
            </a:r>
          </a:p>
        </p:txBody>
      </p:sp>
      <p:sp>
        <p:nvSpPr>
          <p:cNvPr id="34" name="TextBox 33"/>
          <p:cNvSpPr txBox="1"/>
          <p:nvPr/>
        </p:nvSpPr>
        <p:spPr>
          <a:xfrm>
            <a:off x="13680000" y="2707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01</a:t>
            </a:r>
          </a:p>
        </p:txBody>
      </p:sp>
      <p:sp>
        <p:nvSpPr>
          <p:cNvPr id="35" name="TextBox 34"/>
          <p:cNvSpPr txBox="1"/>
          <p:nvPr/>
        </p:nvSpPr>
        <p:spPr>
          <a:xfrm>
            <a:off x="9468000" y="2862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 projet</a:t>
            </a:r>
          </a:p>
        </p:txBody>
      </p:sp>
      <p:sp>
        <p:nvSpPr>
          <p:cNvPr id="36" name="TextBox 35"/>
          <p:cNvSpPr txBox="1"/>
          <p:nvPr/>
        </p:nvSpPr>
        <p:spPr>
          <a:xfrm>
            <a:off x="13680000" y="2862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02</a:t>
            </a:r>
          </a:p>
        </p:txBody>
      </p:sp>
      <p:sp>
        <p:nvSpPr>
          <p:cNvPr id="37" name="TextBox 36"/>
          <p:cNvSpPr txBox="1"/>
          <p:nvPr/>
        </p:nvSpPr>
        <p:spPr>
          <a:xfrm>
            <a:off x="9468000" y="3016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Identité K&amp;Démi</a:t>
            </a:r>
          </a:p>
        </p:txBody>
      </p:sp>
      <p:sp>
        <p:nvSpPr>
          <p:cNvPr id="38" name="TextBox 37"/>
          <p:cNvSpPr txBox="1"/>
          <p:nvPr/>
        </p:nvSpPr>
        <p:spPr>
          <a:xfrm>
            <a:off x="13680000" y="3016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03</a:t>
            </a:r>
          </a:p>
        </p:txBody>
      </p:sp>
      <p:sp>
        <p:nvSpPr>
          <p:cNvPr id="39" name="TextBox 38"/>
          <p:cNvSpPr txBox="1"/>
          <p:nvPr/>
        </p:nvSpPr>
        <p:spPr>
          <a:xfrm>
            <a:off x="9468000" y="3171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D.A de la bibliothèque</a:t>
            </a:r>
          </a:p>
        </p:txBody>
      </p:sp>
      <p:sp>
        <p:nvSpPr>
          <p:cNvPr id="40" name="TextBox 39"/>
          <p:cNvSpPr txBox="1"/>
          <p:nvPr/>
        </p:nvSpPr>
        <p:spPr>
          <a:xfrm>
            <a:off x="13680000" y="3171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04</a:t>
            </a:r>
          </a:p>
        </p:txBody>
      </p:sp>
      <p:sp>
        <p:nvSpPr>
          <p:cNvPr id="41" name="TextBox 40"/>
          <p:cNvSpPr txBox="1"/>
          <p:nvPr/>
        </p:nvSpPr>
        <p:spPr>
          <a:xfrm>
            <a:off x="9468000" y="33263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A01 Plan du RDC, aménagement</a:t>
            </a:r>
          </a:p>
        </p:txBody>
      </p:sp>
      <p:sp>
        <p:nvSpPr>
          <p:cNvPr id="42" name="TextBox 41"/>
          <p:cNvSpPr txBox="1"/>
          <p:nvPr/>
        </p:nvSpPr>
        <p:spPr>
          <a:xfrm>
            <a:off x="13680000" y="33263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05</a:t>
            </a:r>
          </a:p>
        </p:txBody>
      </p:sp>
      <p:sp>
        <p:nvSpPr>
          <p:cNvPr id="43" name="TextBox 42"/>
          <p:cNvSpPr txBox="1"/>
          <p:nvPr/>
        </p:nvSpPr>
        <p:spPr>
          <a:xfrm>
            <a:off x="9468000" y="34811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A02 Faux-plafond et réseaux</a:t>
            </a:r>
          </a:p>
        </p:txBody>
      </p:sp>
      <p:sp>
        <p:nvSpPr>
          <p:cNvPr id="44" name="TextBox 43"/>
          <p:cNvSpPr txBox="1"/>
          <p:nvPr/>
        </p:nvSpPr>
        <p:spPr>
          <a:xfrm>
            <a:off x="13680000" y="34811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06</a:t>
            </a:r>
          </a:p>
        </p:txBody>
      </p:sp>
      <p:sp>
        <p:nvSpPr>
          <p:cNvPr id="45" name="TextBox 44"/>
          <p:cNvSpPr txBox="1"/>
          <p:nvPr/>
        </p:nvSpPr>
        <p:spPr>
          <a:xfrm>
            <a:off x="9468000" y="36359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A03 Coupe AA</a:t>
            </a:r>
          </a:p>
        </p:txBody>
      </p:sp>
      <p:sp>
        <p:nvSpPr>
          <p:cNvPr id="46" name="TextBox 45"/>
          <p:cNvSpPr txBox="1"/>
          <p:nvPr/>
        </p:nvSpPr>
        <p:spPr>
          <a:xfrm>
            <a:off x="13680000" y="36359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07</a:t>
            </a:r>
          </a:p>
        </p:txBody>
      </p:sp>
      <p:sp>
        <p:nvSpPr>
          <p:cNvPr id="47" name="TextBox 46"/>
          <p:cNvSpPr txBox="1"/>
          <p:nvPr/>
        </p:nvSpPr>
        <p:spPr>
          <a:xfrm>
            <a:off x="9468000" y="37907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A04 Élévation de la devanture</a:t>
            </a:r>
          </a:p>
        </p:txBody>
      </p:sp>
      <p:sp>
        <p:nvSpPr>
          <p:cNvPr id="48" name="TextBox 47"/>
          <p:cNvSpPr txBox="1"/>
          <p:nvPr/>
        </p:nvSpPr>
        <p:spPr>
          <a:xfrm>
            <a:off x="13680000" y="37907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08</a:t>
            </a:r>
          </a:p>
        </p:txBody>
      </p:sp>
      <p:sp>
        <p:nvSpPr>
          <p:cNvPr id="49" name="TextBox 48"/>
          <p:cNvSpPr txBox="1"/>
          <p:nvPr/>
        </p:nvSpPr>
        <p:spPr>
          <a:xfrm>
            <a:off x="9468000" y="39455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A05 Élévations intérieures Est, Nord</a:t>
            </a:r>
          </a:p>
        </p:txBody>
      </p:sp>
      <p:sp>
        <p:nvSpPr>
          <p:cNvPr id="50" name="TextBox 49"/>
          <p:cNvSpPr txBox="1"/>
          <p:nvPr/>
        </p:nvSpPr>
        <p:spPr>
          <a:xfrm>
            <a:off x="13680000" y="39455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09</a:t>
            </a:r>
          </a:p>
        </p:txBody>
      </p:sp>
      <p:sp>
        <p:nvSpPr>
          <p:cNvPr id="51" name="TextBox 50"/>
          <p:cNvSpPr txBox="1"/>
          <p:nvPr/>
        </p:nvSpPr>
        <p:spPr>
          <a:xfrm>
            <a:off x="9468000" y="41003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A06 Élévations intérieures Sud, Ouest</a:t>
            </a:r>
          </a:p>
        </p:txBody>
      </p:sp>
      <p:sp>
        <p:nvSpPr>
          <p:cNvPr id="52" name="TextBox 51"/>
          <p:cNvSpPr txBox="1"/>
          <p:nvPr/>
        </p:nvSpPr>
        <p:spPr>
          <a:xfrm>
            <a:off x="13680000" y="41003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10</a:t>
            </a:r>
          </a:p>
        </p:txBody>
      </p:sp>
      <p:sp>
        <p:nvSpPr>
          <p:cNvPr id="53" name="TextBox 52"/>
          <p:cNvSpPr txBox="1"/>
          <p:nvPr/>
        </p:nvSpPr>
        <p:spPr>
          <a:xfrm>
            <a:off x="9468000" y="42551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A07 Vues 3D de la maquette</a:t>
            </a:r>
          </a:p>
        </p:txBody>
      </p:sp>
      <p:sp>
        <p:nvSpPr>
          <p:cNvPr id="54" name="TextBox 53"/>
          <p:cNvSpPr txBox="1"/>
          <p:nvPr/>
        </p:nvSpPr>
        <p:spPr>
          <a:xfrm>
            <a:off x="13680000" y="42551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11</a:t>
            </a:r>
          </a:p>
        </p:txBody>
      </p:sp>
      <p:sp>
        <p:nvSpPr>
          <p:cNvPr id="55" name="TextBox 54"/>
          <p:cNvSpPr txBox="1"/>
          <p:nvPr/>
        </p:nvSpPr>
        <p:spPr>
          <a:xfrm>
            <a:off x="9468000" y="44099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A08 Axonométries</a:t>
            </a:r>
          </a:p>
        </p:txBody>
      </p:sp>
      <p:sp>
        <p:nvSpPr>
          <p:cNvPr id="56" name="TextBox 55"/>
          <p:cNvSpPr txBox="1"/>
          <p:nvPr/>
        </p:nvSpPr>
        <p:spPr>
          <a:xfrm>
            <a:off x="13680000" y="44099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12</a:t>
            </a:r>
          </a:p>
        </p:txBody>
      </p:sp>
      <p:sp>
        <p:nvSpPr>
          <p:cNvPr id="57" name="TextBox 56"/>
          <p:cNvSpPr txBox="1"/>
          <p:nvPr/>
        </p:nvSpPr>
        <p:spPr>
          <a:xfrm>
            <a:off x="9468000" y="45647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R1 Rendu de la devanture</a:t>
            </a:r>
          </a:p>
        </p:txBody>
      </p:sp>
      <p:sp>
        <p:nvSpPr>
          <p:cNvPr id="58" name="TextBox 57"/>
          <p:cNvSpPr txBox="1"/>
          <p:nvPr/>
        </p:nvSpPr>
        <p:spPr>
          <a:xfrm>
            <a:off x="13680000" y="45647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13</a:t>
            </a:r>
          </a:p>
        </p:txBody>
      </p:sp>
      <p:sp>
        <p:nvSpPr>
          <p:cNvPr id="59" name="TextBox 58"/>
          <p:cNvSpPr txBox="1"/>
          <p:nvPr/>
        </p:nvSpPr>
        <p:spPr>
          <a:xfrm>
            <a:off x="9468000" y="47195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R2 Rendus intérieurs</a:t>
            </a:r>
          </a:p>
        </p:txBody>
      </p:sp>
      <p:sp>
        <p:nvSpPr>
          <p:cNvPr id="60" name="TextBox 59"/>
          <p:cNvSpPr txBox="1"/>
          <p:nvPr/>
        </p:nvSpPr>
        <p:spPr>
          <a:xfrm>
            <a:off x="13680000" y="47195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14</a:t>
            </a:r>
          </a:p>
        </p:txBody>
      </p:sp>
      <p:sp>
        <p:nvSpPr>
          <p:cNvPr id="61" name="TextBox 60"/>
          <p:cNvSpPr txBox="1"/>
          <p:nvPr/>
        </p:nvSpPr>
        <p:spPr>
          <a:xfrm>
            <a:off x="9468000" y="48743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R3 L'arbre à livres</a:t>
            </a:r>
          </a:p>
        </p:txBody>
      </p:sp>
      <p:sp>
        <p:nvSpPr>
          <p:cNvPr id="62" name="TextBox 61"/>
          <p:cNvSpPr txBox="1"/>
          <p:nvPr/>
        </p:nvSpPr>
        <p:spPr>
          <a:xfrm>
            <a:off x="13680000" y="48743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15</a:t>
            </a:r>
          </a:p>
        </p:txBody>
      </p:sp>
      <p:sp>
        <p:nvSpPr>
          <p:cNvPr id="63" name="TextBox 62"/>
          <p:cNvSpPr txBox="1"/>
          <p:nvPr/>
        </p:nvSpPr>
        <p:spPr>
          <a:xfrm>
            <a:off x="9468000" y="5029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G1 Decimo, côté Gen Z</a:t>
            </a:r>
          </a:p>
        </p:txBody>
      </p:sp>
      <p:sp>
        <p:nvSpPr>
          <p:cNvPr id="64" name="TextBox 63"/>
          <p:cNvSpPr txBox="1"/>
          <p:nvPr/>
        </p:nvSpPr>
        <p:spPr>
          <a:xfrm>
            <a:off x="13680000" y="5029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16</a:t>
            </a:r>
          </a:p>
        </p:txBody>
      </p:sp>
      <p:sp>
        <p:nvSpPr>
          <p:cNvPr id="65" name="TextBox 64"/>
          <p:cNvSpPr txBox="1"/>
          <p:nvPr/>
        </p:nvSpPr>
        <p:spPr>
          <a:xfrm>
            <a:off x="9468000" y="5184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G2 Les moments à partager</a:t>
            </a:r>
          </a:p>
        </p:txBody>
      </p:sp>
      <p:sp>
        <p:nvSpPr>
          <p:cNvPr id="66" name="TextBox 65"/>
          <p:cNvSpPr txBox="1"/>
          <p:nvPr/>
        </p:nvSpPr>
        <p:spPr>
          <a:xfrm>
            <a:off x="13680000" y="5184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17</a:t>
            </a:r>
          </a:p>
        </p:txBody>
      </p:sp>
      <p:sp>
        <p:nvSpPr>
          <p:cNvPr id="67" name="TextBox 66"/>
          <p:cNvSpPr txBox="1"/>
          <p:nvPr/>
        </p:nvSpPr>
        <p:spPr>
          <a:xfrm>
            <a:off x="9468000" y="5338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G3 Les 5 touches sur le plan</a:t>
            </a:r>
          </a:p>
        </p:txBody>
      </p:sp>
      <p:sp>
        <p:nvSpPr>
          <p:cNvPr id="68" name="TextBox 67"/>
          <p:cNvSpPr txBox="1"/>
          <p:nvPr/>
        </p:nvSpPr>
        <p:spPr>
          <a:xfrm>
            <a:off x="13680000" y="5338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18</a:t>
            </a:r>
          </a:p>
        </p:txBody>
      </p:sp>
      <p:sp>
        <p:nvSpPr>
          <p:cNvPr id="69" name="TextBox 68"/>
          <p:cNvSpPr txBox="1"/>
          <p:nvPr/>
        </p:nvSpPr>
        <p:spPr>
          <a:xfrm>
            <a:off x="9468000" y="5493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T01 Électricité, courants forts</a:t>
            </a:r>
          </a:p>
        </p:txBody>
      </p:sp>
      <p:sp>
        <p:nvSpPr>
          <p:cNvPr id="70" name="TextBox 69"/>
          <p:cNvSpPr txBox="1"/>
          <p:nvPr/>
        </p:nvSpPr>
        <p:spPr>
          <a:xfrm>
            <a:off x="13680000" y="5493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19</a:t>
            </a:r>
          </a:p>
        </p:txBody>
      </p:sp>
      <p:sp>
        <p:nvSpPr>
          <p:cNvPr id="71" name="TextBox 70"/>
          <p:cNvSpPr txBox="1"/>
          <p:nvPr/>
        </p:nvSpPr>
        <p:spPr>
          <a:xfrm>
            <a:off x="9468000" y="56484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T02 Courants faibles, éclairage et BAES</a:t>
            </a:r>
          </a:p>
        </p:txBody>
      </p:sp>
      <p:sp>
        <p:nvSpPr>
          <p:cNvPr id="72" name="TextBox 71"/>
          <p:cNvSpPr txBox="1"/>
          <p:nvPr/>
        </p:nvSpPr>
        <p:spPr>
          <a:xfrm>
            <a:off x="13680000" y="56484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20</a:t>
            </a:r>
          </a:p>
        </p:txBody>
      </p:sp>
      <p:sp>
        <p:nvSpPr>
          <p:cNvPr id="73" name="TextBox 72"/>
          <p:cNvSpPr txBox="1"/>
          <p:nvPr/>
        </p:nvSpPr>
        <p:spPr>
          <a:xfrm>
            <a:off x="9468000" y="5803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T03 AEP, EU, EV</a:t>
            </a:r>
          </a:p>
        </p:txBody>
      </p:sp>
      <p:sp>
        <p:nvSpPr>
          <p:cNvPr id="74" name="TextBox 73"/>
          <p:cNvSpPr txBox="1"/>
          <p:nvPr/>
        </p:nvSpPr>
        <p:spPr>
          <a:xfrm>
            <a:off x="13680000" y="5803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21</a:t>
            </a:r>
          </a:p>
        </p:txBody>
      </p:sp>
      <p:sp>
        <p:nvSpPr>
          <p:cNvPr id="75" name="TextBox 74"/>
          <p:cNvSpPr txBox="1"/>
          <p:nvPr/>
        </p:nvSpPr>
        <p:spPr>
          <a:xfrm>
            <a:off x="9468000" y="5958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T04 Détails techniques</a:t>
            </a:r>
          </a:p>
        </p:txBody>
      </p:sp>
      <p:sp>
        <p:nvSpPr>
          <p:cNvPr id="76" name="TextBox 75"/>
          <p:cNvSpPr txBox="1"/>
          <p:nvPr/>
        </p:nvSpPr>
        <p:spPr>
          <a:xfrm>
            <a:off x="13680000" y="5958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22</a:t>
            </a:r>
          </a:p>
        </p:txBody>
      </p:sp>
      <p:sp>
        <p:nvSpPr>
          <p:cNvPr id="77" name="TextBox 76"/>
          <p:cNvSpPr txBox="1"/>
          <p:nvPr/>
        </p:nvSpPr>
        <p:spPr>
          <a:xfrm>
            <a:off x="9468000" y="6112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T05 Schéma unifilaire et bilan de puissance</a:t>
            </a:r>
          </a:p>
        </p:txBody>
      </p:sp>
      <p:sp>
        <p:nvSpPr>
          <p:cNvPr id="78" name="TextBox 77"/>
          <p:cNvSpPr txBox="1"/>
          <p:nvPr/>
        </p:nvSpPr>
        <p:spPr>
          <a:xfrm>
            <a:off x="13680000" y="6112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23</a:t>
            </a:r>
          </a:p>
        </p:txBody>
      </p:sp>
      <p:sp>
        <p:nvSpPr>
          <p:cNvPr id="79" name="TextBox 78"/>
          <p:cNvSpPr txBox="1"/>
          <p:nvPr/>
        </p:nvSpPr>
        <p:spPr>
          <a:xfrm>
            <a:off x="9468000" y="6267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Cohérence et points ouverts</a:t>
            </a:r>
          </a:p>
        </p:txBody>
      </p:sp>
      <p:sp>
        <p:nvSpPr>
          <p:cNvPr id="80" name="TextBox 79"/>
          <p:cNvSpPr txBox="1"/>
          <p:nvPr/>
        </p:nvSpPr>
        <p:spPr>
          <a:xfrm>
            <a:off x="13680000" y="6267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24</a:t>
            </a:r>
          </a:p>
        </p:txBody>
      </p:sp>
      <p:sp>
        <p:nvSpPr>
          <p:cNvPr id="81" name="TextBox 80"/>
          <p:cNvSpPr txBox="1"/>
          <p:nvPr/>
        </p:nvSpPr>
        <p:spPr>
          <a:xfrm>
            <a:off x="9468000" y="65484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ESPACES (IFCSPACE DE LA MAQUETTE)</a:t>
            </a:r>
          </a:p>
        </p:txBody>
      </p:sp>
      <p:sp>
        <p:nvSpPr>
          <p:cNvPr id="82" name="TextBox 81"/>
          <p:cNvSpPr txBox="1"/>
          <p:nvPr/>
        </p:nvSpPr>
        <p:spPr>
          <a:xfrm>
            <a:off x="9468000" y="6735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01 Salle de lecture</a:t>
            </a:r>
          </a:p>
        </p:txBody>
      </p:sp>
      <p:sp>
        <p:nvSpPr>
          <p:cNvPr id="83" name="TextBox 82"/>
          <p:cNvSpPr txBox="1"/>
          <p:nvPr/>
        </p:nvSpPr>
        <p:spPr>
          <a:xfrm>
            <a:off x="13680000" y="6735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24,07 m²</a:t>
            </a:r>
          </a:p>
        </p:txBody>
      </p:sp>
      <p:sp>
        <p:nvSpPr>
          <p:cNvPr id="84" name="TextBox 83"/>
          <p:cNvSpPr txBox="1"/>
          <p:nvPr/>
        </p:nvSpPr>
        <p:spPr>
          <a:xfrm>
            <a:off x="9468000" y="68904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02 Coin lecture, vitrine</a:t>
            </a:r>
          </a:p>
        </p:txBody>
      </p:sp>
      <p:sp>
        <p:nvSpPr>
          <p:cNvPr id="85" name="TextBox 84"/>
          <p:cNvSpPr txBox="1"/>
          <p:nvPr/>
        </p:nvSpPr>
        <p:spPr>
          <a:xfrm>
            <a:off x="13680000" y="68904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6,68 m²</a:t>
            </a:r>
          </a:p>
        </p:txBody>
      </p:sp>
      <p:sp>
        <p:nvSpPr>
          <p:cNvPr id="86" name="TextBox 85"/>
          <p:cNvSpPr txBox="1"/>
          <p:nvPr/>
        </p:nvSpPr>
        <p:spPr>
          <a:xfrm>
            <a:off x="9468000" y="7045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03 Salle de réunion</a:t>
            </a:r>
          </a:p>
        </p:txBody>
      </p:sp>
      <p:sp>
        <p:nvSpPr>
          <p:cNvPr id="87" name="TextBox 86"/>
          <p:cNvSpPr txBox="1"/>
          <p:nvPr/>
        </p:nvSpPr>
        <p:spPr>
          <a:xfrm>
            <a:off x="13680000" y="7045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7,21 m²</a:t>
            </a:r>
          </a:p>
        </p:txBody>
      </p:sp>
      <p:sp>
        <p:nvSpPr>
          <p:cNvPr id="88" name="TextBox 87"/>
          <p:cNvSpPr txBox="1"/>
          <p:nvPr/>
        </p:nvSpPr>
        <p:spPr>
          <a:xfrm>
            <a:off x="9468000" y="7200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04 Rangement</a:t>
            </a:r>
          </a:p>
        </p:txBody>
      </p:sp>
      <p:sp>
        <p:nvSpPr>
          <p:cNvPr id="89" name="TextBox 88"/>
          <p:cNvSpPr txBox="1"/>
          <p:nvPr/>
        </p:nvSpPr>
        <p:spPr>
          <a:xfrm>
            <a:off x="13680000" y="7200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1,37 m²</a:t>
            </a:r>
          </a:p>
        </p:txBody>
      </p:sp>
      <p:sp>
        <p:nvSpPr>
          <p:cNvPr id="90" name="TextBox 89"/>
          <p:cNvSpPr txBox="1"/>
          <p:nvPr/>
        </p:nvSpPr>
        <p:spPr>
          <a:xfrm>
            <a:off x="9468000" y="7354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05 Placard technique</a:t>
            </a:r>
          </a:p>
        </p:txBody>
      </p:sp>
      <p:sp>
        <p:nvSpPr>
          <p:cNvPr id="91" name="TextBox 90"/>
          <p:cNvSpPr txBox="1"/>
          <p:nvPr/>
        </p:nvSpPr>
        <p:spPr>
          <a:xfrm>
            <a:off x="13680000" y="7354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0,24 m²</a:t>
            </a:r>
          </a:p>
        </p:txBody>
      </p:sp>
      <p:sp>
        <p:nvSpPr>
          <p:cNvPr id="92" name="TextBox 91"/>
          <p:cNvSpPr txBox="1"/>
          <p:nvPr/>
        </p:nvSpPr>
        <p:spPr>
          <a:xfrm>
            <a:off x="9468000" y="7509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06 Dégagement</a:t>
            </a:r>
          </a:p>
        </p:txBody>
      </p:sp>
      <p:sp>
        <p:nvSpPr>
          <p:cNvPr id="93" name="TextBox 92"/>
          <p:cNvSpPr txBox="1"/>
          <p:nvPr/>
        </p:nvSpPr>
        <p:spPr>
          <a:xfrm>
            <a:off x="13680000" y="7509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1,11 m²</a:t>
            </a:r>
          </a:p>
        </p:txBody>
      </p:sp>
      <p:sp>
        <p:nvSpPr>
          <p:cNvPr id="94" name="TextBox 93"/>
          <p:cNvSpPr txBox="1"/>
          <p:nvPr/>
        </p:nvSpPr>
        <p:spPr>
          <a:xfrm>
            <a:off x="9468000" y="76644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07 WC</a:t>
            </a:r>
          </a:p>
        </p:txBody>
      </p:sp>
      <p:sp>
        <p:nvSpPr>
          <p:cNvPr id="95" name="TextBox 94"/>
          <p:cNvSpPr txBox="1"/>
          <p:nvPr/>
        </p:nvSpPr>
        <p:spPr>
          <a:xfrm>
            <a:off x="13680000" y="76644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2,87 m²</a:t>
            </a:r>
          </a:p>
        </p:txBody>
      </p:sp>
      <p:sp>
        <p:nvSpPr>
          <p:cNvPr id="96" name="TextBox 95"/>
          <p:cNvSpPr txBox="1"/>
          <p:nvPr/>
        </p:nvSpPr>
        <p:spPr>
          <a:xfrm>
            <a:off x="9468000" y="7819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Total intérieur</a:t>
            </a:r>
          </a:p>
        </p:txBody>
      </p:sp>
      <p:sp>
        <p:nvSpPr>
          <p:cNvPr id="97" name="TextBox 96"/>
          <p:cNvSpPr txBox="1"/>
          <p:nvPr/>
        </p:nvSpPr>
        <p:spPr>
          <a:xfrm>
            <a:off x="13680000" y="7819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43,55 m²</a:t>
            </a:r>
          </a:p>
        </p:txBody>
      </p:sp>
      <p:sp>
        <p:nvSpPr>
          <p:cNvPr id="98" name="TextBox 97"/>
          <p:cNvSpPr txBox="1"/>
          <p:nvPr/>
        </p:nvSpPr>
        <p:spPr>
          <a:xfrm>
            <a:off x="9468000" y="7974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08 Terrasse couverte</a:t>
            </a:r>
          </a:p>
        </p:txBody>
      </p:sp>
      <p:sp>
        <p:nvSpPr>
          <p:cNvPr id="99" name="TextBox 98"/>
          <p:cNvSpPr txBox="1"/>
          <p:nvPr/>
        </p:nvSpPr>
        <p:spPr>
          <a:xfrm>
            <a:off x="13680000" y="7974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15,74 m²</a:t>
            </a:r>
          </a:p>
        </p:txBody>
      </p:sp>
      <p:cxnSp>
        <p:nvCxnSpPr>
          <p:cNvPr id="100" name="Connector 99"/>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102" name="TextBox 101"/>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103" name="TextBox 102"/>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104" name="TextBox 103"/>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105" name="TextBox 104"/>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106" name="TextBox 105"/>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02 · Le projet</a:t>
            </a:r>
          </a:p>
        </p:txBody>
      </p:sp>
      <p:sp>
        <p:nvSpPr>
          <p:cNvPr id="107" name="TextBox 106"/>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108" name="TextBox 107"/>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109" name="TextBox 108"/>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110" name="TextBox 109"/>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111" name="TextBox 110"/>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112" name="TextBox 111"/>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F</a:t>
            </a:r>
          </a:p>
        </p:txBody>
      </p:sp>
      <p:sp>
        <p:nvSpPr>
          <p:cNvPr id="113" name="TextBox 112"/>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114" name="TextBox 113"/>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02 · ESQ V5 · Octobre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504000" y="504000"/>
            <a:ext cx="817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504000" y="4536000"/>
            <a:ext cx="817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pic>
        <p:nvPicPr>
          <p:cNvPr id="4" name="Picture 3" descr="KDemi_v3_A_arche_lockup.png"/>
          <p:cNvPicPr>
            <a:picLocks noChangeAspect="1"/>
          </p:cNvPicPr>
          <p:nvPr/>
        </p:nvPicPr>
        <p:blipFill>
          <a:blip r:embed="rId2"/>
          <a:stretch>
            <a:fillRect/>
          </a:stretch>
        </p:blipFill>
        <p:spPr>
          <a:xfrm>
            <a:off x="2466000" y="1799609"/>
            <a:ext cx="4248000" cy="1440780"/>
          </a:xfrm>
          <a:prstGeom prst="rect">
            <a:avLst/>
          </a:prstGeom>
        </p:spPr>
      </p:pic>
      <p:sp>
        <p:nvSpPr>
          <p:cNvPr id="5" name="TextBox 4"/>
          <p:cNvSpPr txBox="1"/>
          <p:nvPr/>
        </p:nvSpPr>
        <p:spPr>
          <a:xfrm>
            <a:off x="504000" y="4680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Version principale sur papier blanc, « &amp; » en terre cuite. Zone de protection : la moitié de la hauteur du carré tout autour.</a:t>
            </a:r>
          </a:p>
        </p:txBody>
      </p:sp>
      <p:sp>
        <p:nvSpPr>
          <p:cNvPr id="6" name="Rectangle 5"/>
          <p:cNvSpPr/>
          <p:nvPr/>
        </p:nvSpPr>
        <p:spPr>
          <a:xfrm>
            <a:off x="504000" y="5112000"/>
            <a:ext cx="864000" cy="108000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4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Gris texte</a:t>
            </a:r>
          </a:p>
        </p:txBody>
      </p:sp>
      <p:sp>
        <p:nvSpPr>
          <p:cNvPr id="8" name="TextBox 7"/>
          <p:cNvSpPr txBox="1"/>
          <p:nvPr/>
        </p:nvSpPr>
        <p:spPr>
          <a:xfrm>
            <a:off x="504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#4A4A4A · titres, texte</a:t>
            </a:r>
          </a:p>
        </p:txBody>
      </p:sp>
      <p:sp>
        <p:nvSpPr>
          <p:cNvPr id="9" name="Rectangle 8"/>
          <p:cNvSpPr/>
          <p:nvPr/>
        </p:nvSpPr>
        <p:spPr>
          <a:xfrm>
            <a:off x="1548000" y="5112000"/>
            <a:ext cx="864000" cy="1080000"/>
          </a:xfrm>
          <a:prstGeom prst="rect">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48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Gris clair</a:t>
            </a:r>
          </a:p>
        </p:txBody>
      </p:sp>
      <p:sp>
        <p:nvSpPr>
          <p:cNvPr id="11" name="TextBox 10"/>
          <p:cNvSpPr txBox="1"/>
          <p:nvPr/>
        </p:nvSpPr>
        <p:spPr>
          <a:xfrm>
            <a:off x="1548000" y="6451200"/>
            <a:ext cx="864000" cy="247039"/>
          </a:xfrm>
          <a:prstGeom prst="rect">
            <a:avLst/>
          </a:prstGeom>
          <a:noFill/>
        </p:spPr>
        <p:txBody>
          <a:bodyPr wrap="square" lIns="0" rIns="0" tIns="0" bIns="0" anchor="t">
            <a:spAutoFit/>
          </a:bodyPr>
          <a:lstStyle/>
          <a:p>
            <a:pPr algn="l">
              <a:lnSpc>
                <a:spcPts val="760"/>
              </a:lnSpc>
            </a:pPr>
            <a:r>
              <a:rPr sz="620">
                <a:solidFill>
                  <a:srgbClr val="8C8C8C"/>
                </a:solidFill>
                <a:latin typeface="Archivo"/>
              </a:rPr>
              <a:t>#8C8C8C · texte 2, cotes</a:t>
            </a:r>
          </a:p>
        </p:txBody>
      </p:sp>
      <p:sp>
        <p:nvSpPr>
          <p:cNvPr id="12" name="Rectangle 11"/>
          <p:cNvSpPr/>
          <p:nvPr/>
        </p:nvSpPr>
        <p:spPr>
          <a:xfrm>
            <a:off x="2592000" y="5112000"/>
            <a:ext cx="864000" cy="1080000"/>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92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Filet</a:t>
            </a:r>
          </a:p>
        </p:txBody>
      </p:sp>
      <p:sp>
        <p:nvSpPr>
          <p:cNvPr id="14" name="TextBox 13"/>
          <p:cNvSpPr txBox="1"/>
          <p:nvPr/>
        </p:nvSpPr>
        <p:spPr>
          <a:xfrm>
            <a:off x="2592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#C8C8C8 · filets, grille</a:t>
            </a:r>
          </a:p>
        </p:txBody>
      </p:sp>
      <p:sp>
        <p:nvSpPr>
          <p:cNvPr id="15" name="Rectangle 14"/>
          <p:cNvSpPr/>
          <p:nvPr/>
        </p:nvSpPr>
        <p:spPr>
          <a:xfrm>
            <a:off x="3636000" y="5112000"/>
            <a:ext cx="864000" cy="1080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3636000" y="511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636000" y="619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636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500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36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Gris aplat</a:t>
            </a:r>
          </a:p>
        </p:txBody>
      </p:sp>
      <p:sp>
        <p:nvSpPr>
          <p:cNvPr id="21" name="TextBox 20"/>
          <p:cNvSpPr txBox="1"/>
          <p:nvPr/>
        </p:nvSpPr>
        <p:spPr>
          <a:xfrm>
            <a:off x="3636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#F4F4F4 · tableaux</a:t>
            </a:r>
          </a:p>
        </p:txBody>
      </p:sp>
      <p:sp>
        <p:nvSpPr>
          <p:cNvPr id="22" name="Rectangle 21"/>
          <p:cNvSpPr/>
          <p:nvPr/>
        </p:nvSpPr>
        <p:spPr>
          <a:xfrm>
            <a:off x="4680000" y="5112000"/>
            <a:ext cx="864000" cy="10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4680000" y="511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680000" y="619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680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544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680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Papier</a:t>
            </a:r>
          </a:p>
        </p:txBody>
      </p:sp>
      <p:sp>
        <p:nvSpPr>
          <p:cNvPr id="28" name="TextBox 27"/>
          <p:cNvSpPr txBox="1"/>
          <p:nvPr/>
        </p:nvSpPr>
        <p:spPr>
          <a:xfrm>
            <a:off x="4680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#FFFFFF · fond unique</a:t>
            </a:r>
          </a:p>
        </p:txBody>
      </p:sp>
      <p:sp>
        <p:nvSpPr>
          <p:cNvPr id="29" name="Rectangle 28"/>
          <p:cNvSpPr/>
          <p:nvPr/>
        </p:nvSpPr>
        <p:spPr>
          <a:xfrm>
            <a:off x="5724000" y="5112000"/>
            <a:ext cx="864000" cy="1080000"/>
          </a:xfrm>
          <a:prstGeom prst="rect">
            <a:avLst/>
          </a:prstGeom>
          <a:solidFill>
            <a:srgbClr val="B45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24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Terre cuite</a:t>
            </a:r>
          </a:p>
        </p:txBody>
      </p:sp>
      <p:sp>
        <p:nvSpPr>
          <p:cNvPr id="31" name="TextBox 30"/>
          <p:cNvSpPr txBox="1"/>
          <p:nvPr/>
        </p:nvSpPr>
        <p:spPr>
          <a:xfrm>
            <a:off x="5724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#B4583E · accent, rare</a:t>
            </a:r>
          </a:p>
        </p:txBody>
      </p:sp>
      <p:sp>
        <p:nvSpPr>
          <p:cNvPr id="32" name="Rectangle 31"/>
          <p:cNvSpPr/>
          <p:nvPr/>
        </p:nvSpPr>
        <p:spPr>
          <a:xfrm>
            <a:off x="6768000" y="5112000"/>
            <a:ext cx="864000" cy="1080000"/>
          </a:xfrm>
          <a:prstGeom prst="rect">
            <a:avLst/>
          </a:prstGeom>
          <a:solidFill>
            <a:srgbClr val="2F3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68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Indigo</a:t>
            </a:r>
          </a:p>
        </p:txBody>
      </p:sp>
      <p:sp>
        <p:nvSpPr>
          <p:cNvPr id="34" name="TextBox 33"/>
          <p:cNvSpPr txBox="1"/>
          <p:nvPr/>
        </p:nvSpPr>
        <p:spPr>
          <a:xfrm>
            <a:off x="6768000" y="6451200"/>
            <a:ext cx="864000" cy="247039"/>
          </a:xfrm>
          <a:prstGeom prst="rect">
            <a:avLst/>
          </a:prstGeom>
          <a:noFill/>
        </p:spPr>
        <p:txBody>
          <a:bodyPr wrap="square" lIns="0" rIns="0" tIns="0" bIns="0" anchor="t">
            <a:spAutoFit/>
          </a:bodyPr>
          <a:lstStyle/>
          <a:p>
            <a:pPr algn="l">
              <a:lnSpc>
                <a:spcPts val="760"/>
              </a:lnSpc>
            </a:pPr>
            <a:r>
              <a:rPr sz="620">
                <a:solidFill>
                  <a:srgbClr val="8C8C8C"/>
                </a:solidFill>
                <a:latin typeface="Archivo"/>
              </a:rPr>
              <a:t>#2F3A56 · accent, très rare</a:t>
            </a:r>
          </a:p>
        </p:txBody>
      </p:sp>
      <p:sp>
        <p:nvSpPr>
          <p:cNvPr id="35" name="Rectangle 34"/>
          <p:cNvSpPr/>
          <p:nvPr/>
        </p:nvSpPr>
        <p:spPr>
          <a:xfrm>
            <a:off x="7812000" y="5112000"/>
            <a:ext cx="864000" cy="1080000"/>
          </a:xfrm>
          <a:prstGeom prst="rect">
            <a:avLst/>
          </a:prstGeom>
          <a:solidFill>
            <a:srgbClr val="9A6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12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Iroko</a:t>
            </a:r>
          </a:p>
        </p:txBody>
      </p:sp>
      <p:sp>
        <p:nvSpPr>
          <p:cNvPr id="37" name="TextBox 36"/>
          <p:cNvSpPr txBox="1"/>
          <p:nvPr/>
        </p:nvSpPr>
        <p:spPr>
          <a:xfrm>
            <a:off x="7812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#9A6B43 · matière bois</a:t>
            </a:r>
          </a:p>
        </p:txBody>
      </p:sp>
      <p:cxnSp>
        <p:nvCxnSpPr>
          <p:cNvPr id="38" name="Connector 37"/>
          <p:cNvCxnSpPr/>
          <p:nvPr/>
        </p:nvCxnSpPr>
        <p:spPr>
          <a:xfrm>
            <a:off x="504000" y="6984000"/>
            <a:ext cx="3996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04000" y="7128000"/>
            <a:ext cx="3996000" cy="384199"/>
          </a:xfrm>
          <a:prstGeom prst="rect">
            <a:avLst/>
          </a:prstGeom>
          <a:noFill/>
        </p:spPr>
        <p:txBody>
          <a:bodyPr wrap="square" lIns="0" rIns="0" tIns="0" bIns="0" anchor="t">
            <a:spAutoFit/>
          </a:bodyPr>
          <a:lstStyle/>
          <a:p>
            <a:pPr algn="l">
              <a:lnSpc>
                <a:spcPts val="2600"/>
              </a:lnSpc>
            </a:pPr>
            <a:r>
              <a:rPr sz="2400" b="1">
                <a:solidFill>
                  <a:srgbClr val="4A4A4A"/>
                </a:solidFill>
                <a:latin typeface="Archivo"/>
              </a:rPr>
              <a:t>Archivo SemiBold</a:t>
            </a:r>
          </a:p>
        </p:txBody>
      </p:sp>
      <p:sp>
        <p:nvSpPr>
          <p:cNvPr id="40" name="TextBox 39"/>
          <p:cNvSpPr txBox="1"/>
          <p:nvPr/>
        </p:nvSpPr>
        <p:spPr>
          <a:xfrm>
            <a:off x="504000" y="7560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Titres et chiffres clés, 18 à 36 pt, approche serrée</a:t>
            </a:r>
          </a:p>
        </p:txBody>
      </p:sp>
      <p:sp>
        <p:nvSpPr>
          <p:cNvPr id="41" name="TextBox 40"/>
          <p:cNvSpPr txBox="1"/>
          <p:nvPr/>
        </p:nvSpPr>
        <p:spPr>
          <a:xfrm>
            <a:off x="504000" y="7992000"/>
            <a:ext cx="3996000" cy="384199"/>
          </a:xfrm>
          <a:prstGeom prst="rect">
            <a:avLst/>
          </a:prstGeom>
          <a:noFill/>
        </p:spPr>
        <p:txBody>
          <a:bodyPr wrap="square" lIns="0" rIns="0" tIns="0" bIns="0" anchor="t">
            <a:spAutoFit/>
          </a:bodyPr>
          <a:lstStyle/>
          <a:p>
            <a:pPr algn="l">
              <a:lnSpc>
                <a:spcPts val="2600"/>
              </a:lnSpc>
            </a:pPr>
            <a:r>
              <a:rPr sz="2200">
                <a:solidFill>
                  <a:srgbClr val="4A4A4A"/>
                </a:solidFill>
                <a:latin typeface="Archivo"/>
              </a:rPr>
              <a:t>Archivo Regular</a:t>
            </a:r>
          </a:p>
        </p:txBody>
      </p:sp>
      <p:sp>
        <p:nvSpPr>
          <p:cNvPr id="42" name="TextBox 41"/>
          <p:cNvSpPr txBox="1"/>
          <p:nvPr/>
        </p:nvSpPr>
        <p:spPr>
          <a:xfrm>
            <a:off x="504000" y="8388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Texte 8 à 10 pt, légendes 7 pt, capitales en Archivo Medium</a:t>
            </a:r>
          </a:p>
        </p:txBody>
      </p:sp>
      <p:sp>
        <p:nvSpPr>
          <p:cNvPr id="43" name="TextBox 42"/>
          <p:cNvSpPr txBox="1"/>
          <p:nvPr/>
        </p:nvSpPr>
        <p:spPr>
          <a:xfrm>
            <a:off x="504000" y="8856000"/>
            <a:ext cx="3996000" cy="384199"/>
          </a:xfrm>
          <a:prstGeom prst="rect">
            <a:avLst/>
          </a:prstGeom>
          <a:noFill/>
        </p:spPr>
        <p:txBody>
          <a:bodyPr wrap="square" lIns="0" rIns="0" tIns="0" bIns="0" anchor="t">
            <a:spAutoFit/>
          </a:bodyPr>
          <a:lstStyle/>
          <a:p>
            <a:pPr algn="l">
              <a:lnSpc>
                <a:spcPts val="2600"/>
              </a:lnSpc>
            </a:pPr>
            <a:r>
              <a:rPr sz="2200">
                <a:solidFill>
                  <a:srgbClr val="4A4A4A"/>
                </a:solidFill>
                <a:latin typeface="Manrope"/>
              </a:rPr>
              <a:t>Manrope</a:t>
            </a:r>
          </a:p>
        </p:txBody>
      </p:sp>
      <p:sp>
        <p:nvSpPr>
          <p:cNvPr id="44" name="TextBox 43"/>
          <p:cNvSpPr txBox="1"/>
          <p:nvPr/>
        </p:nvSpPr>
        <p:spPr>
          <a:xfrm>
            <a:off x="504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Réservée au nom K&amp;Démi dans le logo</a:t>
            </a:r>
          </a:p>
        </p:txBody>
      </p:sp>
      <p:sp>
        <p:nvSpPr>
          <p:cNvPr id="45" name="Rectangle 44"/>
          <p:cNvSpPr/>
          <p:nvPr/>
        </p:nvSpPr>
        <p:spPr>
          <a:xfrm>
            <a:off x="4680000" y="6984000"/>
            <a:ext cx="3996000" cy="151200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KDemi_v3_A_arche_lockup_inverse_gris.png"/>
          <p:cNvPicPr>
            <a:picLocks noChangeAspect="1"/>
          </p:cNvPicPr>
          <p:nvPr/>
        </p:nvPicPr>
        <p:blipFill>
          <a:blip r:embed="rId3"/>
          <a:stretch>
            <a:fillRect/>
          </a:stretch>
        </p:blipFill>
        <p:spPr>
          <a:xfrm>
            <a:off x="5598000" y="7373700"/>
            <a:ext cx="2160000" cy="732600"/>
          </a:xfrm>
          <a:prstGeom prst="rect">
            <a:avLst/>
          </a:prstGeom>
        </p:spPr>
      </p:pic>
      <p:cxnSp>
        <p:nvCxnSpPr>
          <p:cNvPr id="47" name="Connector 46"/>
          <p:cNvCxnSpPr/>
          <p:nvPr/>
        </p:nvCxnSpPr>
        <p:spPr>
          <a:xfrm>
            <a:off x="4680000" y="8676000"/>
            <a:ext cx="3996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680000" y="10188000"/>
            <a:ext cx="3996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680000" y="8676000"/>
            <a:ext cx="0" cy="1512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676000" y="8676000"/>
            <a:ext cx="0" cy="1512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pic>
        <p:nvPicPr>
          <p:cNvPr id="51" name="Picture 50" descr="KDemi_v3_A_arche_lockup_mono.png"/>
          <p:cNvPicPr>
            <a:picLocks noChangeAspect="1"/>
          </p:cNvPicPr>
          <p:nvPr/>
        </p:nvPicPr>
        <p:blipFill>
          <a:blip r:embed="rId4"/>
          <a:stretch>
            <a:fillRect/>
          </a:stretch>
        </p:blipFill>
        <p:spPr>
          <a:xfrm>
            <a:off x="5598000" y="9065700"/>
            <a:ext cx="2160000" cy="732600"/>
          </a:xfrm>
          <a:prstGeom prst="rect">
            <a:avLst/>
          </a:prstGeom>
        </p:spPr>
      </p:pic>
      <p:cxnSp>
        <p:nvCxnSpPr>
          <p:cNvPr id="52" name="Connector 51"/>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53" name="Picture 52" descr="KDemi_v3_A_arche_lockup_mono.png"/>
          <p:cNvPicPr>
            <a:picLocks noChangeAspect="1"/>
          </p:cNvPicPr>
          <p:nvPr/>
        </p:nvPicPr>
        <p:blipFill>
          <a:blip r:embed="rId4"/>
          <a:stretch>
            <a:fillRect/>
          </a:stretch>
        </p:blipFill>
        <p:spPr>
          <a:xfrm>
            <a:off x="9468000" y="432000"/>
            <a:ext cx="1656000" cy="561660"/>
          </a:xfrm>
          <a:prstGeom prst="rect">
            <a:avLst/>
          </a:prstGeom>
        </p:spPr>
      </p:pic>
      <p:sp>
        <p:nvSpPr>
          <p:cNvPr id="54" name="TextBox 53"/>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Identité K&amp;Démi</a:t>
            </a:r>
          </a:p>
        </p:txBody>
      </p:sp>
      <p:sp>
        <p:nvSpPr>
          <p:cNvPr id="55" name="TextBox 54"/>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L'arche dans le carré</a:t>
            </a:r>
          </a:p>
        </p:txBody>
      </p:sp>
      <p:sp>
        <p:nvSpPr>
          <p:cNvPr id="56" name="TextBox 55"/>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Logo v3 A, charte v2 du 15 octobre 2026</a:t>
            </a:r>
          </a:p>
        </p:txBody>
      </p:sp>
      <p:cxnSp>
        <p:nvCxnSpPr>
          <p:cNvPr id="57" name="Connector 56"/>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LE LOGO</a:t>
            </a:r>
          </a:p>
        </p:txBody>
      </p:sp>
      <p:sp>
        <p:nvSpPr>
          <p:cNvPr id="60" name="TextBox 59"/>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Une arche découpée dans un carré, lue comme une porte. Le nom est composé en Manrope, l'esperluette en terre cuite. C'est le seuil de la devanture Decimo ramené à un signe.</a:t>
            </a:r>
          </a:p>
        </p:txBody>
      </p:sp>
      <p:sp>
        <p:nvSpPr>
          <p:cNvPr id="61" name="TextBox 60"/>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RÈGLES D'USAGE</a:t>
            </a:r>
          </a:p>
        </p:txBody>
      </p:sp>
      <p:sp>
        <p:nvSpPr>
          <p:cNvPr id="62" name="TextBox 61"/>
          <p:cNvSpPr txBox="1"/>
          <p:nvPr/>
        </p:nvSpPr>
        <p:spPr>
          <a:xfrm>
            <a:off x="9468000" y="33612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01</a:t>
            </a:r>
          </a:p>
        </p:txBody>
      </p:sp>
      <p:sp>
        <p:nvSpPr>
          <p:cNvPr id="63" name="TextBox 62"/>
          <p:cNvSpPr txBox="1"/>
          <p:nvPr/>
        </p:nvSpPr>
        <p:spPr>
          <a:xfrm>
            <a:off x="9720000" y="336120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 nom est toujours posé à côté du symbole. Le symbole seul est réservé à l'icône d'application et au favicon.</a:t>
            </a:r>
          </a:p>
        </p:txBody>
      </p:sp>
      <p:sp>
        <p:nvSpPr>
          <p:cNvPr id="64" name="TextBox 63"/>
          <p:cNvSpPr txBox="1"/>
          <p:nvPr/>
        </p:nvSpPr>
        <p:spPr>
          <a:xfrm>
            <a:off x="9468000" y="352632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02</a:t>
            </a:r>
          </a:p>
        </p:txBody>
      </p:sp>
      <p:sp>
        <p:nvSpPr>
          <p:cNvPr id="65" name="TextBox 64"/>
          <p:cNvSpPr txBox="1"/>
          <p:nvPr/>
        </p:nvSpPr>
        <p:spPr>
          <a:xfrm>
            <a:off x="9720000" y="352632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30 mm minimum en impression, 120 px à l'écran.</a:t>
            </a:r>
          </a:p>
        </p:txBody>
      </p:sp>
      <p:sp>
        <p:nvSpPr>
          <p:cNvPr id="66" name="TextBox 65"/>
          <p:cNvSpPr txBox="1"/>
          <p:nvPr/>
        </p:nvSpPr>
        <p:spPr>
          <a:xfrm>
            <a:off x="9468000" y="369144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03</a:t>
            </a:r>
          </a:p>
        </p:txBody>
      </p:sp>
      <p:sp>
        <p:nvSpPr>
          <p:cNvPr id="67" name="TextBox 66"/>
          <p:cNvSpPr txBox="1"/>
          <p:nvPr/>
        </p:nvSpPr>
        <p:spPr>
          <a:xfrm>
            <a:off x="9720000" y="369144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Version mono sur papier blanc, inversée sur fond sombre. Pas de déformation, d'ombre ni de dégradé.</a:t>
            </a:r>
          </a:p>
        </p:txBody>
      </p:sp>
      <p:sp>
        <p:nvSpPr>
          <p:cNvPr id="68" name="TextBox 67"/>
          <p:cNvSpPr txBox="1"/>
          <p:nvPr/>
        </p:nvSpPr>
        <p:spPr>
          <a:xfrm>
            <a:off x="9468000" y="396456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LA PAGE</a:t>
            </a:r>
          </a:p>
        </p:txBody>
      </p:sp>
      <p:sp>
        <p:nvSpPr>
          <p:cNvPr id="69" name="TextBox 68"/>
          <p:cNvSpPr txBox="1"/>
          <p:nvPr/>
        </p:nvSpPr>
        <p:spPr>
          <a:xfrm>
            <a:off x="9468000" y="415176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Papier blanc, texte gris, une seule famille, Archivo. Toutes les pages partagent la grille et le panneau de droite des planches de dessin : 12 colonnes, marges de 14 mm, gouttières de 5 mm.</a:t>
            </a:r>
          </a:p>
        </p:txBody>
      </p:sp>
      <p:cxnSp>
        <p:nvCxnSpPr>
          <p:cNvPr id="70" name="Connector 69"/>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72" name="TextBox 71"/>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73" name="TextBox 72"/>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74" name="TextBox 73"/>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75" name="TextBox 74"/>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76" name="TextBox 75"/>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03 · Identité K&amp;Démi</a:t>
            </a:r>
          </a:p>
        </p:txBody>
      </p:sp>
      <p:sp>
        <p:nvSpPr>
          <p:cNvPr id="77" name="TextBox 76"/>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78" name="TextBox 77"/>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79" name="TextBox 78"/>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80" name="TextBox 79"/>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81" name="TextBox 80"/>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82" name="TextBox 81"/>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F</a:t>
            </a:r>
          </a:p>
        </p:txBody>
      </p:sp>
      <p:sp>
        <p:nvSpPr>
          <p:cNvPr id="83" name="TextBox 82"/>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84" name="TextBox 83"/>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03 · ESQ V5 · Octobre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mood.jpg"/>
          <p:cNvPicPr>
            <a:picLocks noChangeAspect="1"/>
          </p:cNvPicPr>
          <p:nvPr/>
        </p:nvPicPr>
        <p:blipFill>
          <a:blip r:embed="rId2"/>
          <a:stretch>
            <a:fillRect/>
          </a:stretch>
        </p:blipFill>
        <p:spPr>
          <a:xfrm>
            <a:off x="504000" y="504000"/>
            <a:ext cx="8172000" cy="5940000"/>
          </a:xfrm>
          <a:prstGeom prst="rect">
            <a:avLst/>
          </a:prstGeom>
        </p:spPr>
      </p:pic>
      <p:sp>
        <p:nvSpPr>
          <p:cNvPr id="3" name="TextBox 2"/>
          <p:cNvSpPr txBox="1"/>
          <p:nvPr/>
        </p:nvSpPr>
        <p:spPr>
          <a:xfrm>
            <a:off x="504000" y="6516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Planche matière : claustra en terre cuite, iroko huilé, chaux sable, enduit terre, grès cérame, acier noir, laine terre cuite, coton indigo, raphia</a:t>
            </a:r>
          </a:p>
        </p:txBody>
      </p:sp>
      <p:sp>
        <p:nvSpPr>
          <p:cNvPr id="4" name="Rectangle 3"/>
          <p:cNvSpPr/>
          <p:nvPr/>
        </p:nvSpPr>
        <p:spPr>
          <a:xfrm>
            <a:off x="504000" y="6804000"/>
            <a:ext cx="1013142" cy="504000"/>
          </a:xfrm>
          <a:prstGeom prst="rect">
            <a:avLst/>
          </a:prstGeom>
          <a:solidFill>
            <a:srgbClr val="B45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4000"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Terre cuite #B4583E</a:t>
            </a:r>
          </a:p>
        </p:txBody>
      </p:sp>
      <p:sp>
        <p:nvSpPr>
          <p:cNvPr id="6" name="Rectangle 5"/>
          <p:cNvSpPr/>
          <p:nvPr/>
        </p:nvSpPr>
        <p:spPr>
          <a:xfrm>
            <a:off x="1697142" y="6804000"/>
            <a:ext cx="1013142" cy="504000"/>
          </a:xfrm>
          <a:prstGeom prst="rect">
            <a:avLst/>
          </a:prstGeom>
          <a:solidFill>
            <a:srgbClr val="9A6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97142"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Iroko #9A6B43</a:t>
            </a:r>
          </a:p>
        </p:txBody>
      </p:sp>
      <p:sp>
        <p:nvSpPr>
          <p:cNvPr id="8" name="Rectangle 7"/>
          <p:cNvSpPr/>
          <p:nvPr/>
        </p:nvSpPr>
        <p:spPr>
          <a:xfrm>
            <a:off x="2890285" y="6804000"/>
            <a:ext cx="1013142" cy="504000"/>
          </a:xfrm>
          <a:prstGeom prst="rect">
            <a:avLst/>
          </a:prstGeom>
          <a:solidFill>
            <a:srgbClr val="E6D6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90285"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Sable #E6D6BF</a:t>
            </a:r>
          </a:p>
        </p:txBody>
      </p:sp>
      <p:sp>
        <p:nvSpPr>
          <p:cNvPr id="10" name="Rectangle 9"/>
          <p:cNvSpPr/>
          <p:nvPr/>
        </p:nvSpPr>
        <p:spPr>
          <a:xfrm>
            <a:off x="4083428" y="6804000"/>
            <a:ext cx="1013142" cy="50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4083428" y="6804000"/>
            <a:ext cx="1013143" cy="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083428" y="7308000"/>
            <a:ext cx="1013143" cy="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083428" y="6804000"/>
            <a:ext cx="0" cy="50400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96571" y="6804000"/>
            <a:ext cx="0" cy="50400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083428"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Chaux #FFFFFF</a:t>
            </a:r>
          </a:p>
        </p:txBody>
      </p:sp>
      <p:sp>
        <p:nvSpPr>
          <p:cNvPr id="16" name="Rectangle 15"/>
          <p:cNvSpPr/>
          <p:nvPr/>
        </p:nvSpPr>
        <p:spPr>
          <a:xfrm>
            <a:off x="5276571" y="6804000"/>
            <a:ext cx="1013142" cy="50400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6571"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Encre #4A4A4A</a:t>
            </a:r>
          </a:p>
        </p:txBody>
      </p:sp>
      <p:sp>
        <p:nvSpPr>
          <p:cNvPr id="18" name="Rectangle 17"/>
          <p:cNvSpPr/>
          <p:nvPr/>
        </p:nvSpPr>
        <p:spPr>
          <a:xfrm>
            <a:off x="6469714" y="6804000"/>
            <a:ext cx="1013142" cy="504000"/>
          </a:xfrm>
          <a:prstGeom prst="rect">
            <a:avLst/>
          </a:prstGeom>
          <a:solidFill>
            <a:srgbClr val="2F3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9714"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Indigo #2F3A56</a:t>
            </a:r>
          </a:p>
        </p:txBody>
      </p:sp>
      <p:sp>
        <p:nvSpPr>
          <p:cNvPr id="20" name="Rectangle 19"/>
          <p:cNvSpPr/>
          <p:nvPr/>
        </p:nvSpPr>
        <p:spPr>
          <a:xfrm>
            <a:off x="7662857" y="6804000"/>
            <a:ext cx="1013142" cy="504000"/>
          </a:xfrm>
          <a:prstGeom prst="rect">
            <a:avLst/>
          </a:prstGeom>
          <a:solidFill>
            <a:srgbClr val="5F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62857"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Olive #5F7A4B</a:t>
            </a:r>
          </a:p>
        </p:txBody>
      </p:sp>
      <p:cxnSp>
        <p:nvCxnSpPr>
          <p:cNvPr id="22" name="Connector 21"/>
          <p:cNvCxnSpPr/>
          <p:nvPr/>
        </p:nvCxnSpPr>
        <p:spPr>
          <a:xfrm>
            <a:off x="504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04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Matériaux</a:t>
            </a:r>
          </a:p>
        </p:txBody>
      </p:sp>
      <p:sp>
        <p:nvSpPr>
          <p:cNvPr id="24" name="TextBox 23"/>
          <p:cNvSpPr txBox="1"/>
          <p:nvPr/>
        </p:nvSpPr>
        <p:spPr>
          <a:xfrm>
            <a:off x="504000" y="8190000"/>
            <a:ext cx="1908000" cy="602640"/>
          </a:xfrm>
          <a:prstGeom prst="rect">
            <a:avLst/>
          </a:prstGeom>
          <a:noFill/>
        </p:spPr>
        <p:txBody>
          <a:bodyPr wrap="square" lIns="0" rIns="0" tIns="0" bIns="0" anchor="t">
            <a:spAutoFit/>
          </a:bodyPr>
          <a:lstStyle/>
          <a:p>
            <a:pPr algn="l">
              <a:lnSpc>
                <a:spcPts val="1080"/>
              </a:lnSpc>
            </a:pPr>
            <a:r>
              <a:rPr sz="780">
                <a:solidFill>
                  <a:srgbClr val="4A4A4A"/>
                </a:solidFill>
                <a:latin typeface="Archivo"/>
              </a:rPr>
              <a:t>Terrazzo clair au sol, parquet iroko dans la salle de lecture, enduit terre et chaux sable aux murs, lambris iroko à claire-voie, acier noir mat pour les châssis et la marquise.</a:t>
            </a:r>
          </a:p>
        </p:txBody>
      </p:sp>
      <p:cxnSp>
        <p:nvCxnSpPr>
          <p:cNvPr id="25" name="Connector 24"/>
          <p:cNvCxnSpPr/>
          <p:nvPr/>
        </p:nvCxnSpPr>
        <p:spPr>
          <a:xfrm>
            <a:off x="2592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92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Mobilier</a:t>
            </a:r>
          </a:p>
        </p:txBody>
      </p:sp>
      <p:sp>
        <p:nvSpPr>
          <p:cNvPr id="27" name="TextBox 26"/>
          <p:cNvSpPr txBox="1"/>
          <p:nvPr/>
        </p:nvSpPr>
        <p:spPr>
          <a:xfrm>
            <a:off x="2592000" y="8190000"/>
            <a:ext cx="1908000" cy="602640"/>
          </a:xfrm>
          <a:prstGeom prst="rect">
            <a:avLst/>
          </a:prstGeom>
          <a:noFill/>
        </p:spPr>
        <p:txBody>
          <a:bodyPr wrap="square" lIns="0" rIns="0" tIns="0" bIns="0" anchor="t">
            <a:spAutoFit/>
          </a:bodyPr>
          <a:lstStyle/>
          <a:p>
            <a:pPr algn="l">
              <a:lnSpc>
                <a:spcPts val="1080"/>
              </a:lnSpc>
            </a:pPr>
            <a:r>
              <a:rPr sz="780">
                <a:solidFill>
                  <a:srgbClr val="4A4A4A"/>
                </a:solidFill>
                <a:latin typeface="Archivo"/>
              </a:rPr>
              <a:t>Iroko sur mesure : arbre à livres, rayonnages, banque d'accueil, banquettes. Chaises courbes, assises en raphia, coussins indigo artisanaux.</a:t>
            </a:r>
          </a:p>
        </p:txBody>
      </p:sp>
      <p:cxnSp>
        <p:nvCxnSpPr>
          <p:cNvPr id="28" name="Connector 27"/>
          <p:cNvCxnSpPr/>
          <p:nvPr/>
        </p:nvCxnSpPr>
        <p:spPr>
          <a:xfrm>
            <a:off x="4680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680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Lumière</a:t>
            </a:r>
          </a:p>
        </p:txBody>
      </p:sp>
      <p:sp>
        <p:nvSpPr>
          <p:cNvPr id="30" name="TextBox 29"/>
          <p:cNvSpPr txBox="1"/>
          <p:nvPr/>
        </p:nvSpPr>
        <p:spPr>
          <a:xfrm>
            <a:off x="4680000" y="8190000"/>
            <a:ext cx="1908000" cy="739799"/>
          </a:xfrm>
          <a:prstGeom prst="rect">
            <a:avLst/>
          </a:prstGeom>
          <a:noFill/>
        </p:spPr>
        <p:txBody>
          <a:bodyPr wrap="square" lIns="0" rIns="0" tIns="0" bIns="0" anchor="t">
            <a:spAutoFit/>
          </a:bodyPr>
          <a:lstStyle/>
          <a:p>
            <a:pPr algn="l">
              <a:lnSpc>
                <a:spcPts val="1080"/>
              </a:lnSpc>
            </a:pPr>
            <a:r>
              <a:rPr sz="780">
                <a:solidFill>
                  <a:srgbClr val="4A4A4A"/>
                </a:solidFill>
                <a:latin typeface="Archivo"/>
              </a:rPr>
              <a:t>Tout en 2700 K. Anneau LED sous la canopée de l'arbre, downlights encastrés, suspensions terre cuite au-dessus des tables, réglette de vitrine, spot IP65 sous marquise.</a:t>
            </a:r>
          </a:p>
        </p:txBody>
      </p:sp>
      <p:cxnSp>
        <p:nvCxnSpPr>
          <p:cNvPr id="31" name="Connector 30"/>
          <p:cNvCxnSpPr/>
          <p:nvPr/>
        </p:nvCxnSpPr>
        <p:spPr>
          <a:xfrm>
            <a:off x="6768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768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Végétal</a:t>
            </a:r>
          </a:p>
        </p:txBody>
      </p:sp>
      <p:sp>
        <p:nvSpPr>
          <p:cNvPr id="33" name="TextBox 32"/>
          <p:cNvSpPr txBox="1"/>
          <p:nvPr/>
        </p:nvSpPr>
        <p:spPr>
          <a:xfrm>
            <a:off x="6768000" y="8190000"/>
            <a:ext cx="1908000" cy="602640"/>
          </a:xfrm>
          <a:prstGeom prst="rect">
            <a:avLst/>
          </a:prstGeom>
          <a:noFill/>
        </p:spPr>
        <p:txBody>
          <a:bodyPr wrap="square" lIns="0" rIns="0" tIns="0" bIns="0" anchor="t">
            <a:spAutoFit/>
          </a:bodyPr>
          <a:lstStyle/>
          <a:p>
            <a:pPr algn="l">
              <a:lnSpc>
                <a:spcPts val="1080"/>
              </a:lnSpc>
            </a:pPr>
            <a:r>
              <a:rPr sz="780">
                <a:solidFill>
                  <a:srgbClr val="4A4A4A"/>
                </a:solidFill>
                <a:latin typeface="Archivo"/>
              </a:rPr>
              <a:t>Ficus lyrata, strelitzia, fougères et dracaena en jardinières sur la terrasse. Le vert reste rare à l'intérieur pour laisser la terre et le bois parler.</a:t>
            </a:r>
          </a:p>
        </p:txBody>
      </p:sp>
      <p:cxnSp>
        <p:nvCxnSpPr>
          <p:cNvPr id="34" name="Connector 33"/>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35" name="Picture 34" descr="KDemi_v3_A_arche_lockup_mono.png"/>
          <p:cNvPicPr>
            <a:picLocks noChangeAspect="1"/>
          </p:cNvPicPr>
          <p:nvPr/>
        </p:nvPicPr>
        <p:blipFill>
          <a:blip r:embed="rId3"/>
          <a:stretch>
            <a:fillRect/>
          </a:stretch>
        </p:blipFill>
        <p:spPr>
          <a:xfrm>
            <a:off x="9468000" y="432000"/>
            <a:ext cx="1656000" cy="561660"/>
          </a:xfrm>
          <a:prstGeom prst="rect">
            <a:avLst/>
          </a:prstGeom>
        </p:spPr>
      </p:pic>
      <p:sp>
        <p:nvSpPr>
          <p:cNvPr id="36" name="TextBox 35"/>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D.A de la bibliothèque</a:t>
            </a:r>
          </a:p>
        </p:txBody>
      </p:sp>
      <p:sp>
        <p:nvSpPr>
          <p:cNvPr id="37" name="TextBox 36"/>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Terre, ombre et bois</a:t>
            </a:r>
          </a:p>
        </p:txBody>
      </p:sp>
      <p:sp>
        <p:nvSpPr>
          <p:cNvPr id="38" name="TextBox 37"/>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Direction artistique d'Affoué, visée le 14 octobre 2026</a:t>
            </a:r>
          </a:p>
        </p:txBody>
      </p:sp>
      <p:cxnSp>
        <p:nvCxnSpPr>
          <p:cNvPr id="39" name="Connector 38"/>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PRINCIPES</a:t>
            </a:r>
          </a:p>
        </p:txBody>
      </p:sp>
      <p:sp>
        <p:nvSpPr>
          <p:cNvPr id="42" name="TextBox 41"/>
          <p:cNvSpPr txBox="1"/>
          <p:nvPr/>
        </p:nvSpPr>
        <p:spPr>
          <a:xfrm>
            <a:off x="9468000" y="27072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01</a:t>
            </a:r>
          </a:p>
        </p:txBody>
      </p:sp>
      <p:sp>
        <p:nvSpPr>
          <p:cNvPr id="43" name="TextBox 42"/>
          <p:cNvSpPr txBox="1"/>
          <p:nvPr/>
        </p:nvSpPr>
        <p:spPr>
          <a:xfrm>
            <a:off x="9720000" y="270720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Un seuil cintré centré sur la rue cadre l'arbre à livres.</a:t>
            </a:r>
          </a:p>
        </p:txBody>
      </p:sp>
      <p:sp>
        <p:nvSpPr>
          <p:cNvPr id="44" name="TextBox 43"/>
          <p:cNvSpPr txBox="1"/>
          <p:nvPr/>
        </p:nvSpPr>
        <p:spPr>
          <a:xfrm>
            <a:off x="9468000" y="287232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02</a:t>
            </a:r>
          </a:p>
        </p:txBody>
      </p:sp>
      <p:sp>
        <p:nvSpPr>
          <p:cNvPr id="45" name="TextBox 44"/>
          <p:cNvSpPr txBox="1"/>
          <p:nvPr/>
        </p:nvSpPr>
        <p:spPr>
          <a:xfrm>
            <a:off x="9720000" y="287232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Les baies en claustra terre cuite, à motifs inspirés des Adinkra Adinkrahene et Eban, filtrent le soleil de l'après-midi.</a:t>
            </a:r>
          </a:p>
        </p:txBody>
      </p:sp>
      <p:sp>
        <p:nvSpPr>
          <p:cNvPr id="46" name="TextBox 45"/>
          <p:cNvSpPr txBox="1"/>
          <p:nvPr/>
        </p:nvSpPr>
        <p:spPr>
          <a:xfrm>
            <a:off x="9468000" y="303744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03</a:t>
            </a:r>
          </a:p>
        </p:txBody>
      </p:sp>
      <p:sp>
        <p:nvSpPr>
          <p:cNvPr id="47" name="TextBox 46"/>
          <p:cNvSpPr txBox="1"/>
          <p:nvPr/>
        </p:nvSpPr>
        <p:spPr>
          <a:xfrm>
            <a:off x="9720000" y="303744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La canopée de l'arbre et son oculus indigo sont le seul objet fort de la salle.</a:t>
            </a:r>
          </a:p>
        </p:txBody>
      </p:sp>
      <p:sp>
        <p:nvSpPr>
          <p:cNvPr id="48" name="TextBox 47"/>
          <p:cNvSpPr txBox="1"/>
          <p:nvPr/>
        </p:nvSpPr>
        <p:spPr>
          <a:xfrm>
            <a:off x="9468000" y="320256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04</a:t>
            </a:r>
          </a:p>
        </p:txBody>
      </p:sp>
      <p:sp>
        <p:nvSpPr>
          <p:cNvPr id="49" name="TextBox 48"/>
          <p:cNvSpPr txBox="1"/>
          <p:nvPr/>
        </p:nvSpPr>
        <p:spPr>
          <a:xfrm>
            <a:off x="9720000" y="320256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Iroko pour tout ce qui se touche, chaux pour tout ce qui se voit.</a:t>
            </a:r>
          </a:p>
        </p:txBody>
      </p:sp>
      <p:sp>
        <p:nvSpPr>
          <p:cNvPr id="50" name="TextBox 49"/>
          <p:cNvSpPr txBox="1"/>
          <p:nvPr/>
        </p:nvSpPr>
        <p:spPr>
          <a:xfrm>
            <a:off x="9468000" y="336768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05</a:t>
            </a:r>
          </a:p>
        </p:txBody>
      </p:sp>
      <p:sp>
        <p:nvSpPr>
          <p:cNvPr id="51" name="TextBox 50"/>
          <p:cNvSpPr txBox="1"/>
          <p:nvPr/>
        </p:nvSpPr>
        <p:spPr>
          <a:xfrm>
            <a:off x="9720000" y="336768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Ventilation traversante par la claustra et la terrasse, deux splits en appoint dont les unités extérieures vont en courette.</a:t>
            </a:r>
          </a:p>
        </p:txBody>
      </p:sp>
      <p:sp>
        <p:nvSpPr>
          <p:cNvPr id="52" name="TextBox 51"/>
          <p:cNvSpPr txBox="1"/>
          <p:nvPr/>
        </p:nvSpPr>
        <p:spPr>
          <a:xfrm>
            <a:off x="9468000" y="36408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AMBIANCE</a:t>
            </a:r>
          </a:p>
        </p:txBody>
      </p:sp>
      <p:sp>
        <p:nvSpPr>
          <p:cNvPr id="53" name="TextBox 52"/>
          <p:cNvSpPr txBox="1"/>
          <p:nvPr/>
        </p:nvSpPr>
        <p:spPr>
          <a:xfrm>
            <a:off x="9468000" y="38280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Une pénombre fraîche, une lumière tamisée par la claustra le jour et 2700 K le soir. Aucun dégradé, aucun motif plaqué : les motifs naissent de la matière.</a:t>
            </a:r>
          </a:p>
        </p:txBody>
      </p:sp>
      <p:cxnSp>
        <p:nvCxnSpPr>
          <p:cNvPr id="54" name="Connector 53"/>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56" name="TextBox 55"/>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57" name="TextBox 56"/>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58" name="TextBox 57"/>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59" name="TextBox 58"/>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60" name="TextBox 59"/>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04 · D.A de la bibliothèque</a:t>
            </a:r>
          </a:p>
        </p:txBody>
      </p:sp>
      <p:sp>
        <p:nvSpPr>
          <p:cNvPr id="61" name="TextBox 60"/>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62" name="TextBox 61"/>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63" name="TextBox 62"/>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64" name="TextBox 63"/>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65" name="TextBox 64"/>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66" name="TextBox 65"/>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F</a:t>
            </a:r>
          </a:p>
        </p:txBody>
      </p:sp>
      <p:sp>
        <p:nvSpPr>
          <p:cNvPr id="67" name="TextBox 66"/>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68" name="TextBox 67"/>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04 · ESQ V5 · Octobre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1_plan_RDC.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2_plan_faux_plafond_reseaux.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3_coupe_AA.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4_elevation_devanture.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5_elevations_interieures_est_nord.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6_elevations_interieures_sud_ouest.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7_vues_3D.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8_axonometries.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1.jpg"/>
          <p:cNvPicPr>
            <a:picLocks noChangeAspect="1"/>
          </p:cNvPicPr>
          <p:nvPr/>
        </p:nvPicPr>
        <p:blipFill>
          <a:blip r:embed="rId2"/>
          <a:stretch>
            <a:fillRect/>
          </a:stretch>
        </p:blipFill>
        <p:spPr>
          <a:xfrm>
            <a:off x="504000" y="504000"/>
            <a:ext cx="8172000" cy="5760000"/>
          </a:xfrm>
          <a:prstGeom prst="rect">
            <a:avLst/>
          </a:prstGeom>
        </p:spPr>
      </p:pic>
      <p:sp>
        <p:nvSpPr>
          <p:cNvPr id="3" name="TextBox 2"/>
          <p:cNvSpPr txBox="1"/>
          <p:nvPr/>
        </p:nvSpPr>
        <p:spPr>
          <a:xfrm>
            <a:off x="504000" y="6354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R1 · Devanture sur rue, vue piéton depuis le trottoir opposé, œil à 1,60 m</a:t>
            </a:r>
          </a:p>
        </p:txBody>
      </p:sp>
      <p:pic>
        <p:nvPicPr>
          <p:cNvPr id="4" name="Picture 3" descr="r1_s1.jpg"/>
          <p:cNvPicPr>
            <a:picLocks noChangeAspect="1"/>
          </p:cNvPicPr>
          <p:nvPr/>
        </p:nvPicPr>
        <p:blipFill>
          <a:blip r:embed="rId3"/>
          <a:stretch>
            <a:fillRect/>
          </a:stretch>
        </p:blipFill>
        <p:spPr>
          <a:xfrm>
            <a:off x="504000" y="6696000"/>
            <a:ext cx="3996000" cy="2484000"/>
          </a:xfrm>
          <a:prstGeom prst="rect">
            <a:avLst/>
          </a:prstGeom>
        </p:spPr>
      </p:pic>
      <p:pic>
        <p:nvPicPr>
          <p:cNvPr id="5" name="Picture 4" descr="r1_s2.jpg"/>
          <p:cNvPicPr>
            <a:picLocks noChangeAspect="1"/>
          </p:cNvPicPr>
          <p:nvPr/>
        </p:nvPicPr>
        <p:blipFill>
          <a:blip r:embed="rId4"/>
          <a:stretch>
            <a:fillRect/>
          </a:stretch>
        </p:blipFill>
        <p:spPr>
          <a:xfrm>
            <a:off x="4680000" y="6696000"/>
            <a:ext cx="3996000" cy="2484000"/>
          </a:xfrm>
          <a:prstGeom prst="rect">
            <a:avLst/>
          </a:prstGeom>
        </p:spPr>
      </p:pic>
      <p:sp>
        <p:nvSpPr>
          <p:cNvPr id="6" name="TextBox 5"/>
          <p:cNvSpPr txBox="1"/>
          <p:nvPr/>
        </p:nvSpPr>
        <p:spPr>
          <a:xfrm>
            <a:off x="504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01 : maquette IFC V5 ombrée, même caméra</a:t>
            </a:r>
          </a:p>
        </p:txBody>
      </p:sp>
      <p:sp>
        <p:nvSpPr>
          <p:cNvPr id="7" name="TextBox 6"/>
          <p:cNvSpPr txBox="1"/>
          <p:nvPr/>
        </p:nvSpPr>
        <p:spPr>
          <a:xfrm>
            <a:off x="4680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01 : traits et silhouettes</a:t>
            </a:r>
          </a:p>
        </p:txBody>
      </p:sp>
      <p:cxnSp>
        <p:nvCxnSpPr>
          <p:cNvPr id="8" name="Connector 7"/>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9" name="Picture 8" descr="KDemi_v3_A_arche_lockup_mono.png"/>
          <p:cNvPicPr>
            <a:picLocks noChangeAspect="1"/>
          </p:cNvPicPr>
          <p:nvPr/>
        </p:nvPicPr>
        <p:blipFill>
          <a:blip r:embed="rId5"/>
          <a:stretch>
            <a:fillRect/>
          </a:stretch>
        </p:blipFill>
        <p:spPr>
          <a:xfrm>
            <a:off x="9468000" y="432000"/>
            <a:ext cx="1656000" cy="561660"/>
          </a:xfrm>
          <a:prstGeom prst="rect">
            <a:avLst/>
          </a:prstGeom>
        </p:spPr>
      </p:pic>
      <p:sp>
        <p:nvSpPr>
          <p:cNvPr id="10" name="TextBox 9"/>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La devanture</a:t>
            </a:r>
          </a:p>
        </p:txBody>
      </p:sp>
      <p:sp>
        <p:nvSpPr>
          <p:cNvPr id="11" name="TextBox 1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Le seuil cintré sous la pergola</a:t>
            </a:r>
          </a:p>
        </p:txBody>
      </p:sp>
      <p:sp>
        <p:nvSpPr>
          <p:cNvPr id="12" name="TextBox 1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 tiré de la maquette IFC V5</a:t>
            </a:r>
          </a:p>
        </p:txBody>
      </p:sp>
      <p:cxnSp>
        <p:nvCxnSpPr>
          <p:cNvPr id="13" name="Connector 12"/>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CE QUE L'ON VOIT</a:t>
            </a:r>
          </a:p>
        </p:txBody>
      </p:sp>
      <p:sp>
        <p:nvSpPr>
          <p:cNvPr id="16" name="TextBox 15"/>
          <p:cNvSpPr txBox="1"/>
          <p:nvPr/>
        </p:nvSpPr>
        <p:spPr>
          <a:xfrm>
            <a:off x="9468000" y="27072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Les quatre baies existantes de la V4 gardent leur forme. La vitrine en arche et son châssis en acier noir se posent dans la baie A, la porte vitrée dans le portail en enduit terre cuite. Les deux baies de claustra reçoivent les inserts Adinkra. La pergola en bois de la V4 abrite la terrasse de lecture.</a:t>
            </a:r>
          </a:p>
        </p:txBody>
      </p:sp>
      <p:sp>
        <p:nvSpPr>
          <p:cNvPr id="17" name="TextBox 16"/>
          <p:cNvSpPr txBox="1"/>
          <p:nvPr/>
        </p:nvSpPr>
        <p:spPr>
          <a:xfrm>
            <a:off x="9468000" y="33264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CONTRÔLE</a:t>
            </a:r>
          </a:p>
        </p:txBody>
      </p:sp>
      <p:sp>
        <p:nvSpPr>
          <p:cNvPr id="18" name="TextBox 17"/>
          <p:cNvSpPr txBox="1"/>
          <p:nvPr/>
        </p:nvSpPr>
        <p:spPr>
          <a:xfrm>
            <a:off x="9468000" y="35136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Même caméra, mêmes baies, même pergola que la vue source. Le rendu ajoute la matière et la lumière. Les balcons qu'il avait inventés sur l'immeuble voisin ont été retirés : la maquette y montre un mur plein. Écart restant : les jardinières basses de la terrasse sont rendues comme des banquettes. La maquette fait foi.</a:t>
            </a:r>
          </a:p>
        </p:txBody>
      </p:sp>
      <p:sp>
        <p:nvSpPr>
          <p:cNvPr id="19" name="TextBox 18"/>
          <p:cNvSpPr txBox="1"/>
          <p:nvPr/>
        </p:nvSpPr>
        <p:spPr>
          <a:xfrm>
            <a:off x="9468000" y="41328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MÉTHODE</a:t>
            </a:r>
          </a:p>
        </p:txBody>
      </p:sp>
      <p:sp>
        <p:nvSpPr>
          <p:cNvPr id="20" name="TextBox 19"/>
          <p:cNvSpPr txBox="1"/>
          <p:nvPr/>
        </p:nvSpPr>
        <p:spPr>
          <a:xfrm>
            <a:off x="9468000" y="43200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Chaque rendu part d'une vue exportée de l'IFC (v5/vues_rendu, position, cible et focale enregistrées). L'image est retravaillée en matière et lumière sans rien ajouter ni déplacer, puis comparée à sa vue source avant d'entrer au dossier.</a:t>
            </a:r>
          </a:p>
        </p:txBody>
      </p:sp>
      <p:cxnSp>
        <p:nvCxnSpPr>
          <p:cNvPr id="21" name="Connector 20"/>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3" name="TextBox 22"/>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4" name="TextBox 23"/>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5" name="TextBox 24"/>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6" name="TextBox 25"/>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7" name="TextBox 26"/>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13 · R1 Rendu de la devanture</a:t>
            </a:r>
          </a:p>
        </p:txBody>
      </p:sp>
      <p:sp>
        <p:nvSpPr>
          <p:cNvPr id="28" name="TextBox 27"/>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29" name="TextBox 28"/>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0" name="TextBox 29"/>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1" name="TextBox 30"/>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2" name="TextBox 31"/>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3" name="TextBox 32"/>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F</a:t>
            </a:r>
          </a:p>
        </p:txBody>
      </p:sp>
      <p:sp>
        <p:nvSpPr>
          <p:cNvPr id="34" name="TextBox 33"/>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5" name="TextBox 3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13 · ESQ V5 · Octobre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2a.jpg"/>
          <p:cNvPicPr>
            <a:picLocks noChangeAspect="1"/>
          </p:cNvPicPr>
          <p:nvPr/>
        </p:nvPicPr>
        <p:blipFill>
          <a:blip r:embed="rId2"/>
          <a:stretch>
            <a:fillRect/>
          </a:stretch>
        </p:blipFill>
        <p:spPr>
          <a:xfrm>
            <a:off x="504000" y="504000"/>
            <a:ext cx="8172000" cy="5076000"/>
          </a:xfrm>
          <a:prstGeom prst="rect">
            <a:avLst/>
          </a:prstGeom>
        </p:spPr>
      </p:pic>
      <p:sp>
        <p:nvSpPr>
          <p:cNvPr id="3" name="TextBox 2"/>
          <p:cNvSpPr txBox="1"/>
          <p:nvPr/>
        </p:nvSpPr>
        <p:spPr>
          <a:xfrm>
            <a:off x="504000" y="5670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R2a · Depuis l'entrée : la banque d'accueil, la salle de lecture et l'arbre à livres au fond</a:t>
            </a:r>
          </a:p>
        </p:txBody>
      </p:sp>
      <p:pic>
        <p:nvPicPr>
          <p:cNvPr id="4" name="Picture 3" descr="r2b.jpg"/>
          <p:cNvPicPr>
            <a:picLocks noChangeAspect="1"/>
          </p:cNvPicPr>
          <p:nvPr/>
        </p:nvPicPr>
        <p:blipFill>
          <a:blip r:embed="rId3"/>
          <a:stretch>
            <a:fillRect/>
          </a:stretch>
        </p:blipFill>
        <p:spPr>
          <a:xfrm>
            <a:off x="504000" y="5976000"/>
            <a:ext cx="3996000" cy="3528000"/>
          </a:xfrm>
          <a:prstGeom prst="rect">
            <a:avLst/>
          </a:prstGeom>
        </p:spPr>
      </p:pic>
      <p:pic>
        <p:nvPicPr>
          <p:cNvPr id="5" name="Picture 4" descr="r2c.jpg"/>
          <p:cNvPicPr>
            <a:picLocks noChangeAspect="1"/>
          </p:cNvPicPr>
          <p:nvPr/>
        </p:nvPicPr>
        <p:blipFill>
          <a:blip r:embed="rId4"/>
          <a:stretch>
            <a:fillRect/>
          </a:stretch>
        </p:blipFill>
        <p:spPr>
          <a:xfrm>
            <a:off x="4680000" y="5976000"/>
            <a:ext cx="3996000" cy="3528000"/>
          </a:xfrm>
          <a:prstGeom prst="rect">
            <a:avLst/>
          </a:prstGeom>
        </p:spPr>
      </p:pic>
      <p:sp>
        <p:nvSpPr>
          <p:cNvPr id="6" name="TextBox 5"/>
          <p:cNvSpPr txBox="1"/>
          <p:nvPr/>
        </p:nvSpPr>
        <p:spPr>
          <a:xfrm>
            <a:off x="504000" y="9594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R2b · Vers la devanture : la porte cintrée et la claustra</a:t>
            </a:r>
          </a:p>
        </p:txBody>
      </p:sp>
      <p:sp>
        <p:nvSpPr>
          <p:cNvPr id="7" name="TextBox 6"/>
          <p:cNvSpPr txBox="1"/>
          <p:nvPr/>
        </p:nvSpPr>
        <p:spPr>
          <a:xfrm>
            <a:off x="4680000" y="9594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R2c · Le coin lecture en vitrine, banquette et rayonnages iroko</a:t>
            </a:r>
          </a:p>
        </p:txBody>
      </p:sp>
      <p:cxnSp>
        <p:nvCxnSpPr>
          <p:cNvPr id="8" name="Connector 7"/>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9" name="Picture 8" descr="KDemi_v3_A_arche_lockup_mono.png"/>
          <p:cNvPicPr>
            <a:picLocks noChangeAspect="1"/>
          </p:cNvPicPr>
          <p:nvPr/>
        </p:nvPicPr>
        <p:blipFill>
          <a:blip r:embed="rId5"/>
          <a:stretch>
            <a:fillRect/>
          </a:stretch>
        </p:blipFill>
        <p:spPr>
          <a:xfrm>
            <a:off x="9468000" y="432000"/>
            <a:ext cx="1656000" cy="561660"/>
          </a:xfrm>
          <a:prstGeom prst="rect">
            <a:avLst/>
          </a:prstGeom>
        </p:spPr>
      </p:pic>
      <p:sp>
        <p:nvSpPr>
          <p:cNvPr id="10" name="TextBox 9"/>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Les intérieurs</a:t>
            </a:r>
          </a:p>
        </p:txBody>
      </p:sp>
      <p:sp>
        <p:nvSpPr>
          <p:cNvPr id="11" name="TextBox 1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Une pénombre fraîche, du bois et des livres</a:t>
            </a:r>
          </a:p>
        </p:txBody>
      </p:sp>
      <p:sp>
        <p:nvSpPr>
          <p:cNvPr id="12" name="TextBox 1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Rendus tirés des vues 02, 03 et 05 de la maquette</a:t>
            </a:r>
          </a:p>
        </p:txBody>
      </p:sp>
      <p:cxnSp>
        <p:nvCxnSpPr>
          <p:cNvPr id="13" name="Connector 12"/>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MATIÈRES</a:t>
            </a:r>
          </a:p>
        </p:txBody>
      </p:sp>
      <p:sp>
        <p:nvSpPr>
          <p:cNvPr id="16" name="TextBox 15"/>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Terrazzo clair au sol, enduit terre et chaux aux murs, iroko huilé pour la banque d'accueil, les rayonnages et les banquettes. Le faux-plafond acoustique à +3,00 garde 0,26 m de plénum sous la dalle de l'immeuble.</a:t>
            </a:r>
          </a:p>
        </p:txBody>
      </p:sp>
      <p:sp>
        <p:nvSpPr>
          <p:cNvPr id="17" name="TextBox 16"/>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LUMIÈRE</a:t>
            </a:r>
          </a:p>
        </p:txBody>
      </p:sp>
      <p:sp>
        <p:nvSpPr>
          <p:cNvPr id="18" name="TextBox 17"/>
          <p:cNvSpPr txBox="1"/>
          <p:nvPr/>
        </p:nvSpPr>
        <p:spPr>
          <a:xfrm>
            <a:off x="9468000" y="3361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Downlights 2700 K encastrés, suspensions en terre cuite au-dessus des tables, lumière du jour filtrée par la claustra. Les splits sont posés en hauteur sur des murs pleins, jamais au-dessus des tables.</a:t>
            </a:r>
          </a:p>
        </p:txBody>
      </p:sp>
      <p:sp>
        <p:nvSpPr>
          <p:cNvPr id="19" name="TextBox 18"/>
          <p:cNvSpPr txBox="1"/>
          <p:nvPr/>
        </p:nvSpPr>
        <p:spPr>
          <a:xfrm>
            <a:off x="9468000" y="3828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CONTRÔLE</a:t>
            </a:r>
          </a:p>
        </p:txBody>
      </p:sp>
      <p:sp>
        <p:nvSpPr>
          <p:cNvPr id="20" name="TextBox 19"/>
          <p:cNvSpPr txBox="1"/>
          <p:nvPr/>
        </p:nvSpPr>
        <p:spPr>
          <a:xfrm>
            <a:off x="9468000" y="4015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Comparés à leurs vues sources : murs, baies, mobilier et luminaires sont à leur place. Seuls les livres sur les étagères et la végétation sont ajoutés au rendu.</a:t>
            </a:r>
          </a:p>
        </p:txBody>
      </p:sp>
      <p:cxnSp>
        <p:nvCxnSpPr>
          <p:cNvPr id="21" name="Connector 20"/>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3" name="TextBox 22"/>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4" name="TextBox 23"/>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5" name="TextBox 24"/>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6" name="TextBox 25"/>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7" name="TextBox 26"/>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14 · R2 Rendus intérieurs</a:t>
            </a:r>
          </a:p>
        </p:txBody>
      </p:sp>
      <p:sp>
        <p:nvSpPr>
          <p:cNvPr id="28" name="TextBox 27"/>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29" name="TextBox 28"/>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0" name="TextBox 29"/>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1" name="TextBox 30"/>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2" name="TextBox 31"/>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3" name="TextBox 32"/>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F</a:t>
            </a:r>
          </a:p>
        </p:txBody>
      </p:sp>
      <p:sp>
        <p:nvSpPr>
          <p:cNvPr id="34" name="TextBox 33"/>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5" name="TextBox 3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14 · ESQ V5 · Octobre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3.jpg"/>
          <p:cNvPicPr>
            <a:picLocks noChangeAspect="1"/>
          </p:cNvPicPr>
          <p:nvPr/>
        </p:nvPicPr>
        <p:blipFill>
          <a:blip r:embed="rId2"/>
          <a:stretch>
            <a:fillRect/>
          </a:stretch>
        </p:blipFill>
        <p:spPr>
          <a:xfrm>
            <a:off x="504000" y="504000"/>
            <a:ext cx="4248000" cy="9396000"/>
          </a:xfrm>
          <a:prstGeom prst="rect">
            <a:avLst/>
          </a:prstGeom>
        </p:spPr>
      </p:pic>
      <p:sp>
        <p:nvSpPr>
          <p:cNvPr id="3" name="TextBox 2"/>
          <p:cNvSpPr txBox="1"/>
          <p:nvPr/>
        </p:nvSpPr>
        <p:spPr>
          <a:xfrm>
            <a:off x="504000" y="10008000"/>
            <a:ext cx="4248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R3 · L'arbre à livres et l'oculus indigo de 2,80 m, anneau LED 2700 K</a:t>
            </a:r>
          </a:p>
        </p:txBody>
      </p:sp>
      <p:pic>
        <p:nvPicPr>
          <p:cNvPr id="4" name="Picture 3" descr="r3_s0.jpg"/>
          <p:cNvPicPr>
            <a:picLocks noChangeAspect="1"/>
          </p:cNvPicPr>
          <p:nvPr/>
        </p:nvPicPr>
        <p:blipFill>
          <a:blip r:embed="rId3"/>
          <a:stretch>
            <a:fillRect/>
          </a:stretch>
        </p:blipFill>
        <p:spPr>
          <a:xfrm>
            <a:off x="4932000" y="504000"/>
            <a:ext cx="3744000" cy="2340000"/>
          </a:xfrm>
          <a:prstGeom prst="rect">
            <a:avLst/>
          </a:prstGeom>
        </p:spPr>
      </p:pic>
      <p:sp>
        <p:nvSpPr>
          <p:cNvPr id="5" name="TextBox 4"/>
          <p:cNvSpPr txBox="1"/>
          <p:nvPr/>
        </p:nvSpPr>
        <p:spPr>
          <a:xfrm>
            <a:off x="4932000" y="2908800"/>
            <a:ext cx="374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02, traits</a:t>
            </a:r>
          </a:p>
        </p:txBody>
      </p:sp>
      <p:pic>
        <p:nvPicPr>
          <p:cNvPr id="6" name="Picture 5" descr="r3_s1.jpg"/>
          <p:cNvPicPr>
            <a:picLocks noChangeAspect="1"/>
          </p:cNvPicPr>
          <p:nvPr/>
        </p:nvPicPr>
        <p:blipFill>
          <a:blip r:embed="rId4"/>
          <a:stretch>
            <a:fillRect/>
          </a:stretch>
        </p:blipFill>
        <p:spPr>
          <a:xfrm>
            <a:off x="4932000" y="3240000"/>
            <a:ext cx="3744000" cy="2340000"/>
          </a:xfrm>
          <a:prstGeom prst="rect">
            <a:avLst/>
          </a:prstGeom>
        </p:spPr>
      </p:pic>
      <p:sp>
        <p:nvSpPr>
          <p:cNvPr id="7" name="TextBox 6"/>
          <p:cNvSpPr txBox="1"/>
          <p:nvPr/>
        </p:nvSpPr>
        <p:spPr>
          <a:xfrm>
            <a:off x="4932000" y="5644800"/>
            <a:ext cx="374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03, traits</a:t>
            </a:r>
          </a:p>
        </p:txBody>
      </p:sp>
      <p:pic>
        <p:nvPicPr>
          <p:cNvPr id="8" name="Picture 7" descr="r3_s2.jpg"/>
          <p:cNvPicPr>
            <a:picLocks noChangeAspect="1"/>
          </p:cNvPicPr>
          <p:nvPr/>
        </p:nvPicPr>
        <p:blipFill>
          <a:blip r:embed="rId5"/>
          <a:stretch>
            <a:fillRect/>
          </a:stretch>
        </p:blipFill>
        <p:spPr>
          <a:xfrm>
            <a:off x="4932000" y="5976000"/>
            <a:ext cx="3744000" cy="2340000"/>
          </a:xfrm>
          <a:prstGeom prst="rect">
            <a:avLst/>
          </a:prstGeom>
        </p:spPr>
      </p:pic>
      <p:sp>
        <p:nvSpPr>
          <p:cNvPr id="9" name="TextBox 8"/>
          <p:cNvSpPr txBox="1"/>
          <p:nvPr/>
        </p:nvSpPr>
        <p:spPr>
          <a:xfrm>
            <a:off x="4932000" y="8380800"/>
            <a:ext cx="374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04, traits</a:t>
            </a:r>
          </a:p>
        </p:txBody>
      </p:sp>
      <p:sp>
        <p:nvSpPr>
          <p:cNvPr id="10" name="TextBox 9"/>
          <p:cNvSpPr txBox="1"/>
          <p:nvPr/>
        </p:nvSpPr>
        <p:spPr>
          <a:xfrm>
            <a:off x="4932000" y="8856000"/>
            <a:ext cx="3744000" cy="297840"/>
          </a:xfrm>
          <a:prstGeom prst="rect">
            <a:avLst/>
          </a:prstGeom>
          <a:noFill/>
        </p:spPr>
        <p:txBody>
          <a:bodyPr wrap="square" lIns="0" rIns="0" tIns="0" bIns="0" anchor="t">
            <a:spAutoFit/>
          </a:bodyPr>
          <a:lstStyle/>
          <a:p>
            <a:pPr algn="l">
              <a:lnSpc>
                <a:spcPts val="960"/>
              </a:lnSpc>
            </a:pPr>
            <a:r>
              <a:rPr sz="720">
                <a:solidFill>
                  <a:srgbClr val="8C8C8C"/>
                </a:solidFill>
                <a:latin typeface="Archivo"/>
              </a:rPr>
              <a:t>Les vues sources sont recalculées depuis l'IFC par v5/scripts/vues_rendu.py, avec la position, la cible et la focale enregistrées pour chaque caméra.</a:t>
            </a:r>
          </a:p>
        </p:txBody>
      </p:sp>
      <p:cxnSp>
        <p:nvCxnSpPr>
          <p:cNvPr id="11" name="Connector 10"/>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12" name="Picture 11" descr="KDemi_v3_A_arche_lockup_mono.png"/>
          <p:cNvPicPr>
            <a:picLocks noChangeAspect="1"/>
          </p:cNvPicPr>
          <p:nvPr/>
        </p:nvPicPr>
        <p:blipFill>
          <a:blip r:embed="rId6"/>
          <a:stretch>
            <a:fillRect/>
          </a:stretch>
        </p:blipFill>
        <p:spPr>
          <a:xfrm>
            <a:off x="9468000" y="432000"/>
            <a:ext cx="1656000" cy="561660"/>
          </a:xfrm>
          <a:prstGeom prst="rect">
            <a:avLst/>
          </a:prstGeom>
        </p:spPr>
      </p:pic>
      <p:sp>
        <p:nvSpPr>
          <p:cNvPr id="13" name="TextBox 12"/>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L'arbre à livres</a:t>
            </a:r>
          </a:p>
        </p:txBody>
      </p:sp>
      <p:sp>
        <p:nvSpPr>
          <p:cNvPr id="14" name="TextBox 13"/>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Le seul objet fort de la salle</a:t>
            </a:r>
          </a:p>
        </p:txBody>
      </p:sp>
      <p:sp>
        <p:nvSpPr>
          <p:cNvPr id="15" name="TextBox 14"/>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 tiré de la vue 04 de la maquette</a:t>
            </a:r>
          </a:p>
        </p:txBody>
      </p:sp>
      <p:cxnSp>
        <p:nvCxnSpPr>
          <p:cNvPr id="16" name="Connector 15"/>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L'OBJET</a:t>
            </a:r>
          </a:p>
        </p:txBody>
      </p:sp>
      <p:sp>
        <p:nvSpPr>
          <p:cNvPr id="19" name="TextBox 18"/>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Un fût d'iroko porte des étagères circulaires et s'évase en canopée sous un oculus de 2,80 m. La sous-face de dalle est laquée indigo et un anneau LED indirect dessine le bord de l'oculus.</a:t>
            </a:r>
          </a:p>
        </p:txBody>
      </p:sp>
      <p:sp>
        <p:nvSpPr>
          <p:cNvPr id="20" name="TextBox 19"/>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DANS LA MAQUETTE</a:t>
            </a:r>
          </a:p>
        </p:txBody>
      </p:sp>
      <p:sp>
        <p:nvSpPr>
          <p:cNvPr id="21" name="TextBox 20"/>
          <p:cNvSpPr txBox="1"/>
          <p:nvPr/>
        </p:nvSpPr>
        <p:spPr>
          <a:xfrm>
            <a:off x="9468000" y="33612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Modélisé en IfcFurniture sculptural au centre de la salle de lecture, avec l'oculus en IfcCovering et l'anneau en IfcLightFixture. Il est fixé sous la dalle sans la traverser : la charge, l'ancrage et la réaction au feu restent à valider par le BET.</a:t>
            </a:r>
          </a:p>
        </p:txBody>
      </p:sp>
      <p:cxnSp>
        <p:nvCxnSpPr>
          <p:cNvPr id="22" name="Connector 21"/>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4" name="TextBox 23"/>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5" name="TextBox 24"/>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6" name="TextBox 25"/>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7" name="TextBox 26"/>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8" name="TextBox 27"/>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 R3 L'arbre à livres</a:t>
            </a:r>
          </a:p>
        </p:txBody>
      </p:sp>
      <p:sp>
        <p:nvSpPr>
          <p:cNvPr id="29" name="TextBox 28"/>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30" name="TextBox 29"/>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1" name="TextBox 30"/>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2" name="TextBox 31"/>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3" name="TextBox 32"/>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4" name="TextBox 33"/>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F</a:t>
            </a:r>
          </a:p>
        </p:txBody>
      </p:sp>
      <p:sp>
        <p:nvSpPr>
          <p:cNvPr id="35" name="TextBox 34"/>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6" name="TextBox 35"/>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15 · ESQ V5 · Octobre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g1.jpg"/>
          <p:cNvPicPr>
            <a:picLocks noChangeAspect="1"/>
          </p:cNvPicPr>
          <p:nvPr/>
        </p:nvPicPr>
        <p:blipFill>
          <a:blip r:embed="rId2"/>
          <a:stretch>
            <a:fillRect/>
          </a:stretch>
        </p:blipFill>
        <p:spPr>
          <a:xfrm>
            <a:off x="504000" y="504000"/>
            <a:ext cx="8172000" cy="5760000"/>
          </a:xfrm>
          <a:prstGeom prst="rect">
            <a:avLst/>
          </a:prstGeom>
        </p:spPr>
      </p:pic>
      <p:sp>
        <p:nvSpPr>
          <p:cNvPr id="3" name="TextBox 2"/>
          <p:cNvSpPr txBox="1"/>
          <p:nvPr/>
        </p:nvSpPr>
        <p:spPr>
          <a:xfrm>
            <a:off x="504000" y="6354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G1 · La devanture à l'heure bleue : guirlande 2700 K sous la pergola V4, jardinières plantées, vitrine allumée</a:t>
            </a:r>
          </a:p>
        </p:txBody>
      </p:sp>
      <p:pic>
        <p:nvPicPr>
          <p:cNvPr id="4" name="Picture 3" descr="r1_s1.jpg"/>
          <p:cNvPicPr>
            <a:picLocks noChangeAspect="1"/>
          </p:cNvPicPr>
          <p:nvPr/>
        </p:nvPicPr>
        <p:blipFill>
          <a:blip r:embed="rId3"/>
          <a:stretch>
            <a:fillRect/>
          </a:stretch>
        </p:blipFill>
        <p:spPr>
          <a:xfrm>
            <a:off x="504000" y="6696000"/>
            <a:ext cx="3996000" cy="2484000"/>
          </a:xfrm>
          <a:prstGeom prst="rect">
            <a:avLst/>
          </a:prstGeom>
        </p:spPr>
      </p:pic>
      <p:pic>
        <p:nvPicPr>
          <p:cNvPr id="5" name="Picture 4" descr="r1_s2.jpg"/>
          <p:cNvPicPr>
            <a:picLocks noChangeAspect="1"/>
          </p:cNvPicPr>
          <p:nvPr/>
        </p:nvPicPr>
        <p:blipFill>
          <a:blip r:embed="rId4"/>
          <a:stretch>
            <a:fillRect/>
          </a:stretch>
        </p:blipFill>
        <p:spPr>
          <a:xfrm>
            <a:off x="4680000" y="6696000"/>
            <a:ext cx="3996000" cy="2484000"/>
          </a:xfrm>
          <a:prstGeom prst="rect">
            <a:avLst/>
          </a:prstGeom>
        </p:spPr>
      </p:pic>
      <p:sp>
        <p:nvSpPr>
          <p:cNvPr id="6" name="TextBox 5"/>
          <p:cNvSpPr txBox="1"/>
          <p:nvPr/>
        </p:nvSpPr>
        <p:spPr>
          <a:xfrm>
            <a:off x="504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01 : maquette IFC V5 ombrée, même caméra</a:t>
            </a:r>
          </a:p>
        </p:txBody>
      </p:sp>
      <p:sp>
        <p:nvSpPr>
          <p:cNvPr id="7" name="TextBox 6"/>
          <p:cNvSpPr txBox="1"/>
          <p:nvPr/>
        </p:nvSpPr>
        <p:spPr>
          <a:xfrm>
            <a:off x="4680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01 : traits et silhouettes</a:t>
            </a:r>
          </a:p>
        </p:txBody>
      </p:sp>
      <p:cxnSp>
        <p:nvCxnSpPr>
          <p:cNvPr id="8" name="Connector 7"/>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9" name="Picture 8" descr="KDemi_v3_A_arche_lockup_mono.png"/>
          <p:cNvPicPr>
            <a:picLocks noChangeAspect="1"/>
          </p:cNvPicPr>
          <p:nvPr/>
        </p:nvPicPr>
        <p:blipFill>
          <a:blip r:embed="rId5"/>
          <a:stretch>
            <a:fillRect/>
          </a:stretch>
        </p:blipFill>
        <p:spPr>
          <a:xfrm>
            <a:off x="9468000" y="432000"/>
            <a:ext cx="1656000" cy="561660"/>
          </a:xfrm>
          <a:prstGeom prst="rect">
            <a:avLst/>
          </a:prstGeom>
        </p:spPr>
      </p:pic>
      <p:sp>
        <p:nvSpPr>
          <p:cNvPr id="10" name="TextBox 9"/>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Decimo, côté Gen Z</a:t>
            </a:r>
          </a:p>
        </p:txBody>
      </p:sp>
      <p:sp>
        <p:nvSpPr>
          <p:cNvPr id="11" name="TextBox 1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Un lieu où l'on a envie d'aller</a:t>
            </a:r>
          </a:p>
        </p:txBody>
      </p:sp>
      <p:sp>
        <p:nvSpPr>
          <p:cNvPr id="12" name="TextBox 1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Rendus tirés des vues de la maquette IFC V5</a:t>
            </a:r>
          </a:p>
        </p:txBody>
      </p:sp>
      <p:cxnSp>
        <p:nvCxnSpPr>
          <p:cNvPr id="13" name="Connector 12"/>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L'INTENTION</a:t>
            </a:r>
          </a:p>
        </p:txBody>
      </p:sp>
      <p:sp>
        <p:nvSpPr>
          <p:cNvPr id="16" name="TextBox 15"/>
          <p:cNvSpPr txBox="1"/>
          <p:nvPr/>
        </p:nvSpPr>
        <p:spPr>
          <a:xfrm>
            <a:off x="9468000" y="27072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Le projet reste tel quel : rayonnages, arbre à livres, arches, claustra Adinkra, terre cuite, iroko et sable, accents indigo, lumière 2700 K. On ajoute seulement cinq petites touches, chaleureuses et peu coûteuses, qui donnent envie de venir, de rester et de prendre une photo.</a:t>
            </a:r>
          </a:p>
        </p:txBody>
      </p:sp>
      <p:sp>
        <p:nvSpPr>
          <p:cNvPr id="17" name="TextBox 16"/>
          <p:cNvSpPr txBox="1"/>
          <p:nvPr/>
        </p:nvSpPr>
        <p:spPr>
          <a:xfrm>
            <a:off x="9468000" y="33264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CE QUE L'ON VOIT</a:t>
            </a:r>
          </a:p>
        </p:txBody>
      </p:sp>
      <p:sp>
        <p:nvSpPr>
          <p:cNvPr id="18" name="TextBox 17"/>
          <p:cNvSpPr txBox="1"/>
          <p:nvPr/>
        </p:nvSpPr>
        <p:spPr>
          <a:xfrm>
            <a:off x="9468000" y="35136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La terrasse le soir : une guirlande 2700 K tendue sous la pergola de la V4, de vraies jardinières plantées de ficus lyrata et de strelitzia le long de la façade, la vitrine du coin lecture allumée. Les tables de terrasse et les jarres sur socle sont celles de la maquette.</a:t>
            </a:r>
          </a:p>
        </p:txBody>
      </p:sp>
      <p:sp>
        <p:nvSpPr>
          <p:cNvPr id="19" name="TextBox 18"/>
          <p:cNvSpPr txBox="1"/>
          <p:nvPr/>
        </p:nvSpPr>
        <p:spPr>
          <a:xfrm>
            <a:off x="9468000" y="41328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CONTRÔLE</a:t>
            </a:r>
          </a:p>
        </p:txBody>
      </p:sp>
      <p:sp>
        <p:nvSpPr>
          <p:cNvPr id="20" name="TextBox 19"/>
          <p:cNvSpPr txBox="1"/>
          <p:nvPr/>
        </p:nvSpPr>
        <p:spPr>
          <a:xfrm>
            <a:off x="9468000" y="4320000"/>
            <a:ext cx="5292000" cy="6635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Même caméra que la vue source 01, mêmes baies, même portail, pas de balcon sur l'immeuble. Écarts restants : la toiture de la pergola est rendue droite au lieu de sa double ondulation, deux bacs plantés et un muret ont été ajoutés hors de la pergola, aux deux extrémités. Image recadrée à droite pour retirer un reste du houppier modélisé. La maquette fait foi.</a:t>
            </a:r>
          </a:p>
        </p:txBody>
      </p:sp>
      <p:cxnSp>
        <p:nvCxnSpPr>
          <p:cNvPr id="21" name="Connector 20"/>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3" name="TextBox 22"/>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4" name="TextBox 23"/>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5" name="TextBox 24"/>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6" name="TextBox 25"/>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7" name="TextBox 26"/>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16 · G1 Decimo, côté Gen Z</a:t>
            </a:r>
          </a:p>
        </p:txBody>
      </p:sp>
      <p:sp>
        <p:nvSpPr>
          <p:cNvPr id="28" name="TextBox 27"/>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29" name="TextBox 28"/>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0" name="TextBox 29"/>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1" name="TextBox 30"/>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2" name="TextBox 31"/>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3" name="TextBox 32"/>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F</a:t>
            </a:r>
          </a:p>
        </p:txBody>
      </p:sp>
      <p:sp>
        <p:nvSpPr>
          <p:cNvPr id="34" name="TextBox 33"/>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5" name="TextBox 3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16 · ESQ V5 · Octobre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g2.jpg"/>
          <p:cNvPicPr>
            <a:picLocks noChangeAspect="1"/>
          </p:cNvPicPr>
          <p:nvPr/>
        </p:nvPicPr>
        <p:blipFill>
          <a:blip r:embed="rId2"/>
          <a:stretch>
            <a:fillRect/>
          </a:stretch>
        </p:blipFill>
        <p:spPr>
          <a:xfrm>
            <a:off x="504000" y="504000"/>
            <a:ext cx="8172000" cy="5076000"/>
          </a:xfrm>
          <a:prstGeom prst="rect">
            <a:avLst/>
          </a:prstGeom>
        </p:spPr>
      </p:pic>
      <p:sp>
        <p:nvSpPr>
          <p:cNvPr id="3" name="TextBox 2"/>
          <p:cNvSpPr txBox="1"/>
          <p:nvPr/>
        </p:nvSpPr>
        <p:spPr>
          <a:xfrm>
            <a:off x="504000" y="5670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G2a · La vitrine du coin lecture : assise sous l'arche, plaid indigo et terre cuite, lampe de lecture, pile « coup de cœur » visible de la rue</a:t>
            </a:r>
          </a:p>
        </p:txBody>
      </p:sp>
      <p:pic>
        <p:nvPicPr>
          <p:cNvPr id="4" name="Picture 3" descr="g3.jpg"/>
          <p:cNvPicPr>
            <a:picLocks noChangeAspect="1"/>
          </p:cNvPicPr>
          <p:nvPr/>
        </p:nvPicPr>
        <p:blipFill>
          <a:blip r:embed="rId3"/>
          <a:stretch>
            <a:fillRect/>
          </a:stretch>
        </p:blipFill>
        <p:spPr>
          <a:xfrm>
            <a:off x="504000" y="5976000"/>
            <a:ext cx="3996000" cy="3528000"/>
          </a:xfrm>
          <a:prstGeom prst="rect">
            <a:avLst/>
          </a:prstGeom>
        </p:spPr>
      </p:pic>
      <p:pic>
        <p:nvPicPr>
          <p:cNvPr id="5" name="Picture 4" descr="g4.jpg"/>
          <p:cNvPicPr>
            <a:picLocks noChangeAspect="1"/>
          </p:cNvPicPr>
          <p:nvPr/>
        </p:nvPicPr>
        <p:blipFill>
          <a:blip r:embed="rId4"/>
          <a:stretch>
            <a:fillRect/>
          </a:stretch>
        </p:blipFill>
        <p:spPr>
          <a:xfrm>
            <a:off x="4680000" y="5976000"/>
            <a:ext cx="3996000" cy="3528000"/>
          </a:xfrm>
          <a:prstGeom prst="rect">
            <a:avLst/>
          </a:prstGeom>
        </p:spPr>
      </p:pic>
      <p:sp>
        <p:nvSpPr>
          <p:cNvPr id="6" name="TextBox 5"/>
          <p:cNvSpPr txBox="1"/>
          <p:nvPr/>
        </p:nvSpPr>
        <p:spPr>
          <a:xfrm>
            <a:off x="504000" y="9594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G2b · L'accueil : tampon daté, marque-pages kraft, livres-surprises, réglette des coups de cœur</a:t>
            </a:r>
          </a:p>
        </p:txBody>
      </p:sp>
      <p:sp>
        <p:nvSpPr>
          <p:cNvPr id="7" name="TextBox 6"/>
          <p:cNvSpPr txBox="1"/>
          <p:nvPr/>
        </p:nvSpPr>
        <p:spPr>
          <a:xfrm>
            <a:off x="4680000" y="9594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G2c · Le soir, la photo de l'arbre à livres et de l'oculus</a:t>
            </a:r>
          </a:p>
        </p:txBody>
      </p:sp>
      <p:cxnSp>
        <p:nvCxnSpPr>
          <p:cNvPr id="8" name="Connector 7"/>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9" name="Picture 8" descr="KDemi_v3_A_arche_lockup_mono.png"/>
          <p:cNvPicPr>
            <a:picLocks noChangeAspect="1"/>
          </p:cNvPicPr>
          <p:nvPr/>
        </p:nvPicPr>
        <p:blipFill>
          <a:blip r:embed="rId5"/>
          <a:stretch>
            <a:fillRect/>
          </a:stretch>
        </p:blipFill>
        <p:spPr>
          <a:xfrm>
            <a:off x="9468000" y="432000"/>
            <a:ext cx="1656000" cy="561660"/>
          </a:xfrm>
          <a:prstGeom prst="rect">
            <a:avLst/>
          </a:prstGeom>
        </p:spPr>
      </p:pic>
      <p:sp>
        <p:nvSpPr>
          <p:cNvPr id="10" name="TextBox 9"/>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Les moments à partager</a:t>
            </a:r>
          </a:p>
        </p:txBody>
      </p:sp>
      <p:sp>
        <p:nvSpPr>
          <p:cNvPr id="11" name="TextBox 1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Lire, tamponner, offrir, photographier</a:t>
            </a:r>
          </a:p>
        </p:txBody>
      </p:sp>
      <p:sp>
        <p:nvSpPr>
          <p:cNvPr id="12" name="TextBox 1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Rendus tirés des vues 05, 06 et 02 de la maquette</a:t>
            </a:r>
          </a:p>
        </p:txBody>
      </p:sp>
      <p:cxnSp>
        <p:nvCxnSpPr>
          <p:cNvPr id="13" name="Connector 12"/>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CE QUE L'ON VOIT</a:t>
            </a:r>
          </a:p>
        </p:txBody>
      </p:sp>
      <p:sp>
        <p:nvSpPr>
          <p:cNvPr id="16" name="TextBox 15"/>
          <p:cNvSpPr txBox="1"/>
          <p:nvPr/>
        </p:nvSpPr>
        <p:spPr>
          <a:xfrm>
            <a:off x="9468000" y="27072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01</a:t>
            </a:r>
          </a:p>
        </p:txBody>
      </p:sp>
      <p:sp>
        <p:nvSpPr>
          <p:cNvPr id="17" name="TextBox 16"/>
          <p:cNvSpPr txBox="1"/>
          <p:nvPr/>
        </p:nvSpPr>
        <p:spPr>
          <a:xfrm>
            <a:off x="9720000" y="2707200"/>
            <a:ext cx="5040000" cy="29784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 coin lecture en vitrine devient le fauteuil que l'on photographie : coussins raphia et indigo, plaid tissé, petite lampe, la pile du mois posée sur le podium.</a:t>
            </a:r>
          </a:p>
        </p:txBody>
      </p:sp>
      <p:sp>
        <p:nvSpPr>
          <p:cNvPr id="18" name="TextBox 17"/>
          <p:cNvSpPr txBox="1"/>
          <p:nvPr/>
        </p:nvSpPr>
        <p:spPr>
          <a:xfrm>
            <a:off x="9468000" y="299424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02</a:t>
            </a:r>
          </a:p>
        </p:txBody>
      </p:sp>
      <p:sp>
        <p:nvSpPr>
          <p:cNvPr id="19" name="TextBox 18"/>
          <p:cNvSpPr txBox="1"/>
          <p:nvPr/>
        </p:nvSpPr>
        <p:spPr>
          <a:xfrm>
            <a:off x="9720000" y="2994240"/>
            <a:ext cx="5040000" cy="297840"/>
          </a:xfrm>
          <a:prstGeom prst="rect">
            <a:avLst/>
          </a:prstGeom>
          <a:noFill/>
        </p:spPr>
        <p:txBody>
          <a:bodyPr wrap="square" lIns="0" rIns="0" tIns="0" bIns="0" anchor="t">
            <a:spAutoFit/>
          </a:bodyPr>
          <a:lstStyle/>
          <a:p>
            <a:pPr algn="l">
              <a:lnSpc>
                <a:spcPts val="960"/>
              </a:lnSpc>
            </a:pPr>
            <a:r>
              <a:rPr sz="720">
                <a:solidFill>
                  <a:srgbClr val="4A4A4A"/>
                </a:solidFill>
                <a:latin typeface="Archivo"/>
              </a:rPr>
              <a:t>À l'accueil, chacun repart avec un marque-page kraft tamponné à la date du jour, ou un livre-surprise emballé, trois mots écrits dessus.</a:t>
            </a:r>
          </a:p>
        </p:txBody>
      </p:sp>
      <p:sp>
        <p:nvSpPr>
          <p:cNvPr id="20" name="TextBox 19"/>
          <p:cNvSpPr txBox="1"/>
          <p:nvPr/>
        </p:nvSpPr>
        <p:spPr>
          <a:xfrm>
            <a:off x="9468000" y="328128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03</a:t>
            </a:r>
          </a:p>
        </p:txBody>
      </p:sp>
      <p:sp>
        <p:nvSpPr>
          <p:cNvPr id="21" name="TextBox 20"/>
          <p:cNvSpPr txBox="1"/>
          <p:nvPr/>
        </p:nvSpPr>
        <p:spPr>
          <a:xfrm>
            <a:off x="9720000" y="328128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Sur le mur derrière le comptoir, une réglette en iroko porte les fiches manuscrites des lecteurs.</a:t>
            </a:r>
          </a:p>
        </p:txBody>
      </p:sp>
      <p:sp>
        <p:nvSpPr>
          <p:cNvPr id="22" name="TextBox 21"/>
          <p:cNvSpPr txBox="1"/>
          <p:nvPr/>
        </p:nvSpPr>
        <p:spPr>
          <a:xfrm>
            <a:off x="9468000" y="3446399"/>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04</a:t>
            </a:r>
          </a:p>
        </p:txBody>
      </p:sp>
      <p:sp>
        <p:nvSpPr>
          <p:cNvPr id="23" name="TextBox 22"/>
          <p:cNvSpPr txBox="1"/>
          <p:nvPr/>
        </p:nvSpPr>
        <p:spPr>
          <a:xfrm>
            <a:off x="9720000" y="3446399"/>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 soir, l'arbre à livres et l'anneau de l'oculus font la photo du lieu.</a:t>
            </a:r>
          </a:p>
        </p:txBody>
      </p:sp>
      <p:sp>
        <p:nvSpPr>
          <p:cNvPr id="24" name="TextBox 23"/>
          <p:cNvSpPr txBox="1"/>
          <p:nvPr/>
        </p:nvSpPr>
        <p:spPr>
          <a:xfrm>
            <a:off x="9468000" y="3719519"/>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CONTRÔLE</a:t>
            </a:r>
          </a:p>
        </p:txBody>
      </p:sp>
      <p:sp>
        <p:nvSpPr>
          <p:cNvPr id="25" name="TextBox 24"/>
          <p:cNvSpPr txBox="1"/>
          <p:nvPr/>
        </p:nvSpPr>
        <p:spPr>
          <a:xfrm>
            <a:off x="9468000" y="3906720"/>
            <a:ext cx="5292000" cy="6635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Vues sources 05, 06 (nouvelle caméra sur l'accueil, v5/scripts/vues_rendu_genz.py) et 02 : murs, baies, comptoir, rayonnages, arbre et luminaires sont à leur place. Écarts restants : en G2a, l'assise de vitrine se prolonge d'environ 1 m sous la baie ovale, alors que le podium de la maquette fait 1,00 m sous l'arche. En G2c, le fût de l'arbre paraît plus plat que le cylindre modélisé. Les personnes sont génériques, vues de dos.</a:t>
            </a:r>
          </a:p>
        </p:txBody>
      </p:sp>
      <p:cxnSp>
        <p:nvCxnSpPr>
          <p:cNvPr id="26" name="Connector 25"/>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8" name="TextBox 27"/>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9" name="TextBox 28"/>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30" name="TextBox 29"/>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31" name="TextBox 30"/>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32" name="TextBox 31"/>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17 · G2 Les moments à partager</a:t>
            </a:r>
          </a:p>
        </p:txBody>
      </p:sp>
      <p:sp>
        <p:nvSpPr>
          <p:cNvPr id="33" name="TextBox 32"/>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34" name="TextBox 33"/>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5" name="TextBox 34"/>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6" name="TextBox 35"/>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7" name="TextBox 36"/>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8" name="TextBox 37"/>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F</a:t>
            </a:r>
          </a:p>
        </p:txBody>
      </p:sp>
      <p:sp>
        <p:nvSpPr>
          <p:cNvPr id="39" name="TextBox 38"/>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40" name="TextBox 39"/>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17 · ESQ V5 · Octobre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g5.jpg"/>
          <p:cNvPicPr>
            <a:picLocks noChangeAspect="1"/>
          </p:cNvPicPr>
          <p:nvPr/>
        </p:nvPicPr>
        <p:blipFill>
          <a:blip r:embed="rId2"/>
          <a:stretch>
            <a:fillRect/>
          </a:stretch>
        </p:blipFill>
        <p:spPr>
          <a:xfrm>
            <a:off x="504000" y="504000"/>
            <a:ext cx="6907209" cy="9180000"/>
          </a:xfrm>
          <a:prstGeom prst="rect">
            <a:avLst/>
          </a:prstGeom>
        </p:spPr>
      </p:pic>
      <p:sp>
        <p:nvSpPr>
          <p:cNvPr id="3" name="TextBox 2"/>
          <p:cNvSpPr txBox="1"/>
          <p:nvPr/>
        </p:nvSpPr>
        <p:spPr>
          <a:xfrm>
            <a:off x="504000" y="9756000"/>
            <a:ext cx="6907209"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Extrait du plan A01 (plan de coupe à +1,00), fond gris, sans échelle. Les touches n'entrent pas dans la maquette IFC.</a:t>
            </a:r>
          </a:p>
        </p:txBody>
      </p:sp>
      <p:pic>
        <p:nvPicPr>
          <p:cNvPr id="4" name="Picture 3" descr="g5_t0.jpg"/>
          <p:cNvPicPr>
            <a:picLocks noChangeAspect="1"/>
          </p:cNvPicPr>
          <p:nvPr/>
        </p:nvPicPr>
        <p:blipFill>
          <a:blip r:embed="rId3"/>
          <a:stretch>
            <a:fillRect/>
          </a:stretch>
        </p:blipFill>
        <p:spPr>
          <a:xfrm>
            <a:off x="7591209" y="504000"/>
            <a:ext cx="1084790" cy="672569"/>
          </a:xfrm>
          <a:prstGeom prst="rect">
            <a:avLst/>
          </a:prstGeom>
        </p:spPr>
      </p:pic>
      <p:sp>
        <p:nvSpPr>
          <p:cNvPr id="5" name="TextBox 4"/>
          <p:cNvSpPr txBox="1"/>
          <p:nvPr/>
        </p:nvSpPr>
        <p:spPr>
          <a:xfrm>
            <a:off x="7591209" y="1230569"/>
            <a:ext cx="108479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G1 · touche 5</a:t>
            </a:r>
          </a:p>
        </p:txBody>
      </p:sp>
      <p:pic>
        <p:nvPicPr>
          <p:cNvPr id="6" name="Picture 5" descr="g5_t1.jpg"/>
          <p:cNvPicPr>
            <a:picLocks noChangeAspect="1"/>
          </p:cNvPicPr>
          <p:nvPr/>
        </p:nvPicPr>
        <p:blipFill>
          <a:blip r:embed="rId4"/>
          <a:stretch>
            <a:fillRect/>
          </a:stretch>
        </p:blipFill>
        <p:spPr>
          <a:xfrm>
            <a:off x="7591209" y="1500569"/>
            <a:ext cx="1084790" cy="672569"/>
          </a:xfrm>
          <a:prstGeom prst="rect">
            <a:avLst/>
          </a:prstGeom>
        </p:spPr>
      </p:pic>
      <p:sp>
        <p:nvSpPr>
          <p:cNvPr id="7" name="TextBox 6"/>
          <p:cNvSpPr txBox="1"/>
          <p:nvPr/>
        </p:nvSpPr>
        <p:spPr>
          <a:xfrm>
            <a:off x="7591209" y="2227139"/>
            <a:ext cx="108479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G2a · touche 4</a:t>
            </a:r>
          </a:p>
        </p:txBody>
      </p:sp>
      <p:pic>
        <p:nvPicPr>
          <p:cNvPr id="8" name="Picture 7" descr="g5_t2.jpg"/>
          <p:cNvPicPr>
            <a:picLocks noChangeAspect="1"/>
          </p:cNvPicPr>
          <p:nvPr/>
        </p:nvPicPr>
        <p:blipFill>
          <a:blip r:embed="rId5"/>
          <a:stretch>
            <a:fillRect/>
          </a:stretch>
        </p:blipFill>
        <p:spPr>
          <a:xfrm>
            <a:off x="7591209" y="2497139"/>
            <a:ext cx="1084790" cy="672569"/>
          </a:xfrm>
          <a:prstGeom prst="rect">
            <a:avLst/>
          </a:prstGeom>
        </p:spPr>
      </p:pic>
      <p:sp>
        <p:nvSpPr>
          <p:cNvPr id="9" name="TextBox 8"/>
          <p:cNvSpPr txBox="1"/>
          <p:nvPr/>
        </p:nvSpPr>
        <p:spPr>
          <a:xfrm>
            <a:off x="7591209" y="3223709"/>
            <a:ext cx="108479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G2b · touches 1, 2, 3</a:t>
            </a:r>
          </a:p>
        </p:txBody>
      </p:sp>
      <p:pic>
        <p:nvPicPr>
          <p:cNvPr id="10" name="Picture 9" descr="g5_t3.jpg"/>
          <p:cNvPicPr>
            <a:picLocks noChangeAspect="1"/>
          </p:cNvPicPr>
          <p:nvPr/>
        </p:nvPicPr>
        <p:blipFill>
          <a:blip r:embed="rId6"/>
          <a:stretch>
            <a:fillRect/>
          </a:stretch>
        </p:blipFill>
        <p:spPr>
          <a:xfrm>
            <a:off x="7591209" y="3493709"/>
            <a:ext cx="1084790" cy="672569"/>
          </a:xfrm>
          <a:prstGeom prst="rect">
            <a:avLst/>
          </a:prstGeom>
        </p:spPr>
      </p:pic>
      <p:sp>
        <p:nvSpPr>
          <p:cNvPr id="11" name="TextBox 10"/>
          <p:cNvSpPr txBox="1"/>
          <p:nvPr/>
        </p:nvSpPr>
        <p:spPr>
          <a:xfrm>
            <a:off x="7591209" y="4220279"/>
            <a:ext cx="108479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G2c · l'arbre à livres</a:t>
            </a:r>
          </a:p>
        </p:txBody>
      </p:sp>
      <p:cxnSp>
        <p:nvCxnSpPr>
          <p:cNvPr id="12" name="Connector 11"/>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13" name="Picture 12" descr="KDemi_v3_A_arche_lockup_mono.png"/>
          <p:cNvPicPr>
            <a:picLocks noChangeAspect="1"/>
          </p:cNvPicPr>
          <p:nvPr/>
        </p:nvPicPr>
        <p:blipFill>
          <a:blip r:embed="rId7"/>
          <a:stretch>
            <a:fillRect/>
          </a:stretch>
        </p:blipFill>
        <p:spPr>
          <a:xfrm>
            <a:off x="9468000" y="432000"/>
            <a:ext cx="1656000" cy="561660"/>
          </a:xfrm>
          <a:prstGeom prst="rect">
            <a:avLst/>
          </a:prstGeom>
        </p:spPr>
      </p:pic>
      <p:sp>
        <p:nvSpPr>
          <p:cNvPr id="14" name="TextBox 13"/>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Les 5 touches</a:t>
            </a:r>
          </a:p>
        </p:txBody>
      </p:sp>
      <p:sp>
        <p:nvSpPr>
          <p:cNvPr id="15" name="TextBox 14"/>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Où elles se posent sur le plan</a:t>
            </a:r>
          </a:p>
        </p:txBody>
      </p:sp>
      <p:sp>
        <p:nvSpPr>
          <p:cNvPr id="16" name="TextBox 15"/>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Aménagement léger, maquette IFC V5 inchangée</a:t>
            </a:r>
          </a:p>
        </p:txBody>
      </p:sp>
      <p:cxnSp>
        <p:nvCxnSpPr>
          <p:cNvPr id="17" name="Connector 16"/>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LES TOUCHES</a:t>
            </a:r>
          </a:p>
        </p:txBody>
      </p:sp>
      <p:sp>
        <p:nvSpPr>
          <p:cNvPr id="20" name="TextBox 19"/>
          <p:cNvSpPr txBox="1"/>
          <p:nvPr/>
        </p:nvSpPr>
        <p:spPr>
          <a:xfrm>
            <a:off x="9468000" y="27072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01</a:t>
            </a:r>
          </a:p>
        </p:txBody>
      </p:sp>
      <p:sp>
        <p:nvSpPr>
          <p:cNvPr id="21" name="TextBox 20"/>
          <p:cNvSpPr txBox="1"/>
          <p:nvPr/>
        </p:nvSpPr>
        <p:spPr>
          <a:xfrm>
            <a:off x="9720000" y="270720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Tampon Decimo daté, au comptoir d'accueil C02, avec les marque-pages en kraft.</a:t>
            </a:r>
          </a:p>
        </p:txBody>
      </p:sp>
      <p:sp>
        <p:nvSpPr>
          <p:cNvPr id="22" name="TextBox 21"/>
          <p:cNvSpPr txBox="1"/>
          <p:nvPr/>
        </p:nvSpPr>
        <p:spPr>
          <a:xfrm>
            <a:off x="9468000" y="287232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02</a:t>
            </a:r>
          </a:p>
        </p:txBody>
      </p:sp>
      <p:sp>
        <p:nvSpPr>
          <p:cNvPr id="23" name="TextBox 22"/>
          <p:cNvSpPr txBox="1"/>
          <p:nvPr/>
        </p:nvSpPr>
        <p:spPr>
          <a:xfrm>
            <a:off x="9720000" y="287232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Livres-surprises emballés en kraft, trois mots écrits dessus, dans un panier sur le comptoir.</a:t>
            </a:r>
          </a:p>
        </p:txBody>
      </p:sp>
      <p:sp>
        <p:nvSpPr>
          <p:cNvPr id="24" name="TextBox 23"/>
          <p:cNvSpPr txBox="1"/>
          <p:nvPr/>
        </p:nvSpPr>
        <p:spPr>
          <a:xfrm>
            <a:off x="9468000" y="303744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03</a:t>
            </a:r>
          </a:p>
        </p:txBody>
      </p:sp>
      <p:sp>
        <p:nvSpPr>
          <p:cNvPr id="25" name="TextBox 24"/>
          <p:cNvSpPr txBox="1"/>
          <p:nvPr/>
        </p:nvSpPr>
        <p:spPr>
          <a:xfrm>
            <a:off x="9720000" y="303744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Réglette en iroko des coups de cœur des lecteurs, fiches manuscrites, sur le mur est derrière l'accueil, à hauteur d'yeux.</a:t>
            </a:r>
          </a:p>
        </p:txBody>
      </p:sp>
      <p:sp>
        <p:nvSpPr>
          <p:cNvPr id="26" name="TextBox 25"/>
          <p:cNvSpPr txBox="1"/>
          <p:nvPr/>
        </p:nvSpPr>
        <p:spPr>
          <a:xfrm>
            <a:off x="9468000" y="320256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04</a:t>
            </a:r>
          </a:p>
        </p:txBody>
      </p:sp>
      <p:sp>
        <p:nvSpPr>
          <p:cNvPr id="27" name="TextBox 26"/>
          <p:cNvSpPr txBox="1"/>
          <p:nvPr/>
        </p:nvSpPr>
        <p:spPr>
          <a:xfrm>
            <a:off x="9720000" y="3202560"/>
            <a:ext cx="5040000" cy="297840"/>
          </a:xfrm>
          <a:prstGeom prst="rect">
            <a:avLst/>
          </a:prstGeom>
          <a:noFill/>
        </p:spPr>
        <p:txBody>
          <a:bodyPr wrap="square" lIns="0" rIns="0" tIns="0" bIns="0" anchor="t">
            <a:spAutoFit/>
          </a:bodyPr>
          <a:lstStyle/>
          <a:p>
            <a:pPr algn="l">
              <a:lnSpc>
                <a:spcPts val="960"/>
              </a:lnSpc>
            </a:pPr>
            <a:r>
              <a:rPr sz="720">
                <a:solidFill>
                  <a:srgbClr val="4A4A4A"/>
                </a:solidFill>
                <a:latin typeface="Archivo"/>
              </a:rPr>
              <a:t>Vitrine du coin lecture : assise sur le podium V05 sous l'arche, plaid indigo et terre cuite, lampe de lecture, pile du coup de cœur du mois tournée vers la rue.</a:t>
            </a:r>
          </a:p>
        </p:txBody>
      </p:sp>
      <p:sp>
        <p:nvSpPr>
          <p:cNvPr id="28" name="TextBox 27"/>
          <p:cNvSpPr txBox="1"/>
          <p:nvPr/>
        </p:nvSpPr>
        <p:spPr>
          <a:xfrm>
            <a:off x="9468000" y="34896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05</a:t>
            </a:r>
          </a:p>
        </p:txBody>
      </p:sp>
      <p:sp>
        <p:nvSpPr>
          <p:cNvPr id="29" name="TextBox 28"/>
          <p:cNvSpPr txBox="1"/>
          <p:nvPr/>
        </p:nvSpPr>
        <p:spPr>
          <a:xfrm>
            <a:off x="9720000" y="3489600"/>
            <a:ext cx="5040000" cy="29784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Terrasse le soir : guirlande 2700 K sous la pergola V4, jardinières de la façade plantées de ficus lyrata et de strelitzia, pas de banquettes.</a:t>
            </a:r>
          </a:p>
        </p:txBody>
      </p:sp>
      <p:sp>
        <p:nvSpPr>
          <p:cNvPr id="30" name="TextBox 29"/>
          <p:cNvSpPr txBox="1"/>
          <p:nvPr/>
        </p:nvSpPr>
        <p:spPr>
          <a:xfrm>
            <a:off x="9468000" y="388464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CADRE</a:t>
            </a:r>
          </a:p>
        </p:txBody>
      </p:sp>
      <p:sp>
        <p:nvSpPr>
          <p:cNvPr id="31" name="TextBox 30"/>
          <p:cNvSpPr txBox="1"/>
          <p:nvPr/>
        </p:nvSpPr>
        <p:spPr>
          <a:xfrm>
            <a:off x="9468000" y="407184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Du décor et du petit mobilier, sans toucher aux murs ni aux baies de la V4. La guirlande se branche sur le circuit vitrine et seuil, déjà sur horloge astronomique. Coût faible.</a:t>
            </a:r>
          </a:p>
        </p:txBody>
      </p:sp>
      <p:cxnSp>
        <p:nvCxnSpPr>
          <p:cNvPr id="32" name="Connector 31"/>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34" name="TextBox 33"/>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35" name="TextBox 34"/>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36" name="TextBox 35"/>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37" name="TextBox 36"/>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38" name="TextBox 37"/>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18 · G3 Les 5 touches sur le plan</a:t>
            </a:r>
          </a:p>
        </p:txBody>
      </p:sp>
      <p:sp>
        <p:nvSpPr>
          <p:cNvPr id="39" name="TextBox 38"/>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40" name="TextBox 39"/>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41" name="TextBox 40"/>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42" name="TextBox 41"/>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43" name="TextBox 42"/>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44" name="TextBox 43"/>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F</a:t>
            </a:r>
          </a:p>
        </p:txBody>
      </p:sp>
      <p:sp>
        <p:nvSpPr>
          <p:cNvPr id="45" name="TextBox 44"/>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46" name="TextBox 45"/>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18 · ESQ V5 · Octobre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1_plan_electricite_courants_forts.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2_plan_courants_faibles_eclairage.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3_plan_AEP_EU_EV.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4_details_techniques.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5_schema_unifilaire_bilan.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4000" y="504000"/>
            <a:ext cx="2016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ÉLÉMENT</a:t>
            </a:r>
          </a:p>
        </p:txBody>
      </p:sp>
      <p:sp>
        <p:nvSpPr>
          <p:cNvPr id="3" name="TextBox 2"/>
          <p:cNvSpPr txBox="1"/>
          <p:nvPr/>
        </p:nvSpPr>
        <p:spPr>
          <a:xfrm>
            <a:off x="2682000" y="504000"/>
            <a:ext cx="864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D.A</a:t>
            </a:r>
          </a:p>
        </p:txBody>
      </p:sp>
      <p:sp>
        <p:nvSpPr>
          <p:cNvPr id="4" name="TextBox 3"/>
          <p:cNvSpPr txBox="1"/>
          <p:nvPr/>
        </p:nvSpPr>
        <p:spPr>
          <a:xfrm>
            <a:off x="3708000" y="504000"/>
            <a:ext cx="2304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MAQUETTE IFC V5</a:t>
            </a:r>
          </a:p>
        </p:txBody>
      </p:sp>
      <p:sp>
        <p:nvSpPr>
          <p:cNvPr id="5" name="TextBox 4"/>
          <p:cNvSpPr txBox="1"/>
          <p:nvPr/>
        </p:nvSpPr>
        <p:spPr>
          <a:xfrm>
            <a:off x="6174000" y="504000"/>
            <a:ext cx="1512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PLANS</a:t>
            </a:r>
          </a:p>
        </p:txBody>
      </p:sp>
      <p:sp>
        <p:nvSpPr>
          <p:cNvPr id="6" name="TextBox 5"/>
          <p:cNvSpPr txBox="1"/>
          <p:nvPr/>
        </p:nvSpPr>
        <p:spPr>
          <a:xfrm>
            <a:off x="7848000" y="504000"/>
            <a:ext cx="756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RENDUS</a:t>
            </a:r>
          </a:p>
        </p:txBody>
      </p:sp>
      <p:cxnSp>
        <p:nvCxnSpPr>
          <p:cNvPr id="7" name="Connector 6"/>
          <p:cNvCxnSpPr/>
          <p:nvPr/>
        </p:nvCxnSpPr>
        <p:spPr>
          <a:xfrm>
            <a:off x="504000" y="684000"/>
            <a:ext cx="8172000" cy="0"/>
          </a:xfrm>
          <a:prstGeom prst="line">
            <a:avLst/>
          </a:prstGeom>
          <a:ln w="5080">
            <a:solidFill>
              <a:srgbClr val="4A4A4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4000" y="763200"/>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Devanture : 4 baies V4, vitrine en arche, portail terre cuite, claustra Adinkra</a:t>
            </a:r>
          </a:p>
        </p:txBody>
      </p:sp>
      <p:sp>
        <p:nvSpPr>
          <p:cNvPr id="9" name="TextBox 8"/>
          <p:cNvSpPr txBox="1"/>
          <p:nvPr/>
        </p:nvSpPr>
        <p:spPr>
          <a:xfrm>
            <a:off x="2682000" y="763200"/>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10" name="TextBox 9"/>
          <p:cNvSpPr txBox="1"/>
          <p:nvPr/>
        </p:nvSpPr>
        <p:spPr>
          <a:xfrm>
            <a:off x="3708000" y="763200"/>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IfcWindow, IfcDoor, IfcMember dans les baies V4</a:t>
            </a:r>
          </a:p>
        </p:txBody>
      </p:sp>
      <p:sp>
        <p:nvSpPr>
          <p:cNvPr id="11" name="TextBox 10"/>
          <p:cNvSpPr txBox="1"/>
          <p:nvPr/>
        </p:nvSpPr>
        <p:spPr>
          <a:xfrm>
            <a:off x="6174000" y="763200"/>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A04</a:t>
            </a:r>
          </a:p>
        </p:txBody>
      </p:sp>
      <p:sp>
        <p:nvSpPr>
          <p:cNvPr id="12" name="TextBox 11"/>
          <p:cNvSpPr txBox="1"/>
          <p:nvPr/>
        </p:nvSpPr>
        <p:spPr>
          <a:xfrm>
            <a:off x="7848000" y="763200"/>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R1</a:t>
            </a:r>
          </a:p>
        </p:txBody>
      </p:sp>
      <p:cxnSp>
        <p:nvCxnSpPr>
          <p:cNvPr id="13" name="Connector 12"/>
          <p:cNvCxnSpPr/>
          <p:nvPr/>
        </p:nvCxnSpPr>
        <p:spPr>
          <a:xfrm>
            <a:off x="504000" y="1125600"/>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4000" y="1197600"/>
            <a:ext cx="201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Arbre à livres et oculus indigo Ø 2,80</a:t>
            </a:r>
          </a:p>
        </p:txBody>
      </p:sp>
      <p:sp>
        <p:nvSpPr>
          <p:cNvPr id="15" name="TextBox 14"/>
          <p:cNvSpPr txBox="1"/>
          <p:nvPr/>
        </p:nvSpPr>
        <p:spPr>
          <a:xfrm>
            <a:off x="2682000" y="1197600"/>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16" name="TextBox 15"/>
          <p:cNvSpPr txBox="1"/>
          <p:nvPr/>
        </p:nvSpPr>
        <p:spPr>
          <a:xfrm>
            <a:off x="3708000" y="1197600"/>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IfcFurniture, IfcCovering, anneau IfcLightFixture</a:t>
            </a:r>
          </a:p>
        </p:txBody>
      </p:sp>
      <p:sp>
        <p:nvSpPr>
          <p:cNvPr id="17" name="TextBox 16"/>
          <p:cNvSpPr txBox="1"/>
          <p:nvPr/>
        </p:nvSpPr>
        <p:spPr>
          <a:xfrm>
            <a:off x="6174000" y="1197600"/>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A02, A03</a:t>
            </a:r>
          </a:p>
        </p:txBody>
      </p:sp>
      <p:sp>
        <p:nvSpPr>
          <p:cNvPr id="18" name="TextBox 17"/>
          <p:cNvSpPr txBox="1"/>
          <p:nvPr/>
        </p:nvSpPr>
        <p:spPr>
          <a:xfrm>
            <a:off x="7848000" y="1197600"/>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R2, R3</a:t>
            </a:r>
          </a:p>
        </p:txBody>
      </p:sp>
      <p:cxnSp>
        <p:nvCxnSpPr>
          <p:cNvPr id="19" name="Connector 18"/>
          <p:cNvCxnSpPr/>
          <p:nvPr/>
        </p:nvCxnSpPr>
        <p:spPr>
          <a:xfrm>
            <a:off x="504000" y="14075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04000" y="14795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Matériaux : terrazzo, iroko, enduit terre, chaux, acier noir</a:t>
            </a:r>
          </a:p>
        </p:txBody>
      </p:sp>
      <p:sp>
        <p:nvSpPr>
          <p:cNvPr id="21" name="TextBox 20"/>
          <p:cNvSpPr txBox="1"/>
          <p:nvPr/>
        </p:nvSpPr>
        <p:spPr>
          <a:xfrm>
            <a:off x="2682000" y="1479599"/>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22" name="TextBox 21"/>
          <p:cNvSpPr txBox="1"/>
          <p:nvPr/>
        </p:nvSpPr>
        <p:spPr>
          <a:xfrm>
            <a:off x="3708000" y="14795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IfcMaterial et styles de surface D.A</a:t>
            </a:r>
          </a:p>
        </p:txBody>
      </p:sp>
      <p:sp>
        <p:nvSpPr>
          <p:cNvPr id="23" name="TextBox 22"/>
          <p:cNvSpPr txBox="1"/>
          <p:nvPr/>
        </p:nvSpPr>
        <p:spPr>
          <a:xfrm>
            <a:off x="6174000" y="14795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A05, A06</a:t>
            </a:r>
          </a:p>
        </p:txBody>
      </p:sp>
      <p:sp>
        <p:nvSpPr>
          <p:cNvPr id="24" name="TextBox 23"/>
          <p:cNvSpPr txBox="1"/>
          <p:nvPr/>
        </p:nvSpPr>
        <p:spPr>
          <a:xfrm>
            <a:off x="7848000" y="14795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R1 à R3</a:t>
            </a:r>
          </a:p>
        </p:txBody>
      </p:sp>
      <p:cxnSp>
        <p:nvCxnSpPr>
          <p:cNvPr id="25" name="Connector 24"/>
          <p:cNvCxnSpPr/>
          <p:nvPr/>
        </p:nvCxnSpPr>
        <p:spPr>
          <a:xfrm>
            <a:off x="504000" y="18419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04000" y="1913999"/>
            <a:ext cx="201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Lumière 2700 K</a:t>
            </a:r>
          </a:p>
        </p:txBody>
      </p:sp>
      <p:sp>
        <p:nvSpPr>
          <p:cNvPr id="27" name="TextBox 26"/>
          <p:cNvSpPr txBox="1"/>
          <p:nvPr/>
        </p:nvSpPr>
        <p:spPr>
          <a:xfrm>
            <a:off x="2682000" y="1913999"/>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28" name="TextBox 27"/>
          <p:cNvSpPr txBox="1"/>
          <p:nvPr/>
        </p:nvSpPr>
        <p:spPr>
          <a:xfrm>
            <a:off x="3708000" y="19139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27 IfcLightFixture</a:t>
            </a:r>
          </a:p>
        </p:txBody>
      </p:sp>
      <p:sp>
        <p:nvSpPr>
          <p:cNvPr id="29" name="TextBox 28"/>
          <p:cNvSpPr txBox="1"/>
          <p:nvPr/>
        </p:nvSpPr>
        <p:spPr>
          <a:xfrm>
            <a:off x="6174000" y="19139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A02</a:t>
            </a:r>
          </a:p>
        </p:txBody>
      </p:sp>
      <p:sp>
        <p:nvSpPr>
          <p:cNvPr id="30" name="TextBox 29"/>
          <p:cNvSpPr txBox="1"/>
          <p:nvPr/>
        </p:nvSpPr>
        <p:spPr>
          <a:xfrm>
            <a:off x="7848000" y="19139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R2, R3</a:t>
            </a:r>
          </a:p>
        </p:txBody>
      </p:sp>
      <p:cxnSp>
        <p:nvCxnSpPr>
          <p:cNvPr id="31" name="Connector 30"/>
          <p:cNvCxnSpPr/>
          <p:nvPr/>
        </p:nvCxnSpPr>
        <p:spPr>
          <a:xfrm>
            <a:off x="504000" y="21239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04000" y="21959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Programme du 14/10 : un seul WC, salle de réunion</a:t>
            </a:r>
          </a:p>
        </p:txBody>
      </p:sp>
      <p:sp>
        <p:nvSpPr>
          <p:cNvPr id="33" name="TextBox 32"/>
          <p:cNvSpPr txBox="1"/>
          <p:nvPr/>
        </p:nvSpPr>
        <p:spPr>
          <a:xfrm>
            <a:off x="2682000" y="21959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34" name="TextBox 33"/>
          <p:cNvSpPr txBox="1"/>
          <p:nvPr/>
        </p:nvSpPr>
        <p:spPr>
          <a:xfrm>
            <a:off x="3708000" y="21959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IfcSpace 03 et 07</a:t>
            </a:r>
          </a:p>
        </p:txBody>
      </p:sp>
      <p:sp>
        <p:nvSpPr>
          <p:cNvPr id="35" name="TextBox 34"/>
          <p:cNvSpPr txBox="1"/>
          <p:nvPr/>
        </p:nvSpPr>
        <p:spPr>
          <a:xfrm>
            <a:off x="6174000" y="21959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a:t>
            </a:r>
          </a:p>
        </p:txBody>
      </p:sp>
      <p:sp>
        <p:nvSpPr>
          <p:cNvPr id="36" name="TextBox 35"/>
          <p:cNvSpPr txBox="1"/>
          <p:nvPr/>
        </p:nvSpPr>
        <p:spPr>
          <a:xfrm>
            <a:off x="7848000" y="21959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37" name="Connector 36"/>
          <p:cNvCxnSpPr/>
          <p:nvPr/>
        </p:nvCxnSpPr>
        <p:spPr>
          <a:xfrm>
            <a:off x="504000" y="25583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04000" y="26303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Climatisation : 2 splits 9 000 BTU/h sur murs pleins, hors tables</a:t>
            </a:r>
          </a:p>
        </p:txBody>
      </p:sp>
      <p:sp>
        <p:nvSpPr>
          <p:cNvPr id="39" name="TextBox 38"/>
          <p:cNvSpPr txBox="1"/>
          <p:nvPr/>
        </p:nvSpPr>
        <p:spPr>
          <a:xfrm>
            <a:off x="2682000" y="2630399"/>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40" name="TextBox 39"/>
          <p:cNvSpPr txBox="1"/>
          <p:nvPr/>
        </p:nvSpPr>
        <p:spPr>
          <a:xfrm>
            <a:off x="3708000" y="26303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2 IfcUnitaryEquipment, 2 mini-pompes</a:t>
            </a:r>
          </a:p>
        </p:txBody>
      </p:sp>
      <p:sp>
        <p:nvSpPr>
          <p:cNvPr id="41" name="TextBox 40"/>
          <p:cNvSpPr txBox="1"/>
          <p:nvPr/>
        </p:nvSpPr>
        <p:spPr>
          <a:xfrm>
            <a:off x="6174000" y="26303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A02</a:t>
            </a:r>
          </a:p>
        </p:txBody>
      </p:sp>
      <p:sp>
        <p:nvSpPr>
          <p:cNvPr id="42" name="TextBox 41"/>
          <p:cNvSpPr txBox="1"/>
          <p:nvPr/>
        </p:nvSpPr>
        <p:spPr>
          <a:xfrm>
            <a:off x="7848000" y="26303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R2</a:t>
            </a:r>
          </a:p>
        </p:txBody>
      </p:sp>
      <p:cxnSp>
        <p:nvCxnSpPr>
          <p:cNvPr id="43" name="Connector 42"/>
          <p:cNvCxnSpPr/>
          <p:nvPr/>
        </p:nvCxnSpPr>
        <p:spPr>
          <a:xfrm>
            <a:off x="504000" y="29927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04000" y="30647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Tableau divisionnaire, 1,00 m dégagé, loin de l'eau</a:t>
            </a:r>
          </a:p>
        </p:txBody>
      </p:sp>
      <p:sp>
        <p:nvSpPr>
          <p:cNvPr id="45" name="TextBox 44"/>
          <p:cNvSpPr txBox="1"/>
          <p:nvPr/>
        </p:nvSpPr>
        <p:spPr>
          <a:xfrm>
            <a:off x="2682000" y="30647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46" name="TextBox 45"/>
          <p:cNvSpPr txBox="1"/>
          <p:nvPr/>
        </p:nvSpPr>
        <p:spPr>
          <a:xfrm>
            <a:off x="3708000" y="30647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IfcElectricDistributionBoard</a:t>
            </a:r>
          </a:p>
        </p:txBody>
      </p:sp>
      <p:sp>
        <p:nvSpPr>
          <p:cNvPr id="47" name="TextBox 46"/>
          <p:cNvSpPr txBox="1"/>
          <p:nvPr/>
        </p:nvSpPr>
        <p:spPr>
          <a:xfrm>
            <a:off x="6174000" y="30647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A02</a:t>
            </a:r>
          </a:p>
        </p:txBody>
      </p:sp>
      <p:sp>
        <p:nvSpPr>
          <p:cNvPr id="48" name="TextBox 47"/>
          <p:cNvSpPr txBox="1"/>
          <p:nvPr/>
        </p:nvSpPr>
        <p:spPr>
          <a:xfrm>
            <a:off x="7848000" y="30647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49" name="Connector 48"/>
          <p:cNvCxnSpPr/>
          <p:nvPr/>
        </p:nvCxnSpPr>
        <p:spPr>
          <a:xfrm>
            <a:off x="504000" y="34271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04000" y="3499199"/>
            <a:ext cx="201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Placard technique 0,60 × 0,40, porte pleine</a:t>
            </a:r>
          </a:p>
        </p:txBody>
      </p:sp>
      <p:sp>
        <p:nvSpPr>
          <p:cNvPr id="51" name="TextBox 50"/>
          <p:cNvSpPr txBox="1"/>
          <p:nvPr/>
        </p:nvSpPr>
        <p:spPr>
          <a:xfrm>
            <a:off x="2682000" y="34991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52" name="TextBox 51"/>
          <p:cNvSpPr txBox="1"/>
          <p:nvPr/>
        </p:nvSpPr>
        <p:spPr>
          <a:xfrm>
            <a:off x="3708000" y="34991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IfcSpace 05 et IfcDoor</a:t>
            </a:r>
          </a:p>
        </p:txBody>
      </p:sp>
      <p:sp>
        <p:nvSpPr>
          <p:cNvPr id="53" name="TextBox 52"/>
          <p:cNvSpPr txBox="1"/>
          <p:nvPr/>
        </p:nvSpPr>
        <p:spPr>
          <a:xfrm>
            <a:off x="6174000" y="34991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A02</a:t>
            </a:r>
          </a:p>
        </p:txBody>
      </p:sp>
      <p:sp>
        <p:nvSpPr>
          <p:cNvPr id="54" name="TextBox 53"/>
          <p:cNvSpPr txBox="1"/>
          <p:nvPr/>
        </p:nvSpPr>
        <p:spPr>
          <a:xfrm>
            <a:off x="7848000" y="34991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55" name="Connector 54"/>
          <p:cNvCxnSpPr/>
          <p:nvPr/>
        </p:nvCxnSpPr>
        <p:spPr>
          <a:xfrm>
            <a:off x="504000" y="37091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4000" y="37811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Descentes EU/EV de l'immeuble en coffrage 0,30 × 0,30</a:t>
            </a:r>
          </a:p>
        </p:txBody>
      </p:sp>
      <p:sp>
        <p:nvSpPr>
          <p:cNvPr id="57" name="TextBox 56"/>
          <p:cNvSpPr txBox="1"/>
          <p:nvPr/>
        </p:nvSpPr>
        <p:spPr>
          <a:xfrm>
            <a:off x="2682000" y="37811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58" name="TextBox 57"/>
          <p:cNvSpPr txBox="1"/>
          <p:nvPr/>
        </p:nvSpPr>
        <p:spPr>
          <a:xfrm>
            <a:off x="3708000" y="37811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Coffrages « à relever sur site »</a:t>
            </a:r>
          </a:p>
        </p:txBody>
      </p:sp>
      <p:sp>
        <p:nvSpPr>
          <p:cNvPr id="59" name="TextBox 58"/>
          <p:cNvSpPr txBox="1"/>
          <p:nvPr/>
        </p:nvSpPr>
        <p:spPr>
          <a:xfrm>
            <a:off x="6174000" y="37811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A02</a:t>
            </a:r>
          </a:p>
        </p:txBody>
      </p:sp>
      <p:sp>
        <p:nvSpPr>
          <p:cNvPr id="60" name="TextBox 59"/>
          <p:cNvSpPr txBox="1"/>
          <p:nvPr/>
        </p:nvSpPr>
        <p:spPr>
          <a:xfrm>
            <a:off x="7848000" y="37811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61" name="Connector 60"/>
          <p:cNvCxnSpPr/>
          <p:nvPr/>
        </p:nvCxnSpPr>
        <p:spPr>
          <a:xfrm>
            <a:off x="504000" y="41435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04000" y="42155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Existant V4 : murs, poteau, ouvertures, emprise 6,78 × 7,68</a:t>
            </a:r>
          </a:p>
        </p:txBody>
      </p:sp>
      <p:sp>
        <p:nvSpPr>
          <p:cNvPr id="63" name="TextBox 62"/>
          <p:cNvSpPr txBox="1"/>
          <p:nvPr/>
        </p:nvSpPr>
        <p:spPr>
          <a:xfrm>
            <a:off x="2682000" y="42155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64" name="TextBox 63"/>
          <p:cNvSpPr txBox="1"/>
          <p:nvPr/>
        </p:nvSpPr>
        <p:spPr>
          <a:xfrm>
            <a:off x="3708000" y="42155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141 / 141 identiques, 0 pénétration</a:t>
            </a:r>
          </a:p>
        </p:txBody>
      </p:sp>
      <p:sp>
        <p:nvSpPr>
          <p:cNvPr id="65" name="TextBox 64"/>
          <p:cNvSpPr txBox="1"/>
          <p:nvPr/>
        </p:nvSpPr>
        <p:spPr>
          <a:xfrm>
            <a:off x="6174000" y="42155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toutes</a:t>
            </a:r>
          </a:p>
        </p:txBody>
      </p:sp>
      <p:sp>
        <p:nvSpPr>
          <p:cNvPr id="66" name="TextBox 65"/>
          <p:cNvSpPr txBox="1"/>
          <p:nvPr/>
        </p:nvSpPr>
        <p:spPr>
          <a:xfrm>
            <a:off x="7848000" y="42155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toutes</a:t>
            </a:r>
          </a:p>
        </p:txBody>
      </p:sp>
      <p:cxnSp>
        <p:nvCxnSpPr>
          <p:cNvPr id="67" name="Connector 66"/>
          <p:cNvCxnSpPr/>
          <p:nvPr/>
        </p:nvCxnSpPr>
        <p:spPr>
          <a:xfrm>
            <a:off x="504000" y="45779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04000" y="46499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Côté Gen Z : tampon, livres-surprises, réglette, vitrine, terrasse le soir</a:t>
            </a:r>
          </a:p>
        </p:txBody>
      </p:sp>
      <p:sp>
        <p:nvSpPr>
          <p:cNvPr id="69" name="TextBox 68"/>
          <p:cNvSpPr txBox="1"/>
          <p:nvPr/>
        </p:nvSpPr>
        <p:spPr>
          <a:xfrm>
            <a:off x="2682000" y="46499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70" name="TextBox 69"/>
          <p:cNvSpPr txBox="1"/>
          <p:nvPr/>
        </p:nvSpPr>
        <p:spPr>
          <a:xfrm>
            <a:off x="3708000" y="4649999"/>
            <a:ext cx="230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décor et petit mobilier, non modélisés, IFC inchangé</a:t>
            </a:r>
          </a:p>
        </p:txBody>
      </p:sp>
      <p:sp>
        <p:nvSpPr>
          <p:cNvPr id="71" name="TextBox 70"/>
          <p:cNvSpPr txBox="1"/>
          <p:nvPr/>
        </p:nvSpPr>
        <p:spPr>
          <a:xfrm>
            <a:off x="6174000" y="46499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(extrait p. 18)</a:t>
            </a:r>
          </a:p>
        </p:txBody>
      </p:sp>
      <p:sp>
        <p:nvSpPr>
          <p:cNvPr id="72" name="TextBox 71"/>
          <p:cNvSpPr txBox="1"/>
          <p:nvPr/>
        </p:nvSpPr>
        <p:spPr>
          <a:xfrm>
            <a:off x="7848000" y="46499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G1, G2</a:t>
            </a:r>
          </a:p>
        </p:txBody>
      </p:sp>
      <p:cxnSp>
        <p:nvCxnSpPr>
          <p:cNvPr id="73" name="Connector 72"/>
          <p:cNvCxnSpPr/>
          <p:nvPr/>
        </p:nvCxnSpPr>
        <p:spPr>
          <a:xfrm>
            <a:off x="504000" y="50123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04000" y="50843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Lots techniques : électricité, CFA, AEP, EU, EV, détails</a:t>
            </a:r>
          </a:p>
        </p:txBody>
      </p:sp>
      <p:sp>
        <p:nvSpPr>
          <p:cNvPr id="75" name="TextBox 74"/>
          <p:cNvSpPr txBox="1"/>
          <p:nvPr/>
        </p:nvSpPr>
        <p:spPr>
          <a:xfrm>
            <a:off x="2682000" y="50843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76" name="TextBox 75"/>
          <p:cNvSpPr txBox="1"/>
          <p:nvPr/>
        </p:nvSpPr>
        <p:spPr>
          <a:xfrm>
            <a:off x="3708000" y="5084399"/>
            <a:ext cx="230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DECIMO_ESQ_V5_tech.ifc : 141/141 V4, 231/231 V5, 0 pénétration</a:t>
            </a:r>
          </a:p>
        </p:txBody>
      </p:sp>
      <p:sp>
        <p:nvSpPr>
          <p:cNvPr id="77" name="TextBox 76"/>
          <p:cNvSpPr txBox="1"/>
          <p:nvPr/>
        </p:nvSpPr>
        <p:spPr>
          <a:xfrm>
            <a:off x="6174000" y="50843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T01 à T05</a:t>
            </a:r>
          </a:p>
        </p:txBody>
      </p:sp>
      <p:sp>
        <p:nvSpPr>
          <p:cNvPr id="78" name="TextBox 77"/>
          <p:cNvSpPr txBox="1"/>
          <p:nvPr/>
        </p:nvSpPr>
        <p:spPr>
          <a:xfrm>
            <a:off x="7848000" y="50843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79" name="Connector 78"/>
          <p:cNvCxnSpPr/>
          <p:nvPr/>
        </p:nvCxnSpPr>
        <p:spPr>
          <a:xfrm>
            <a:off x="504000" y="54467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504000" y="5698799"/>
            <a:ext cx="8172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Points ouverts, à lever en APS</a:t>
            </a:r>
          </a:p>
        </p:txBody>
      </p:sp>
      <p:sp>
        <p:nvSpPr>
          <p:cNvPr id="81" name="TextBox 80"/>
          <p:cNvSpPr txBox="1"/>
          <p:nvPr/>
        </p:nvSpPr>
        <p:spPr>
          <a:xfrm>
            <a:off x="504000" y="59867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01</a:t>
            </a:r>
          </a:p>
        </p:txBody>
      </p:sp>
      <p:sp>
        <p:nvSpPr>
          <p:cNvPr id="82" name="TextBox 81"/>
          <p:cNvSpPr txBox="1"/>
          <p:nvPr/>
        </p:nvSpPr>
        <p:spPr>
          <a:xfrm>
            <a:off x="756000" y="59867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Relevé de l'existant : dalle haute (épaisseur 0,20 et sous-face +3,30 en hypothèse), descentes EU/EV, arrivée électrique de l'immeuble.</a:t>
            </a:r>
          </a:p>
        </p:txBody>
      </p:sp>
      <p:sp>
        <p:nvSpPr>
          <p:cNvPr id="83" name="TextBox 82"/>
          <p:cNvSpPr txBox="1"/>
          <p:nvPr/>
        </p:nvSpPr>
        <p:spPr>
          <a:xfrm>
            <a:off x="504000" y="63635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02</a:t>
            </a:r>
          </a:p>
        </p:txBody>
      </p:sp>
      <p:sp>
        <p:nvSpPr>
          <p:cNvPr id="84" name="TextBox 83"/>
          <p:cNvSpPr txBox="1"/>
          <p:nvPr/>
        </p:nvSpPr>
        <p:spPr>
          <a:xfrm>
            <a:off x="756000" y="63635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BET : statut porteur des refends en agglos, fixations non traversantes sous dalle, charge et ancrage de l'arbre à livres et de l'oculus.</a:t>
            </a:r>
          </a:p>
        </p:txBody>
      </p:sp>
      <p:sp>
        <p:nvSpPr>
          <p:cNvPr id="85" name="TextBox 84"/>
          <p:cNvSpPr txBox="1"/>
          <p:nvPr/>
        </p:nvSpPr>
        <p:spPr>
          <a:xfrm>
            <a:off x="504000" y="67403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03</a:t>
            </a:r>
          </a:p>
        </p:txBody>
      </p:sp>
      <p:sp>
        <p:nvSpPr>
          <p:cNvPr id="86" name="TextBox 85"/>
          <p:cNvSpPr txBox="1"/>
          <p:nvPr/>
        </p:nvSpPr>
        <p:spPr>
          <a:xfrm>
            <a:off x="756000" y="67403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Copropriété : sortie des liaisons de clim et des unités extérieures en courette, adaptation de l'imposte de la baie arrière.</a:t>
            </a:r>
          </a:p>
        </p:txBody>
      </p:sp>
      <p:sp>
        <p:nvSpPr>
          <p:cNvPr id="87" name="TextBox 86"/>
          <p:cNvSpPr txBox="1"/>
          <p:nvPr/>
        </p:nvSpPr>
        <p:spPr>
          <a:xfrm>
            <a:off x="504000" y="71171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04</a:t>
            </a:r>
          </a:p>
        </p:txBody>
      </p:sp>
      <p:sp>
        <p:nvSpPr>
          <p:cNvPr id="88" name="TextBox 87"/>
          <p:cNvSpPr txBox="1"/>
          <p:nvPr/>
        </p:nvSpPr>
        <p:spPr>
          <a:xfrm>
            <a:off x="756000" y="71171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MOA : maintien des claustras V4 devant la vitrine de la baie A, fabrication des inserts Adinkra avec l'artisan.</a:t>
            </a:r>
          </a:p>
        </p:txBody>
      </p:sp>
      <p:sp>
        <p:nvSpPr>
          <p:cNvPr id="89" name="TextBox 88"/>
          <p:cNvSpPr txBox="1"/>
          <p:nvPr/>
        </p:nvSpPr>
        <p:spPr>
          <a:xfrm>
            <a:off x="4680000" y="59867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05</a:t>
            </a:r>
          </a:p>
        </p:txBody>
      </p:sp>
      <p:sp>
        <p:nvSpPr>
          <p:cNvPr id="90" name="TextBox 89"/>
          <p:cNvSpPr txBox="1"/>
          <p:nvPr/>
        </p:nvSpPr>
        <p:spPr>
          <a:xfrm>
            <a:off x="4932000" y="59867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APS : reprise des rails et suspensions V4 qui tombent dans le plénum, condensats relevés par mini-pompes faute de pente gravitaire.</a:t>
            </a:r>
          </a:p>
        </p:txBody>
      </p:sp>
      <p:sp>
        <p:nvSpPr>
          <p:cNvPr id="91" name="TextBox 90"/>
          <p:cNvSpPr txBox="1"/>
          <p:nvPr/>
        </p:nvSpPr>
        <p:spPr>
          <a:xfrm>
            <a:off x="4680000" y="63635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06</a:t>
            </a:r>
          </a:p>
        </p:txBody>
      </p:sp>
      <p:sp>
        <p:nvSpPr>
          <p:cNvPr id="92" name="TextBox 91"/>
          <p:cNvSpPr txBox="1"/>
          <p:nvPr/>
        </p:nvSpPr>
        <p:spPr>
          <a:xfrm>
            <a:off x="4932000" y="6363599"/>
            <a:ext cx="374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Accessibilité PMR du WC et réaction au feu des éléments en bois à vérifier.</a:t>
            </a:r>
          </a:p>
        </p:txBody>
      </p:sp>
      <p:sp>
        <p:nvSpPr>
          <p:cNvPr id="93" name="TextBox 92"/>
          <p:cNvSpPr txBox="1"/>
          <p:nvPr/>
        </p:nvSpPr>
        <p:spPr>
          <a:xfrm>
            <a:off x="4680000" y="65879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07</a:t>
            </a:r>
          </a:p>
        </p:txBody>
      </p:sp>
      <p:sp>
        <p:nvSpPr>
          <p:cNvPr id="94" name="TextBox 93"/>
          <p:cNvSpPr txBox="1"/>
          <p:nvPr/>
        </p:nvSpPr>
        <p:spPr>
          <a:xfrm>
            <a:off x="4932000" y="6587999"/>
            <a:ext cx="3744000" cy="6635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Lots techniques (note d'Ahoua) : arrivée électrique de l'immeuble, position réelle des descentes EU/EV et de la colonne AEP, ventilation du WC aveugle, fourreau R6 dans la cloison placo V4 à valider ou remplacer par une goulotte, abonnement 6 kVA à confirmer.</a:t>
            </a:r>
          </a:p>
        </p:txBody>
      </p:sp>
      <p:sp>
        <p:nvSpPr>
          <p:cNvPr id="95" name="TextBox 94"/>
          <p:cNvSpPr txBox="1"/>
          <p:nvPr/>
        </p:nvSpPr>
        <p:spPr>
          <a:xfrm>
            <a:off x="4680000" y="72695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08</a:t>
            </a:r>
          </a:p>
        </p:txBody>
      </p:sp>
      <p:sp>
        <p:nvSpPr>
          <p:cNvPr id="96" name="TextBox 95"/>
          <p:cNvSpPr txBox="1"/>
          <p:nvPr/>
        </p:nvSpPr>
        <p:spPr>
          <a:xfrm>
            <a:off x="4932000" y="72695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Rendu R1 : jardinières de la terrasse rendues en banquettes, à reprendre pour coller à la maquette.</a:t>
            </a:r>
          </a:p>
        </p:txBody>
      </p:sp>
      <p:cxnSp>
        <p:nvCxnSpPr>
          <p:cNvPr id="97" name="Connector 96"/>
          <p:cNvCxnSpPr/>
          <p:nvPr/>
        </p:nvCxnSpPr>
        <p:spPr>
          <a:xfrm>
            <a:off x="504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04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0 erreur</a:t>
            </a:r>
          </a:p>
        </p:txBody>
      </p:sp>
      <p:sp>
        <p:nvSpPr>
          <p:cNvPr id="99" name="TextBox 98"/>
          <p:cNvSpPr txBox="1"/>
          <p:nvPr/>
        </p:nvSpPr>
        <p:spPr>
          <a:xfrm>
            <a:off x="504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validation IFC4, natif et variante Revit</a:t>
            </a:r>
          </a:p>
        </p:txBody>
      </p:sp>
      <p:cxnSp>
        <p:nvCxnSpPr>
          <p:cNvPr id="100" name="Connector 99"/>
          <p:cNvCxnSpPr/>
          <p:nvPr/>
        </p:nvCxnSpPr>
        <p:spPr>
          <a:xfrm>
            <a:off x="2592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2592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141 / 141</a:t>
            </a:r>
          </a:p>
        </p:txBody>
      </p:sp>
      <p:sp>
        <p:nvSpPr>
          <p:cNvPr id="102" name="TextBox 101"/>
          <p:cNvSpPr txBox="1"/>
          <p:nvPr/>
        </p:nvSpPr>
        <p:spPr>
          <a:xfrm>
            <a:off x="2592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produits V4 identiques en V5</a:t>
            </a:r>
          </a:p>
        </p:txBody>
      </p:sp>
      <p:cxnSp>
        <p:nvCxnSpPr>
          <p:cNvPr id="103" name="Connector 102"/>
          <p:cNvCxnSpPr/>
          <p:nvPr/>
        </p:nvCxnSpPr>
        <p:spPr>
          <a:xfrm>
            <a:off x="4680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4680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0</a:t>
            </a:r>
          </a:p>
        </p:txBody>
      </p:sp>
      <p:sp>
        <p:nvSpPr>
          <p:cNvPr id="105" name="TextBox 104"/>
          <p:cNvSpPr txBox="1"/>
          <p:nvPr/>
        </p:nvSpPr>
        <p:spPr>
          <a:xfrm>
            <a:off x="4680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pénétration d'un ajout dans la structure</a:t>
            </a:r>
          </a:p>
        </p:txBody>
      </p:sp>
      <p:cxnSp>
        <p:nvCxnSpPr>
          <p:cNvPr id="106" name="Connector 105"/>
          <p:cNvCxnSpPr/>
          <p:nvPr/>
        </p:nvCxnSpPr>
        <p:spPr>
          <a:xfrm>
            <a:off x="6768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6768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8</a:t>
            </a:r>
          </a:p>
        </p:txBody>
      </p:sp>
      <p:sp>
        <p:nvSpPr>
          <p:cNvPr id="108" name="TextBox 107"/>
          <p:cNvSpPr txBox="1"/>
          <p:nvPr/>
        </p:nvSpPr>
        <p:spPr>
          <a:xfrm>
            <a:off x="6768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espaces IfcSpace nommés et métrés</a:t>
            </a:r>
          </a:p>
        </p:txBody>
      </p:sp>
      <p:cxnSp>
        <p:nvCxnSpPr>
          <p:cNvPr id="109" name="Connector 108"/>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110" name="Picture 109" descr="KDemi_v3_A_arche_lockup_mono.png"/>
          <p:cNvPicPr>
            <a:picLocks noChangeAspect="1"/>
          </p:cNvPicPr>
          <p:nvPr/>
        </p:nvPicPr>
        <p:blipFill>
          <a:blip r:embed="rId2"/>
          <a:stretch>
            <a:fillRect/>
          </a:stretch>
        </p:blipFill>
        <p:spPr>
          <a:xfrm>
            <a:off x="9468000" y="432000"/>
            <a:ext cx="1656000" cy="561660"/>
          </a:xfrm>
          <a:prstGeom prst="rect">
            <a:avLst/>
          </a:prstGeom>
        </p:spPr>
      </p:pic>
      <p:sp>
        <p:nvSpPr>
          <p:cNvPr id="111" name="TextBox 110"/>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Cohérence</a:t>
            </a:r>
          </a:p>
        </p:txBody>
      </p:sp>
      <p:sp>
        <p:nvSpPr>
          <p:cNvPr id="112" name="TextBox 111"/>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D.A, maquette, plans et technique</a:t>
            </a:r>
          </a:p>
        </p:txBody>
      </p:sp>
      <p:sp>
        <p:nvSpPr>
          <p:cNvPr id="113" name="TextBox 112"/>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Contrôle croisé du 15 octobre 2026</a:t>
            </a:r>
          </a:p>
        </p:txBody>
      </p:sp>
      <p:cxnSp>
        <p:nvCxnSpPr>
          <p:cNvPr id="114" name="Connector 113"/>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VALIDATIONS</a:t>
            </a:r>
          </a:p>
        </p:txBody>
      </p:sp>
      <p:sp>
        <p:nvSpPr>
          <p:cNvPr id="117" name="TextBox 116"/>
          <p:cNvSpPr txBox="1"/>
          <p:nvPr/>
        </p:nvSpPr>
        <p:spPr>
          <a:xfrm>
            <a:off x="9468000" y="2707200"/>
            <a:ext cx="5292000" cy="6635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IFC4 natif et variante maillée pour Revit : 0 erreur au validateur ifcopenshell 0.9.0, schéma et règles EXPRESS. Contre-vérification indépendante sur main : les 141 produits V4 sont retrouvés par GlobalId, placements et géométries identiques (écart 0), emprise 6,78 × 7,68 m, WC 4350629 et lave-mains 4350630/4350631 conservés.</a:t>
            </a:r>
          </a:p>
        </p:txBody>
      </p:sp>
      <p:sp>
        <p:nvSpPr>
          <p:cNvPr id="118" name="TextBox 117"/>
          <p:cNvSpPr txBox="1"/>
          <p:nvPr/>
        </p:nvSpPr>
        <p:spPr>
          <a:xfrm>
            <a:off x="9468000" y="3478799"/>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LIVRABLES</a:t>
            </a:r>
          </a:p>
        </p:txBody>
      </p:sp>
      <p:sp>
        <p:nvSpPr>
          <p:cNvPr id="119" name="TextBox 118"/>
          <p:cNvSpPr txBox="1"/>
          <p:nvPr/>
        </p:nvSpPr>
        <p:spPr>
          <a:xfrm>
            <a:off x="9468000" y="36660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Maquettes v5/DECIMO_ESQ_V5.ifc, DECIMO_ESQ_V5_tech.ifc et variante maillée pour Revit, planches A01 à A08 et T01 à T05 en PDF, PNG et SVG, note technique, vues de rendu avec leurs caméras, rapports de vérification. Tout est sur la branche main du dépôt jeemake/bibliothequeNandjuiS.Simon.</a:t>
            </a:r>
          </a:p>
        </p:txBody>
      </p:sp>
      <p:sp>
        <p:nvSpPr>
          <p:cNvPr id="120" name="TextBox 119"/>
          <p:cNvSpPr txBox="1"/>
          <p:nvPr/>
        </p:nvSpPr>
        <p:spPr>
          <a:xfrm>
            <a:off x="9468000" y="42852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LECTURE</a:t>
            </a:r>
          </a:p>
        </p:txBody>
      </p:sp>
      <p:sp>
        <p:nvSpPr>
          <p:cNvPr id="121" name="TextBox 120"/>
          <p:cNvSpPr txBox="1"/>
          <p:nvPr/>
        </p:nvSpPr>
        <p:spPr>
          <a:xfrm>
            <a:off x="9468000" y="4472400"/>
            <a:ext cx="529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Les cotes et surfaces sont indicatives au stade de l'esquisse. L'existant V4 reste à relever sur site avant l'APS.</a:t>
            </a:r>
          </a:p>
        </p:txBody>
      </p:sp>
      <p:cxnSp>
        <p:nvCxnSpPr>
          <p:cNvPr id="122" name="Connector 121"/>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124" name="TextBox 123"/>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125" name="TextBox 124"/>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126" name="TextBox 125"/>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127" name="TextBox 126"/>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128" name="TextBox 127"/>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24 · Cohérence et points ouverts</a:t>
            </a:r>
          </a:p>
        </p:txBody>
      </p:sp>
      <p:sp>
        <p:nvSpPr>
          <p:cNvPr id="129" name="TextBox 128"/>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130" name="TextBox 129"/>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131" name="TextBox 130"/>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132" name="TextBox 131"/>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133" name="TextBox 132"/>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134" name="TextBox 133"/>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F</a:t>
            </a:r>
          </a:p>
        </p:txBody>
      </p:sp>
      <p:sp>
        <p:nvSpPr>
          <p:cNvPr id="135" name="TextBox 134"/>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136" name="TextBox 135"/>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24 · ESQ V5 · Octobre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