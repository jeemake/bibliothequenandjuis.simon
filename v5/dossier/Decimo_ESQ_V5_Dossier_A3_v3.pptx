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Lst>
  <p:sldSz cx="15120000" cy="10692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jpg"/><Relationship Id="rId3" Type="http://schemas.openxmlformats.org/officeDocument/2006/relationships/image" Target="../media/image16.jpg"/><Relationship Id="rId4" Type="http://schemas.openxmlformats.org/officeDocument/2006/relationships/image" Target="../media/image17.jpg"/><Relationship Id="rId5"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jpg"/><Relationship Id="rId3" Type="http://schemas.openxmlformats.org/officeDocument/2006/relationships/image" Target="../media/image19.jpg"/><Relationship Id="rId4" Type="http://schemas.openxmlformats.org/officeDocument/2006/relationships/image" Target="../media/image20.jpg"/><Relationship Id="rId5"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jpg"/><Relationship Id="rId3" Type="http://schemas.openxmlformats.org/officeDocument/2006/relationships/image" Target="../media/image22.jpg"/><Relationship Id="rId4" Type="http://schemas.openxmlformats.org/officeDocument/2006/relationships/image" Target="../media/image23.jpg"/><Relationship Id="rId5" Type="http://schemas.openxmlformats.org/officeDocument/2006/relationships/image" Target="../media/image24.jpg"/><Relationship Id="rId6"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over.jpg"/>
          <p:cNvPicPr>
            <a:picLocks noChangeAspect="1"/>
          </p:cNvPicPr>
          <p:nvPr/>
        </p:nvPicPr>
        <p:blipFill>
          <a:blip r:embed="rId2"/>
          <a:stretch>
            <a:fillRect/>
          </a:stretch>
        </p:blipFill>
        <p:spPr>
          <a:xfrm>
            <a:off x="504000" y="504000"/>
            <a:ext cx="8172000" cy="9684000"/>
          </a:xfrm>
          <a:prstGeom prst="rect">
            <a:avLst/>
          </a:prstGeom>
        </p:spPr>
      </p:pic>
      <p:cxnSp>
        <p:nvCxnSpPr>
          <p:cNvPr id="3" name="Connector 2"/>
          <p:cNvCxnSpPr/>
          <p:nvPr/>
        </p:nvCxnSpPr>
        <p:spPr>
          <a:xfrm>
            <a:off x="9180000" y="288000"/>
            <a:ext cx="0" cy="10116000"/>
          </a:xfrm>
          <a:prstGeom prst="line">
            <a:avLst/>
          </a:prstGeom>
          <a:ln w="5080">
            <a:solidFill>
              <a:srgbClr val="C8C8C8"/>
            </a:solidFill>
          </a:ln>
        </p:spPr>
        <p:style>
          <a:lnRef idx="2">
            <a:schemeClr val="accent1"/>
          </a:lnRef>
          <a:fillRef idx="0">
            <a:schemeClr val="accent1"/>
          </a:fillRef>
          <a:effectRef idx="1">
            <a:schemeClr val="accent1"/>
          </a:effectRef>
          <a:fontRef idx="minor">
            <a:schemeClr val="tx1"/>
          </a:fontRef>
        </p:style>
      </p:cxnSp>
      <p:pic>
        <p:nvPicPr>
          <p:cNvPr id="4" name="Picture 3" descr="KDemi_v3_A_arche_lockup_mono.png"/>
          <p:cNvPicPr>
            <a:picLocks noChangeAspect="1"/>
          </p:cNvPicPr>
          <p:nvPr/>
        </p:nvPicPr>
        <p:blipFill>
          <a:blip r:embed="rId3"/>
          <a:stretch>
            <a:fillRect/>
          </a:stretch>
        </p:blipFill>
        <p:spPr>
          <a:xfrm>
            <a:off x="9468000" y="504000"/>
            <a:ext cx="1872000" cy="634920"/>
          </a:xfrm>
          <a:prstGeom prst="rect">
            <a:avLst/>
          </a:prstGeom>
        </p:spPr>
      </p:pic>
      <p:sp>
        <p:nvSpPr>
          <p:cNvPr id="5" name="TextBox 4"/>
          <p:cNvSpPr txBox="1"/>
          <p:nvPr/>
        </p:nvSpPr>
        <p:spPr>
          <a:xfrm>
            <a:off x="9468000" y="3744000"/>
            <a:ext cx="5292000" cy="1222400"/>
          </a:xfrm>
          <a:prstGeom prst="rect">
            <a:avLst/>
          </a:prstGeom>
          <a:noFill/>
        </p:spPr>
        <p:txBody>
          <a:bodyPr wrap="square" lIns="0" rIns="0" tIns="0" bIns="0" anchor="t">
            <a:spAutoFit/>
          </a:bodyPr>
          <a:lstStyle/>
          <a:p>
            <a:pPr algn="l">
              <a:lnSpc>
                <a:spcPts val="4600"/>
              </a:lnSpc>
            </a:pPr>
            <a:r>
              <a:rPr sz="4400" b="1">
                <a:solidFill>
                  <a:srgbClr val="4A4A4A"/>
                </a:solidFill>
                <a:latin typeface="Archivo"/>
              </a:rPr>
              <a:t>Bibliothèque</a:t>
            </a:r>
          </a:p>
          <a:p>
            <a:pPr algn="l">
              <a:lnSpc>
                <a:spcPts val="4600"/>
              </a:lnSpc>
            </a:pPr>
            <a:r>
              <a:rPr sz="4400" b="1">
                <a:solidFill>
                  <a:srgbClr val="4A4A4A"/>
                </a:solidFill>
                <a:latin typeface="Archivo"/>
              </a:rPr>
              <a:t>Decimo</a:t>
            </a:r>
          </a:p>
        </p:txBody>
      </p:sp>
      <p:cxnSp>
        <p:nvCxnSpPr>
          <p:cNvPr id="6" name="Connector 5"/>
          <p:cNvCxnSpPr/>
          <p:nvPr/>
        </p:nvCxnSpPr>
        <p:spPr>
          <a:xfrm>
            <a:off x="9468000" y="5184000"/>
            <a:ext cx="648000" cy="0"/>
          </a:xfrm>
          <a:prstGeom prst="line">
            <a:avLst/>
          </a:prstGeom>
          <a:ln w="12700">
            <a:solidFill>
              <a:srgbClr val="B4583E"/>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9468000" y="5400000"/>
            <a:ext cx="5292000" cy="244499"/>
          </a:xfrm>
          <a:prstGeom prst="rect">
            <a:avLst/>
          </a:prstGeom>
          <a:noFill/>
        </p:spPr>
        <p:txBody>
          <a:bodyPr wrap="square" lIns="0" rIns="0" tIns="0" bIns="0" anchor="t">
            <a:spAutoFit/>
          </a:bodyPr>
          <a:lstStyle/>
          <a:p>
            <a:pPr algn="l">
              <a:lnSpc>
                <a:spcPts val="1500"/>
              </a:lnSpc>
            </a:pPr>
            <a:r>
              <a:rPr sz="1150">
                <a:solidFill>
                  <a:srgbClr val="4A4A4A"/>
                </a:solidFill>
                <a:latin typeface="Archivo"/>
              </a:rPr>
              <a:t>Esquisse V5 · aménagement intérieur et devanture</a:t>
            </a:r>
          </a:p>
        </p:txBody>
      </p:sp>
      <p:sp>
        <p:nvSpPr>
          <p:cNvPr id="8" name="TextBox 7"/>
          <p:cNvSpPr txBox="1"/>
          <p:nvPr/>
        </p:nvSpPr>
        <p:spPr>
          <a:xfrm>
            <a:off x="9468000" y="5760000"/>
            <a:ext cx="5292000" cy="409599"/>
          </a:xfrm>
          <a:prstGeom prst="rect">
            <a:avLst/>
          </a:prstGeom>
          <a:noFill/>
        </p:spPr>
        <p:txBody>
          <a:bodyPr wrap="square" lIns="0" rIns="0" tIns="0" bIns="0" anchor="t">
            <a:spAutoFit/>
          </a:bodyPr>
          <a:lstStyle/>
          <a:p>
            <a:pPr algn="l">
              <a:lnSpc>
                <a:spcPts val="1400"/>
              </a:lnSpc>
            </a:pPr>
            <a:r>
              <a:rPr sz="1000">
                <a:solidFill>
                  <a:srgbClr val="8C8C8C"/>
                </a:solidFill>
                <a:latin typeface="Archivo"/>
              </a:rPr>
              <a:t>Local en rez-de-chaussée sous logements</a:t>
            </a:r>
          </a:p>
          <a:p>
            <a:pPr algn="l">
              <a:lnSpc>
                <a:spcPts val="1400"/>
              </a:lnSpc>
            </a:pPr>
            <a:r>
              <a:rPr sz="1000">
                <a:solidFill>
                  <a:srgbClr val="8C8C8C"/>
                </a:solidFill>
                <a:latin typeface="Archivo"/>
              </a:rPr>
              <a:t>Deux Plateaux, Abidjan</a:t>
            </a:r>
          </a:p>
        </p:txBody>
      </p:sp>
      <p:cxnSp>
        <p:nvCxnSpPr>
          <p:cNvPr id="9" name="Connector 8"/>
          <p:cNvCxnSpPr/>
          <p:nvPr/>
        </p:nvCxnSpPr>
        <p:spPr>
          <a:xfrm>
            <a:off x="9468000" y="8712000"/>
            <a:ext cx="5292000" cy="0"/>
          </a:xfrm>
          <a:prstGeom prst="line">
            <a:avLst/>
          </a:prstGeom>
          <a:ln w="3810">
            <a:solidFill>
              <a:srgbClr val="C8C8C8"/>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9468000" y="8856000"/>
            <a:ext cx="5292000" cy="155600"/>
          </a:xfrm>
          <a:prstGeom prst="rect">
            <a:avLst/>
          </a:prstGeom>
          <a:noFill/>
        </p:spPr>
        <p:txBody>
          <a:bodyPr wrap="square" lIns="0" rIns="0" tIns="0" bIns="0" anchor="t">
            <a:spAutoFit/>
          </a:bodyPr>
          <a:lstStyle/>
          <a:p>
            <a:pPr algn="l">
              <a:lnSpc>
                <a:spcPts val="800"/>
              </a:lnSpc>
            </a:pPr>
            <a:r>
              <a:rPr sz="680">
                <a:solidFill>
                  <a:srgbClr val="8C8C8C"/>
                </a:solidFill>
                <a:latin typeface="Archivo"/>
              </a:rPr>
              <a:t>DOSSIER DE PRÉSENTATION</a:t>
            </a:r>
          </a:p>
        </p:txBody>
      </p:sp>
      <p:sp>
        <p:nvSpPr>
          <p:cNvPr id="11" name="TextBox 10"/>
          <p:cNvSpPr txBox="1"/>
          <p:nvPr/>
        </p:nvSpPr>
        <p:spPr>
          <a:xfrm>
            <a:off x="9468000" y="9036000"/>
            <a:ext cx="5292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D.A · plans · coupe · élévations · vues 3D · axonométries · électricité · plomberie · détails techniques</a:t>
            </a:r>
          </a:p>
        </p:txBody>
      </p:sp>
      <p:sp>
        <p:nvSpPr>
          <p:cNvPr id="12" name="TextBox 11"/>
          <p:cNvSpPr txBox="1"/>
          <p:nvPr/>
        </p:nvSpPr>
        <p:spPr>
          <a:xfrm>
            <a:off x="9468000" y="9468000"/>
            <a:ext cx="5292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15 octobre 2026 · indice C</a:t>
            </a:r>
          </a:p>
        </p:txBody>
      </p:sp>
      <p:sp>
        <p:nvSpPr>
          <p:cNvPr id="13" name="TextBox 12"/>
          <p:cNvSpPr txBox="1"/>
          <p:nvPr/>
        </p:nvSpPr>
        <p:spPr>
          <a:xfrm>
            <a:off x="9468000" y="9864000"/>
            <a:ext cx="5292000" cy="163220"/>
          </a:xfrm>
          <a:prstGeom prst="rect">
            <a:avLst/>
          </a:prstGeom>
          <a:noFill/>
        </p:spPr>
        <p:txBody>
          <a:bodyPr wrap="square" lIns="0" rIns="0" tIns="0" bIns="0" anchor="t">
            <a:spAutoFit/>
          </a:bodyPr>
          <a:lstStyle/>
          <a:p>
            <a:pPr algn="l">
              <a:lnSpc>
                <a:spcPts val="860"/>
              </a:lnSpc>
            </a:pPr>
            <a:r>
              <a:rPr sz="680">
                <a:solidFill>
                  <a:srgbClr val="8C8C8C"/>
                </a:solidFill>
                <a:latin typeface="Archivo"/>
              </a:rPr>
              <a:t>En couverture : l'arbre à livres sous l'oculus indigo, rendu tiré de la vue 04 de la maquette IFC V5</a:t>
            </a:r>
          </a:p>
        </p:txBody>
      </p:sp>
      <p:sp>
        <p:nvSpPr>
          <p:cNvPr id="14" name="TextBox 13"/>
          <p:cNvSpPr txBox="1"/>
          <p:nvPr/>
        </p:nvSpPr>
        <p:spPr>
          <a:xfrm>
            <a:off x="9468000" y="10404000"/>
            <a:ext cx="2160000" cy="155600"/>
          </a:xfrm>
          <a:prstGeom prst="rect">
            <a:avLst/>
          </a:prstGeom>
          <a:noFill/>
        </p:spPr>
        <p:txBody>
          <a:bodyPr wrap="square" lIns="0" rIns="0" tIns="0" bIns="0" anchor="t">
            <a:spAutoFit/>
          </a:bodyPr>
          <a:lstStyle/>
          <a:p>
            <a:pPr algn="l">
              <a:lnSpc>
                <a:spcPts val="800"/>
              </a:lnSpc>
            </a:pPr>
            <a:r>
              <a:rPr sz="650">
                <a:solidFill>
                  <a:srgbClr val="4A4A4A"/>
                </a:solidFill>
                <a:latin typeface="Manrope"/>
              </a:rPr>
              <a:t>K&amp;Démi · architecture · intérieur</a:t>
            </a:r>
          </a:p>
        </p:txBody>
      </p:sp>
      <p:sp>
        <p:nvSpPr>
          <p:cNvPr id="15" name="TextBox 14"/>
          <p:cNvSpPr txBox="1"/>
          <p:nvPr/>
        </p:nvSpPr>
        <p:spPr>
          <a:xfrm>
            <a:off x="12600000" y="10404000"/>
            <a:ext cx="2160000" cy="155600"/>
          </a:xfrm>
          <a:prstGeom prst="rect">
            <a:avLst/>
          </a:prstGeom>
          <a:noFill/>
        </p:spPr>
        <p:txBody>
          <a:bodyPr wrap="square" lIns="0" rIns="0" tIns="0" bIns="0" anchor="t">
            <a:spAutoFit/>
          </a:bodyPr>
          <a:lstStyle/>
          <a:p>
            <a:pPr algn="r">
              <a:lnSpc>
                <a:spcPts val="800"/>
              </a:lnSpc>
            </a:pPr>
            <a:r>
              <a:rPr sz="650">
                <a:solidFill>
                  <a:srgbClr val="8C8C8C"/>
                </a:solidFill>
                <a:latin typeface="Archivo"/>
              </a:rPr>
              <a:t>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p02_dev.jpg"/>
          <p:cNvPicPr>
            <a:picLocks noChangeAspect="1"/>
          </p:cNvPicPr>
          <p:nvPr/>
        </p:nvPicPr>
        <p:blipFill>
          <a:blip r:embed="rId2"/>
          <a:stretch>
            <a:fillRect/>
          </a:stretch>
        </p:blipFill>
        <p:spPr>
          <a:xfrm>
            <a:off x="504000" y="504000"/>
            <a:ext cx="8172000" cy="5400000"/>
          </a:xfrm>
          <a:prstGeom prst="rect">
            <a:avLst/>
          </a:prstGeom>
        </p:spPr>
      </p:pic>
      <p:sp>
        <p:nvSpPr>
          <p:cNvPr id="3" name="TextBox 2"/>
          <p:cNvSpPr txBox="1"/>
          <p:nvPr/>
        </p:nvSpPr>
        <p:spPr>
          <a:xfrm>
            <a:off x="504000" y="5976000"/>
            <a:ext cx="8172000" cy="163220"/>
          </a:xfrm>
          <a:prstGeom prst="rect">
            <a:avLst/>
          </a:prstGeom>
          <a:noFill/>
        </p:spPr>
        <p:txBody>
          <a:bodyPr wrap="square" lIns="0" rIns="0" tIns="0" bIns="0" anchor="t">
            <a:spAutoFit/>
          </a:bodyPr>
          <a:lstStyle/>
          <a:p>
            <a:pPr algn="l">
              <a:lnSpc>
                <a:spcPts val="860"/>
              </a:lnSpc>
            </a:pPr>
            <a:r>
              <a:rPr sz="680">
                <a:solidFill>
                  <a:srgbClr val="8C8C8C"/>
                </a:solidFill>
                <a:latin typeface="Archivo"/>
              </a:rPr>
              <a:t>La devanture sous la pergola conservée de la V4, rendu tiré de la vue 01 de la maquette</a:t>
            </a:r>
          </a:p>
        </p:txBody>
      </p:sp>
      <p:cxnSp>
        <p:nvCxnSpPr>
          <p:cNvPr id="4" name="Connector 3"/>
          <p:cNvCxnSpPr/>
          <p:nvPr/>
        </p:nvCxnSpPr>
        <p:spPr>
          <a:xfrm>
            <a:off x="504000" y="6336000"/>
            <a:ext cx="2604000" cy="0"/>
          </a:xfrm>
          <a:prstGeom prst="line">
            <a:avLst/>
          </a:prstGeom>
          <a:ln w="5080">
            <a:solidFill>
              <a:srgbClr val="C8C8C8"/>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04000" y="6480000"/>
            <a:ext cx="2604000" cy="257199"/>
          </a:xfrm>
          <a:prstGeom prst="rect">
            <a:avLst/>
          </a:prstGeom>
          <a:noFill/>
        </p:spPr>
        <p:txBody>
          <a:bodyPr wrap="square" lIns="0" rIns="0" tIns="0" bIns="0" anchor="t">
            <a:spAutoFit/>
          </a:bodyPr>
          <a:lstStyle/>
          <a:p>
            <a:pPr algn="l">
              <a:lnSpc>
                <a:spcPts val="1600"/>
              </a:lnSpc>
            </a:pPr>
            <a:r>
              <a:rPr sz="1300" b="1">
                <a:solidFill>
                  <a:srgbClr val="4A4A4A"/>
                </a:solidFill>
                <a:latin typeface="Archivo"/>
              </a:rPr>
              <a:t>Le lieu</a:t>
            </a:r>
          </a:p>
        </p:txBody>
      </p:sp>
      <p:sp>
        <p:nvSpPr>
          <p:cNvPr id="6" name="TextBox 5"/>
          <p:cNvSpPr txBox="1"/>
          <p:nvPr/>
        </p:nvSpPr>
        <p:spPr>
          <a:xfrm>
            <a:off x="504000" y="6768000"/>
            <a:ext cx="2604000" cy="879499"/>
          </a:xfrm>
          <a:prstGeom prst="rect">
            <a:avLst/>
          </a:prstGeom>
          <a:noFill/>
        </p:spPr>
        <p:txBody>
          <a:bodyPr wrap="square" lIns="0" rIns="0" tIns="0" bIns="0" anchor="t">
            <a:spAutoFit/>
          </a:bodyPr>
          <a:lstStyle/>
          <a:p>
            <a:pPr algn="l">
              <a:lnSpc>
                <a:spcPts val="1300"/>
              </a:lnSpc>
            </a:pPr>
            <a:r>
              <a:rPr sz="900">
                <a:solidFill>
                  <a:srgbClr val="4A4A4A"/>
                </a:solidFill>
                <a:latin typeface="Archivo"/>
              </a:rPr>
              <a:t>Un local commercial de 6,78 × 7,68 m au rez-de-chaussée d'un immeuble de logements, à Deux Plateaux. Poteaux, voiles et dalle haute appartiennent à l'immeuble et restent intacts : le projet est un aménagement, pas une construction.</a:t>
            </a:r>
          </a:p>
        </p:txBody>
      </p:sp>
      <p:cxnSp>
        <p:nvCxnSpPr>
          <p:cNvPr id="7" name="Connector 6"/>
          <p:cNvCxnSpPr/>
          <p:nvPr/>
        </p:nvCxnSpPr>
        <p:spPr>
          <a:xfrm>
            <a:off x="3288000" y="6336000"/>
            <a:ext cx="2604000" cy="0"/>
          </a:xfrm>
          <a:prstGeom prst="line">
            <a:avLst/>
          </a:prstGeom>
          <a:ln w="5080">
            <a:solidFill>
              <a:srgbClr val="C8C8C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3288000" y="6480000"/>
            <a:ext cx="2604000" cy="257199"/>
          </a:xfrm>
          <a:prstGeom prst="rect">
            <a:avLst/>
          </a:prstGeom>
          <a:noFill/>
        </p:spPr>
        <p:txBody>
          <a:bodyPr wrap="square" lIns="0" rIns="0" tIns="0" bIns="0" anchor="t">
            <a:spAutoFit/>
          </a:bodyPr>
          <a:lstStyle/>
          <a:p>
            <a:pPr algn="l">
              <a:lnSpc>
                <a:spcPts val="1600"/>
              </a:lnSpc>
            </a:pPr>
            <a:r>
              <a:rPr sz="1300" b="1">
                <a:solidFill>
                  <a:srgbClr val="4A4A4A"/>
                </a:solidFill>
                <a:latin typeface="Archivo"/>
              </a:rPr>
              <a:t>Le programme</a:t>
            </a:r>
          </a:p>
        </p:txBody>
      </p:sp>
      <p:sp>
        <p:nvSpPr>
          <p:cNvPr id="9" name="TextBox 8"/>
          <p:cNvSpPr txBox="1"/>
          <p:nvPr/>
        </p:nvSpPr>
        <p:spPr>
          <a:xfrm>
            <a:off x="3288000" y="6768000"/>
            <a:ext cx="2604000" cy="879499"/>
          </a:xfrm>
          <a:prstGeom prst="rect">
            <a:avLst/>
          </a:prstGeom>
          <a:noFill/>
        </p:spPr>
        <p:txBody>
          <a:bodyPr wrap="square" lIns="0" rIns="0" tIns="0" bIns="0" anchor="t">
            <a:spAutoFit/>
          </a:bodyPr>
          <a:lstStyle/>
          <a:p>
            <a:pPr algn="l">
              <a:lnSpc>
                <a:spcPts val="1300"/>
              </a:lnSpc>
            </a:pPr>
            <a:r>
              <a:rPr sz="900">
                <a:solidFill>
                  <a:srgbClr val="4A4A4A"/>
                </a:solidFill>
                <a:latin typeface="Archivo"/>
              </a:rPr>
              <a:t>Une bibliothèque de quartier : une salle de lecture autour de l'arbre à livres, un coin lecture en vitrine, une salle de réunion, un seul WC, un rangement et un placard technique. La terrasse couverte prolonge la lecture sur la rue.</a:t>
            </a:r>
          </a:p>
        </p:txBody>
      </p:sp>
      <p:cxnSp>
        <p:nvCxnSpPr>
          <p:cNvPr id="10" name="Connector 9"/>
          <p:cNvCxnSpPr/>
          <p:nvPr/>
        </p:nvCxnSpPr>
        <p:spPr>
          <a:xfrm>
            <a:off x="6072000" y="6336000"/>
            <a:ext cx="2604000" cy="0"/>
          </a:xfrm>
          <a:prstGeom prst="line">
            <a:avLst/>
          </a:prstGeom>
          <a:ln w="5080">
            <a:solidFill>
              <a:srgbClr val="C8C8C8"/>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6072000" y="6480000"/>
            <a:ext cx="2604000" cy="257199"/>
          </a:xfrm>
          <a:prstGeom prst="rect">
            <a:avLst/>
          </a:prstGeom>
          <a:noFill/>
        </p:spPr>
        <p:txBody>
          <a:bodyPr wrap="square" lIns="0" rIns="0" tIns="0" bIns="0" anchor="t">
            <a:spAutoFit/>
          </a:bodyPr>
          <a:lstStyle/>
          <a:p>
            <a:pPr algn="l">
              <a:lnSpc>
                <a:spcPts val="1600"/>
              </a:lnSpc>
            </a:pPr>
            <a:r>
              <a:rPr sz="1300" b="1">
                <a:solidFill>
                  <a:srgbClr val="4A4A4A"/>
                </a:solidFill>
                <a:latin typeface="Archivo"/>
              </a:rPr>
              <a:t>Le parti</a:t>
            </a:r>
          </a:p>
        </p:txBody>
      </p:sp>
      <p:sp>
        <p:nvSpPr>
          <p:cNvPr id="12" name="TextBox 11"/>
          <p:cNvSpPr txBox="1"/>
          <p:nvPr/>
        </p:nvSpPr>
        <p:spPr>
          <a:xfrm>
            <a:off x="6072000" y="6768000"/>
            <a:ext cx="2604000" cy="714399"/>
          </a:xfrm>
          <a:prstGeom prst="rect">
            <a:avLst/>
          </a:prstGeom>
          <a:noFill/>
        </p:spPr>
        <p:txBody>
          <a:bodyPr wrap="square" lIns="0" rIns="0" tIns="0" bIns="0" anchor="t">
            <a:spAutoFit/>
          </a:bodyPr>
          <a:lstStyle/>
          <a:p>
            <a:pPr algn="l">
              <a:lnSpc>
                <a:spcPts val="1300"/>
              </a:lnSpc>
            </a:pPr>
            <a:r>
              <a:rPr sz="900">
                <a:solidFill>
                  <a:srgbClr val="4A4A4A"/>
                </a:solidFill>
                <a:latin typeface="Archivo"/>
              </a:rPr>
              <a:t>Terre, ombre et bois. La claustra en terre cuite filtre le soleil, l'iroko habille tout ce qui se touche et la chaux tout ce qui se voit. L'arbre à livres et son oculus indigo sont le seul objet fort de la salle.</a:t>
            </a:r>
          </a:p>
        </p:txBody>
      </p:sp>
      <p:cxnSp>
        <p:nvCxnSpPr>
          <p:cNvPr id="13" name="Connector 12"/>
          <p:cNvCxnSpPr/>
          <p:nvPr/>
        </p:nvCxnSpPr>
        <p:spPr>
          <a:xfrm>
            <a:off x="504000" y="8784000"/>
            <a:ext cx="1908000" cy="0"/>
          </a:xfrm>
          <a:prstGeom prst="line">
            <a:avLst/>
          </a:prstGeom>
          <a:ln w="3810">
            <a:solidFill>
              <a:srgbClr val="C8C8C8"/>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504000" y="8928000"/>
            <a:ext cx="1908000" cy="396899"/>
          </a:xfrm>
          <a:prstGeom prst="rect">
            <a:avLst/>
          </a:prstGeom>
          <a:noFill/>
        </p:spPr>
        <p:txBody>
          <a:bodyPr wrap="square" lIns="0" rIns="0" tIns="0" bIns="0" anchor="t">
            <a:spAutoFit/>
          </a:bodyPr>
          <a:lstStyle/>
          <a:p>
            <a:pPr algn="l">
              <a:lnSpc>
                <a:spcPts val="2700"/>
              </a:lnSpc>
            </a:pPr>
            <a:r>
              <a:rPr sz="2400" b="1">
                <a:solidFill>
                  <a:srgbClr val="4A4A4A"/>
                </a:solidFill>
                <a:latin typeface="Archivo"/>
              </a:rPr>
              <a:t>43,55 m²</a:t>
            </a:r>
          </a:p>
        </p:txBody>
      </p:sp>
      <p:sp>
        <p:nvSpPr>
          <p:cNvPr id="15" name="TextBox 14"/>
          <p:cNvSpPr txBox="1"/>
          <p:nvPr/>
        </p:nvSpPr>
        <p:spPr>
          <a:xfrm>
            <a:off x="504000" y="9360000"/>
            <a:ext cx="1908000" cy="173380"/>
          </a:xfrm>
          <a:prstGeom prst="rect">
            <a:avLst/>
          </a:prstGeom>
          <a:noFill/>
        </p:spPr>
        <p:txBody>
          <a:bodyPr wrap="square" lIns="0" rIns="0" tIns="0" bIns="0" anchor="t">
            <a:spAutoFit/>
          </a:bodyPr>
          <a:lstStyle/>
          <a:p>
            <a:pPr algn="l">
              <a:lnSpc>
                <a:spcPts val="940"/>
              </a:lnSpc>
            </a:pPr>
            <a:r>
              <a:rPr sz="740">
                <a:solidFill>
                  <a:srgbClr val="8C8C8C"/>
                </a:solidFill>
                <a:latin typeface="Archivo"/>
              </a:rPr>
              <a:t>surface intérieure, 7 espaces</a:t>
            </a:r>
          </a:p>
        </p:txBody>
      </p:sp>
      <p:cxnSp>
        <p:nvCxnSpPr>
          <p:cNvPr id="16" name="Connector 15"/>
          <p:cNvCxnSpPr/>
          <p:nvPr/>
        </p:nvCxnSpPr>
        <p:spPr>
          <a:xfrm>
            <a:off x="2592000" y="8784000"/>
            <a:ext cx="1908000" cy="0"/>
          </a:xfrm>
          <a:prstGeom prst="line">
            <a:avLst/>
          </a:prstGeom>
          <a:ln w="3810">
            <a:solidFill>
              <a:srgbClr val="C8C8C8"/>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2592000" y="8928000"/>
            <a:ext cx="1908000" cy="396899"/>
          </a:xfrm>
          <a:prstGeom prst="rect">
            <a:avLst/>
          </a:prstGeom>
          <a:noFill/>
        </p:spPr>
        <p:txBody>
          <a:bodyPr wrap="square" lIns="0" rIns="0" tIns="0" bIns="0" anchor="t">
            <a:spAutoFit/>
          </a:bodyPr>
          <a:lstStyle/>
          <a:p>
            <a:pPr algn="l">
              <a:lnSpc>
                <a:spcPts val="2700"/>
              </a:lnSpc>
            </a:pPr>
            <a:r>
              <a:rPr sz="2400" b="1">
                <a:solidFill>
                  <a:srgbClr val="4A4A4A"/>
                </a:solidFill>
                <a:latin typeface="Archivo"/>
              </a:rPr>
              <a:t>15,74 m²</a:t>
            </a:r>
          </a:p>
        </p:txBody>
      </p:sp>
      <p:sp>
        <p:nvSpPr>
          <p:cNvPr id="18" name="TextBox 17"/>
          <p:cNvSpPr txBox="1"/>
          <p:nvPr/>
        </p:nvSpPr>
        <p:spPr>
          <a:xfrm>
            <a:off x="2592000" y="9360000"/>
            <a:ext cx="1908000" cy="173380"/>
          </a:xfrm>
          <a:prstGeom prst="rect">
            <a:avLst/>
          </a:prstGeom>
          <a:noFill/>
        </p:spPr>
        <p:txBody>
          <a:bodyPr wrap="square" lIns="0" rIns="0" tIns="0" bIns="0" anchor="t">
            <a:spAutoFit/>
          </a:bodyPr>
          <a:lstStyle/>
          <a:p>
            <a:pPr algn="l">
              <a:lnSpc>
                <a:spcPts val="940"/>
              </a:lnSpc>
            </a:pPr>
            <a:r>
              <a:rPr sz="740">
                <a:solidFill>
                  <a:srgbClr val="8C8C8C"/>
                </a:solidFill>
                <a:latin typeface="Archivo"/>
              </a:rPr>
              <a:t>terrasse couverte sous pergola</a:t>
            </a:r>
          </a:p>
        </p:txBody>
      </p:sp>
      <p:cxnSp>
        <p:nvCxnSpPr>
          <p:cNvPr id="19" name="Connector 18"/>
          <p:cNvCxnSpPr/>
          <p:nvPr/>
        </p:nvCxnSpPr>
        <p:spPr>
          <a:xfrm>
            <a:off x="4680000" y="8784000"/>
            <a:ext cx="1908000" cy="0"/>
          </a:xfrm>
          <a:prstGeom prst="line">
            <a:avLst/>
          </a:prstGeom>
          <a:ln w="3810">
            <a:solidFill>
              <a:srgbClr val="C8C8C8"/>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4680000" y="8928000"/>
            <a:ext cx="1908000" cy="396899"/>
          </a:xfrm>
          <a:prstGeom prst="rect">
            <a:avLst/>
          </a:prstGeom>
          <a:noFill/>
        </p:spPr>
        <p:txBody>
          <a:bodyPr wrap="square" lIns="0" rIns="0" tIns="0" bIns="0" anchor="t">
            <a:spAutoFit/>
          </a:bodyPr>
          <a:lstStyle/>
          <a:p>
            <a:pPr algn="l">
              <a:lnSpc>
                <a:spcPts val="2700"/>
              </a:lnSpc>
            </a:pPr>
            <a:r>
              <a:rPr sz="2400" b="1">
                <a:solidFill>
                  <a:srgbClr val="4A4A4A"/>
                </a:solidFill>
                <a:latin typeface="Archivo"/>
              </a:rPr>
              <a:t>3,00 m</a:t>
            </a:r>
          </a:p>
        </p:txBody>
      </p:sp>
      <p:sp>
        <p:nvSpPr>
          <p:cNvPr id="21" name="TextBox 20"/>
          <p:cNvSpPr txBox="1"/>
          <p:nvPr/>
        </p:nvSpPr>
        <p:spPr>
          <a:xfrm>
            <a:off x="4680000" y="9360000"/>
            <a:ext cx="1908000" cy="173380"/>
          </a:xfrm>
          <a:prstGeom prst="rect">
            <a:avLst/>
          </a:prstGeom>
          <a:noFill/>
        </p:spPr>
        <p:txBody>
          <a:bodyPr wrap="square" lIns="0" rIns="0" tIns="0" bIns="0" anchor="t">
            <a:spAutoFit/>
          </a:bodyPr>
          <a:lstStyle/>
          <a:p>
            <a:pPr algn="l">
              <a:lnSpc>
                <a:spcPts val="940"/>
              </a:lnSpc>
            </a:pPr>
            <a:r>
              <a:rPr sz="740">
                <a:solidFill>
                  <a:srgbClr val="8C8C8C"/>
                </a:solidFill>
                <a:latin typeface="Archivo"/>
              </a:rPr>
              <a:t>hauteur sous faux-plafond</a:t>
            </a:r>
          </a:p>
        </p:txBody>
      </p:sp>
      <p:cxnSp>
        <p:nvCxnSpPr>
          <p:cNvPr id="22" name="Connector 21"/>
          <p:cNvCxnSpPr/>
          <p:nvPr/>
        </p:nvCxnSpPr>
        <p:spPr>
          <a:xfrm>
            <a:off x="6768000" y="8784000"/>
            <a:ext cx="1908000" cy="0"/>
          </a:xfrm>
          <a:prstGeom prst="line">
            <a:avLst/>
          </a:prstGeom>
          <a:ln w="3810">
            <a:solidFill>
              <a:srgbClr val="C8C8C8"/>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6768000" y="8928000"/>
            <a:ext cx="1908000" cy="396899"/>
          </a:xfrm>
          <a:prstGeom prst="rect">
            <a:avLst/>
          </a:prstGeom>
          <a:noFill/>
        </p:spPr>
        <p:txBody>
          <a:bodyPr wrap="square" lIns="0" rIns="0" tIns="0" bIns="0" anchor="t">
            <a:spAutoFit/>
          </a:bodyPr>
          <a:lstStyle/>
          <a:p>
            <a:pPr algn="l">
              <a:lnSpc>
                <a:spcPts val="2700"/>
              </a:lnSpc>
            </a:pPr>
            <a:r>
              <a:rPr sz="2400" b="1">
                <a:solidFill>
                  <a:srgbClr val="4A4A4A"/>
                </a:solidFill>
                <a:latin typeface="Archivo"/>
              </a:rPr>
              <a:t>141 / 141</a:t>
            </a:r>
          </a:p>
        </p:txBody>
      </p:sp>
      <p:sp>
        <p:nvSpPr>
          <p:cNvPr id="24" name="TextBox 23"/>
          <p:cNvSpPr txBox="1"/>
          <p:nvPr/>
        </p:nvSpPr>
        <p:spPr>
          <a:xfrm>
            <a:off x="6768000" y="9360000"/>
            <a:ext cx="1908000" cy="173380"/>
          </a:xfrm>
          <a:prstGeom prst="rect">
            <a:avLst/>
          </a:prstGeom>
          <a:noFill/>
        </p:spPr>
        <p:txBody>
          <a:bodyPr wrap="square" lIns="0" rIns="0" tIns="0" bIns="0" anchor="t">
            <a:spAutoFit/>
          </a:bodyPr>
          <a:lstStyle/>
          <a:p>
            <a:pPr algn="l">
              <a:lnSpc>
                <a:spcPts val="940"/>
              </a:lnSpc>
            </a:pPr>
            <a:r>
              <a:rPr sz="740">
                <a:solidFill>
                  <a:srgbClr val="8C8C8C"/>
                </a:solidFill>
                <a:latin typeface="Archivo"/>
              </a:rPr>
              <a:t>éléments existants V4 conservés à l'identique</a:t>
            </a:r>
          </a:p>
        </p:txBody>
      </p:sp>
      <p:cxnSp>
        <p:nvCxnSpPr>
          <p:cNvPr id="25" name="Connector 24"/>
          <p:cNvCxnSpPr/>
          <p:nvPr/>
        </p:nvCxnSpPr>
        <p:spPr>
          <a:xfrm>
            <a:off x="9180000" y="288000"/>
            <a:ext cx="0" cy="10116000"/>
          </a:xfrm>
          <a:prstGeom prst="line">
            <a:avLst/>
          </a:prstGeom>
          <a:ln w="5080">
            <a:solidFill>
              <a:srgbClr val="C8C8C8"/>
            </a:solidFill>
          </a:ln>
        </p:spPr>
        <p:style>
          <a:lnRef idx="2">
            <a:schemeClr val="accent1"/>
          </a:lnRef>
          <a:fillRef idx="0">
            <a:schemeClr val="accent1"/>
          </a:fillRef>
          <a:effectRef idx="1">
            <a:schemeClr val="accent1"/>
          </a:effectRef>
          <a:fontRef idx="minor">
            <a:schemeClr val="tx1"/>
          </a:fontRef>
        </p:style>
      </p:cxnSp>
      <p:pic>
        <p:nvPicPr>
          <p:cNvPr id="26" name="Picture 25" descr="KDemi_v3_A_arche_lockup_mono.png"/>
          <p:cNvPicPr>
            <a:picLocks noChangeAspect="1"/>
          </p:cNvPicPr>
          <p:nvPr/>
        </p:nvPicPr>
        <p:blipFill>
          <a:blip r:embed="rId3"/>
          <a:stretch>
            <a:fillRect/>
          </a:stretch>
        </p:blipFill>
        <p:spPr>
          <a:xfrm>
            <a:off x="9468000" y="432000"/>
            <a:ext cx="1656000" cy="561660"/>
          </a:xfrm>
          <a:prstGeom prst="rect">
            <a:avLst/>
          </a:prstGeom>
        </p:spPr>
      </p:pic>
      <p:sp>
        <p:nvSpPr>
          <p:cNvPr id="27" name="TextBox 26"/>
          <p:cNvSpPr txBox="1"/>
          <p:nvPr/>
        </p:nvSpPr>
        <p:spPr>
          <a:xfrm>
            <a:off x="9468000" y="1440000"/>
            <a:ext cx="5292000" cy="384199"/>
          </a:xfrm>
          <a:prstGeom prst="rect">
            <a:avLst/>
          </a:prstGeom>
          <a:noFill/>
        </p:spPr>
        <p:txBody>
          <a:bodyPr wrap="square" lIns="0" rIns="0" tIns="0" bIns="0" anchor="t">
            <a:spAutoFit/>
          </a:bodyPr>
          <a:lstStyle/>
          <a:p>
            <a:pPr algn="l">
              <a:lnSpc>
                <a:spcPts val="2600"/>
              </a:lnSpc>
            </a:pPr>
            <a:r>
              <a:rPr sz="2300" b="1">
                <a:solidFill>
                  <a:srgbClr val="4A4A4A"/>
                </a:solidFill>
                <a:latin typeface="Archivo"/>
              </a:rPr>
              <a:t>Le projet</a:t>
            </a:r>
          </a:p>
        </p:txBody>
      </p:sp>
      <p:sp>
        <p:nvSpPr>
          <p:cNvPr id="28" name="TextBox 27"/>
          <p:cNvSpPr txBox="1"/>
          <p:nvPr/>
        </p:nvSpPr>
        <p:spPr>
          <a:xfrm>
            <a:off x="9468000" y="1890000"/>
            <a:ext cx="5292000" cy="231799"/>
          </a:xfrm>
          <a:prstGeom prst="rect">
            <a:avLst/>
          </a:prstGeom>
          <a:noFill/>
        </p:spPr>
        <p:txBody>
          <a:bodyPr wrap="square" lIns="0" rIns="0" tIns="0" bIns="0" anchor="t">
            <a:spAutoFit/>
          </a:bodyPr>
          <a:lstStyle/>
          <a:p>
            <a:pPr algn="l">
              <a:lnSpc>
                <a:spcPts val="1400"/>
              </a:lnSpc>
            </a:pPr>
            <a:r>
              <a:rPr sz="1050">
                <a:solidFill>
                  <a:srgbClr val="4A4A4A"/>
                </a:solidFill>
                <a:latin typeface="Archivo"/>
              </a:rPr>
              <a:t>Une salle de lecture fraîche en pied d'immeuble</a:t>
            </a:r>
          </a:p>
        </p:txBody>
      </p:sp>
      <p:sp>
        <p:nvSpPr>
          <p:cNvPr id="29" name="TextBox 28"/>
          <p:cNvSpPr txBox="1"/>
          <p:nvPr/>
        </p:nvSpPr>
        <p:spPr>
          <a:xfrm>
            <a:off x="9468000" y="2142000"/>
            <a:ext cx="5292000" cy="168300"/>
          </a:xfrm>
          <a:prstGeom prst="rect">
            <a:avLst/>
          </a:prstGeom>
          <a:noFill/>
        </p:spPr>
        <p:txBody>
          <a:bodyPr wrap="square" lIns="0" rIns="0" tIns="0" bIns="0" anchor="t">
            <a:spAutoFit/>
          </a:bodyPr>
          <a:lstStyle/>
          <a:p>
            <a:pPr algn="l">
              <a:lnSpc>
                <a:spcPts val="900"/>
              </a:lnSpc>
            </a:pPr>
            <a:r>
              <a:rPr sz="720">
                <a:solidFill>
                  <a:srgbClr val="8C8C8C"/>
                </a:solidFill>
                <a:latin typeface="Archivo"/>
              </a:rPr>
              <a:t>Esquisse V5 · existant V4 inchangé</a:t>
            </a:r>
          </a:p>
        </p:txBody>
      </p:sp>
      <p:cxnSp>
        <p:nvCxnSpPr>
          <p:cNvPr id="30" name="Connector 29"/>
          <p:cNvCxnSpPr/>
          <p:nvPr/>
        </p:nvCxnSpPr>
        <p:spPr>
          <a:xfrm>
            <a:off x="9468000" y="2304000"/>
            <a:ext cx="648000" cy="0"/>
          </a:xfrm>
          <a:prstGeom prst="line">
            <a:avLst/>
          </a:prstGeom>
          <a:ln w="11430">
            <a:solidFill>
              <a:srgbClr val="B4583E"/>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10116000" y="2304000"/>
            <a:ext cx="4644000" cy="0"/>
          </a:xfrm>
          <a:prstGeom prst="line">
            <a:avLst/>
          </a:prstGeom>
          <a:ln w="5080">
            <a:solidFill>
              <a:srgbClr val="C8C8C8"/>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9468000" y="2520000"/>
            <a:ext cx="5292000" cy="180999"/>
          </a:xfrm>
          <a:prstGeom prst="rect">
            <a:avLst/>
          </a:prstGeom>
          <a:noFill/>
        </p:spPr>
        <p:txBody>
          <a:bodyPr wrap="square" lIns="0" rIns="0" tIns="0" bIns="0" anchor="t">
            <a:spAutoFit/>
          </a:bodyPr>
          <a:lstStyle/>
          <a:p>
            <a:pPr algn="l">
              <a:lnSpc>
                <a:spcPts val="1000"/>
              </a:lnSpc>
            </a:pPr>
            <a:r>
              <a:rPr sz="740">
                <a:solidFill>
                  <a:srgbClr val="B4583E"/>
                </a:solidFill>
                <a:latin typeface="Archivo"/>
              </a:rPr>
              <a:t>SOMMAIRE</a:t>
            </a:r>
          </a:p>
        </p:txBody>
      </p:sp>
      <p:sp>
        <p:nvSpPr>
          <p:cNvPr id="33" name="TextBox 32"/>
          <p:cNvSpPr txBox="1"/>
          <p:nvPr/>
        </p:nvSpPr>
        <p:spPr>
          <a:xfrm>
            <a:off x="9468000" y="2707200"/>
            <a:ext cx="4212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Couverture</a:t>
            </a:r>
          </a:p>
        </p:txBody>
      </p:sp>
      <p:sp>
        <p:nvSpPr>
          <p:cNvPr id="34" name="TextBox 33"/>
          <p:cNvSpPr txBox="1"/>
          <p:nvPr/>
        </p:nvSpPr>
        <p:spPr>
          <a:xfrm>
            <a:off x="13680000" y="2707200"/>
            <a:ext cx="1080000" cy="175920"/>
          </a:xfrm>
          <a:prstGeom prst="rect">
            <a:avLst/>
          </a:prstGeom>
          <a:noFill/>
        </p:spPr>
        <p:txBody>
          <a:bodyPr wrap="square" lIns="0" rIns="0" tIns="0" bIns="0" anchor="t">
            <a:spAutoFit/>
          </a:bodyPr>
          <a:lstStyle/>
          <a:p>
            <a:pPr algn="r">
              <a:lnSpc>
                <a:spcPts val="960"/>
              </a:lnSpc>
            </a:pPr>
            <a:r>
              <a:rPr sz="720">
                <a:solidFill>
                  <a:srgbClr val="4A4A4A"/>
                </a:solidFill>
                <a:latin typeface="Archivo"/>
              </a:rPr>
              <a:t>01</a:t>
            </a:r>
          </a:p>
        </p:txBody>
      </p:sp>
      <p:sp>
        <p:nvSpPr>
          <p:cNvPr id="35" name="TextBox 34"/>
          <p:cNvSpPr txBox="1"/>
          <p:nvPr/>
        </p:nvSpPr>
        <p:spPr>
          <a:xfrm>
            <a:off x="9468000" y="2862000"/>
            <a:ext cx="4212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Le projet</a:t>
            </a:r>
          </a:p>
        </p:txBody>
      </p:sp>
      <p:sp>
        <p:nvSpPr>
          <p:cNvPr id="36" name="TextBox 35"/>
          <p:cNvSpPr txBox="1"/>
          <p:nvPr/>
        </p:nvSpPr>
        <p:spPr>
          <a:xfrm>
            <a:off x="13680000" y="2862000"/>
            <a:ext cx="1080000" cy="175920"/>
          </a:xfrm>
          <a:prstGeom prst="rect">
            <a:avLst/>
          </a:prstGeom>
          <a:noFill/>
        </p:spPr>
        <p:txBody>
          <a:bodyPr wrap="square" lIns="0" rIns="0" tIns="0" bIns="0" anchor="t">
            <a:spAutoFit/>
          </a:bodyPr>
          <a:lstStyle/>
          <a:p>
            <a:pPr algn="r">
              <a:lnSpc>
                <a:spcPts val="960"/>
              </a:lnSpc>
            </a:pPr>
            <a:r>
              <a:rPr sz="720">
                <a:solidFill>
                  <a:srgbClr val="4A4A4A"/>
                </a:solidFill>
                <a:latin typeface="Archivo"/>
              </a:rPr>
              <a:t>02</a:t>
            </a:r>
          </a:p>
        </p:txBody>
      </p:sp>
      <p:sp>
        <p:nvSpPr>
          <p:cNvPr id="37" name="TextBox 36"/>
          <p:cNvSpPr txBox="1"/>
          <p:nvPr/>
        </p:nvSpPr>
        <p:spPr>
          <a:xfrm>
            <a:off x="9468000" y="3016800"/>
            <a:ext cx="4212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Identité K&amp;Démi</a:t>
            </a:r>
          </a:p>
        </p:txBody>
      </p:sp>
      <p:sp>
        <p:nvSpPr>
          <p:cNvPr id="38" name="TextBox 37"/>
          <p:cNvSpPr txBox="1"/>
          <p:nvPr/>
        </p:nvSpPr>
        <p:spPr>
          <a:xfrm>
            <a:off x="13680000" y="3016800"/>
            <a:ext cx="1080000" cy="175920"/>
          </a:xfrm>
          <a:prstGeom prst="rect">
            <a:avLst/>
          </a:prstGeom>
          <a:noFill/>
        </p:spPr>
        <p:txBody>
          <a:bodyPr wrap="square" lIns="0" rIns="0" tIns="0" bIns="0" anchor="t">
            <a:spAutoFit/>
          </a:bodyPr>
          <a:lstStyle/>
          <a:p>
            <a:pPr algn="r">
              <a:lnSpc>
                <a:spcPts val="960"/>
              </a:lnSpc>
            </a:pPr>
            <a:r>
              <a:rPr sz="720">
                <a:solidFill>
                  <a:srgbClr val="4A4A4A"/>
                </a:solidFill>
                <a:latin typeface="Archivo"/>
              </a:rPr>
              <a:t>03</a:t>
            </a:r>
          </a:p>
        </p:txBody>
      </p:sp>
      <p:sp>
        <p:nvSpPr>
          <p:cNvPr id="39" name="TextBox 38"/>
          <p:cNvSpPr txBox="1"/>
          <p:nvPr/>
        </p:nvSpPr>
        <p:spPr>
          <a:xfrm>
            <a:off x="9468000" y="3171600"/>
            <a:ext cx="4212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D.A de la bibliothèque</a:t>
            </a:r>
          </a:p>
        </p:txBody>
      </p:sp>
      <p:sp>
        <p:nvSpPr>
          <p:cNvPr id="40" name="TextBox 39"/>
          <p:cNvSpPr txBox="1"/>
          <p:nvPr/>
        </p:nvSpPr>
        <p:spPr>
          <a:xfrm>
            <a:off x="13680000" y="3171600"/>
            <a:ext cx="1080000" cy="175920"/>
          </a:xfrm>
          <a:prstGeom prst="rect">
            <a:avLst/>
          </a:prstGeom>
          <a:noFill/>
        </p:spPr>
        <p:txBody>
          <a:bodyPr wrap="square" lIns="0" rIns="0" tIns="0" bIns="0" anchor="t">
            <a:spAutoFit/>
          </a:bodyPr>
          <a:lstStyle/>
          <a:p>
            <a:pPr algn="r">
              <a:lnSpc>
                <a:spcPts val="960"/>
              </a:lnSpc>
            </a:pPr>
            <a:r>
              <a:rPr sz="720">
                <a:solidFill>
                  <a:srgbClr val="4A4A4A"/>
                </a:solidFill>
                <a:latin typeface="Archivo"/>
              </a:rPr>
              <a:t>04</a:t>
            </a:r>
          </a:p>
        </p:txBody>
      </p:sp>
      <p:sp>
        <p:nvSpPr>
          <p:cNvPr id="41" name="TextBox 40"/>
          <p:cNvSpPr txBox="1"/>
          <p:nvPr/>
        </p:nvSpPr>
        <p:spPr>
          <a:xfrm>
            <a:off x="9468000" y="3326399"/>
            <a:ext cx="4212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A01 Plan du RDC, aménagement</a:t>
            </a:r>
          </a:p>
        </p:txBody>
      </p:sp>
      <p:sp>
        <p:nvSpPr>
          <p:cNvPr id="42" name="TextBox 41"/>
          <p:cNvSpPr txBox="1"/>
          <p:nvPr/>
        </p:nvSpPr>
        <p:spPr>
          <a:xfrm>
            <a:off x="13680000" y="3326399"/>
            <a:ext cx="1080000" cy="175920"/>
          </a:xfrm>
          <a:prstGeom prst="rect">
            <a:avLst/>
          </a:prstGeom>
          <a:noFill/>
        </p:spPr>
        <p:txBody>
          <a:bodyPr wrap="square" lIns="0" rIns="0" tIns="0" bIns="0" anchor="t">
            <a:spAutoFit/>
          </a:bodyPr>
          <a:lstStyle/>
          <a:p>
            <a:pPr algn="r">
              <a:lnSpc>
                <a:spcPts val="960"/>
              </a:lnSpc>
            </a:pPr>
            <a:r>
              <a:rPr sz="720">
                <a:solidFill>
                  <a:srgbClr val="4A4A4A"/>
                </a:solidFill>
                <a:latin typeface="Archivo"/>
              </a:rPr>
              <a:t>05</a:t>
            </a:r>
          </a:p>
        </p:txBody>
      </p:sp>
      <p:sp>
        <p:nvSpPr>
          <p:cNvPr id="43" name="TextBox 42"/>
          <p:cNvSpPr txBox="1"/>
          <p:nvPr/>
        </p:nvSpPr>
        <p:spPr>
          <a:xfrm>
            <a:off x="9468000" y="3481199"/>
            <a:ext cx="4212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A02 Faux-plafond et réseaux</a:t>
            </a:r>
          </a:p>
        </p:txBody>
      </p:sp>
      <p:sp>
        <p:nvSpPr>
          <p:cNvPr id="44" name="TextBox 43"/>
          <p:cNvSpPr txBox="1"/>
          <p:nvPr/>
        </p:nvSpPr>
        <p:spPr>
          <a:xfrm>
            <a:off x="13680000" y="3481199"/>
            <a:ext cx="1080000" cy="175920"/>
          </a:xfrm>
          <a:prstGeom prst="rect">
            <a:avLst/>
          </a:prstGeom>
          <a:noFill/>
        </p:spPr>
        <p:txBody>
          <a:bodyPr wrap="square" lIns="0" rIns="0" tIns="0" bIns="0" anchor="t">
            <a:spAutoFit/>
          </a:bodyPr>
          <a:lstStyle/>
          <a:p>
            <a:pPr algn="r">
              <a:lnSpc>
                <a:spcPts val="960"/>
              </a:lnSpc>
            </a:pPr>
            <a:r>
              <a:rPr sz="720">
                <a:solidFill>
                  <a:srgbClr val="4A4A4A"/>
                </a:solidFill>
                <a:latin typeface="Archivo"/>
              </a:rPr>
              <a:t>06</a:t>
            </a:r>
          </a:p>
        </p:txBody>
      </p:sp>
      <p:sp>
        <p:nvSpPr>
          <p:cNvPr id="45" name="TextBox 44"/>
          <p:cNvSpPr txBox="1"/>
          <p:nvPr/>
        </p:nvSpPr>
        <p:spPr>
          <a:xfrm>
            <a:off x="9468000" y="3635999"/>
            <a:ext cx="4212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A03 Coupe AA</a:t>
            </a:r>
          </a:p>
        </p:txBody>
      </p:sp>
      <p:sp>
        <p:nvSpPr>
          <p:cNvPr id="46" name="TextBox 45"/>
          <p:cNvSpPr txBox="1"/>
          <p:nvPr/>
        </p:nvSpPr>
        <p:spPr>
          <a:xfrm>
            <a:off x="13680000" y="3635999"/>
            <a:ext cx="1080000" cy="175920"/>
          </a:xfrm>
          <a:prstGeom prst="rect">
            <a:avLst/>
          </a:prstGeom>
          <a:noFill/>
        </p:spPr>
        <p:txBody>
          <a:bodyPr wrap="square" lIns="0" rIns="0" tIns="0" bIns="0" anchor="t">
            <a:spAutoFit/>
          </a:bodyPr>
          <a:lstStyle/>
          <a:p>
            <a:pPr algn="r">
              <a:lnSpc>
                <a:spcPts val="960"/>
              </a:lnSpc>
            </a:pPr>
            <a:r>
              <a:rPr sz="720">
                <a:solidFill>
                  <a:srgbClr val="4A4A4A"/>
                </a:solidFill>
                <a:latin typeface="Archivo"/>
              </a:rPr>
              <a:t>07</a:t>
            </a:r>
          </a:p>
        </p:txBody>
      </p:sp>
      <p:sp>
        <p:nvSpPr>
          <p:cNvPr id="47" name="TextBox 46"/>
          <p:cNvSpPr txBox="1"/>
          <p:nvPr/>
        </p:nvSpPr>
        <p:spPr>
          <a:xfrm>
            <a:off x="9468000" y="3790799"/>
            <a:ext cx="4212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A04 Élévation de la devanture</a:t>
            </a:r>
          </a:p>
        </p:txBody>
      </p:sp>
      <p:sp>
        <p:nvSpPr>
          <p:cNvPr id="48" name="TextBox 47"/>
          <p:cNvSpPr txBox="1"/>
          <p:nvPr/>
        </p:nvSpPr>
        <p:spPr>
          <a:xfrm>
            <a:off x="13680000" y="3790799"/>
            <a:ext cx="1080000" cy="175920"/>
          </a:xfrm>
          <a:prstGeom prst="rect">
            <a:avLst/>
          </a:prstGeom>
          <a:noFill/>
        </p:spPr>
        <p:txBody>
          <a:bodyPr wrap="square" lIns="0" rIns="0" tIns="0" bIns="0" anchor="t">
            <a:spAutoFit/>
          </a:bodyPr>
          <a:lstStyle/>
          <a:p>
            <a:pPr algn="r">
              <a:lnSpc>
                <a:spcPts val="960"/>
              </a:lnSpc>
            </a:pPr>
            <a:r>
              <a:rPr sz="720">
                <a:solidFill>
                  <a:srgbClr val="4A4A4A"/>
                </a:solidFill>
                <a:latin typeface="Archivo"/>
              </a:rPr>
              <a:t>08</a:t>
            </a:r>
          </a:p>
        </p:txBody>
      </p:sp>
      <p:sp>
        <p:nvSpPr>
          <p:cNvPr id="49" name="TextBox 48"/>
          <p:cNvSpPr txBox="1"/>
          <p:nvPr/>
        </p:nvSpPr>
        <p:spPr>
          <a:xfrm>
            <a:off x="9468000" y="3945599"/>
            <a:ext cx="4212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A05 Élévations intérieures Est, Nord</a:t>
            </a:r>
          </a:p>
        </p:txBody>
      </p:sp>
      <p:sp>
        <p:nvSpPr>
          <p:cNvPr id="50" name="TextBox 49"/>
          <p:cNvSpPr txBox="1"/>
          <p:nvPr/>
        </p:nvSpPr>
        <p:spPr>
          <a:xfrm>
            <a:off x="13680000" y="3945599"/>
            <a:ext cx="1080000" cy="175920"/>
          </a:xfrm>
          <a:prstGeom prst="rect">
            <a:avLst/>
          </a:prstGeom>
          <a:noFill/>
        </p:spPr>
        <p:txBody>
          <a:bodyPr wrap="square" lIns="0" rIns="0" tIns="0" bIns="0" anchor="t">
            <a:spAutoFit/>
          </a:bodyPr>
          <a:lstStyle/>
          <a:p>
            <a:pPr algn="r">
              <a:lnSpc>
                <a:spcPts val="960"/>
              </a:lnSpc>
            </a:pPr>
            <a:r>
              <a:rPr sz="720">
                <a:solidFill>
                  <a:srgbClr val="4A4A4A"/>
                </a:solidFill>
                <a:latin typeface="Archivo"/>
              </a:rPr>
              <a:t>09</a:t>
            </a:r>
          </a:p>
        </p:txBody>
      </p:sp>
      <p:sp>
        <p:nvSpPr>
          <p:cNvPr id="51" name="TextBox 50"/>
          <p:cNvSpPr txBox="1"/>
          <p:nvPr/>
        </p:nvSpPr>
        <p:spPr>
          <a:xfrm>
            <a:off x="9468000" y="4100399"/>
            <a:ext cx="4212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A06 Élévations intérieures Sud, Ouest</a:t>
            </a:r>
          </a:p>
        </p:txBody>
      </p:sp>
      <p:sp>
        <p:nvSpPr>
          <p:cNvPr id="52" name="TextBox 51"/>
          <p:cNvSpPr txBox="1"/>
          <p:nvPr/>
        </p:nvSpPr>
        <p:spPr>
          <a:xfrm>
            <a:off x="13680000" y="4100399"/>
            <a:ext cx="1080000" cy="175920"/>
          </a:xfrm>
          <a:prstGeom prst="rect">
            <a:avLst/>
          </a:prstGeom>
          <a:noFill/>
        </p:spPr>
        <p:txBody>
          <a:bodyPr wrap="square" lIns="0" rIns="0" tIns="0" bIns="0" anchor="t">
            <a:spAutoFit/>
          </a:bodyPr>
          <a:lstStyle/>
          <a:p>
            <a:pPr algn="r">
              <a:lnSpc>
                <a:spcPts val="960"/>
              </a:lnSpc>
            </a:pPr>
            <a:r>
              <a:rPr sz="720">
                <a:solidFill>
                  <a:srgbClr val="4A4A4A"/>
                </a:solidFill>
                <a:latin typeface="Archivo"/>
              </a:rPr>
              <a:t>10</a:t>
            </a:r>
          </a:p>
        </p:txBody>
      </p:sp>
      <p:sp>
        <p:nvSpPr>
          <p:cNvPr id="53" name="TextBox 52"/>
          <p:cNvSpPr txBox="1"/>
          <p:nvPr/>
        </p:nvSpPr>
        <p:spPr>
          <a:xfrm>
            <a:off x="9468000" y="4255199"/>
            <a:ext cx="4212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A07 Vues 3D de la maquette</a:t>
            </a:r>
          </a:p>
        </p:txBody>
      </p:sp>
      <p:sp>
        <p:nvSpPr>
          <p:cNvPr id="54" name="TextBox 53"/>
          <p:cNvSpPr txBox="1"/>
          <p:nvPr/>
        </p:nvSpPr>
        <p:spPr>
          <a:xfrm>
            <a:off x="13680000" y="4255199"/>
            <a:ext cx="1080000" cy="175920"/>
          </a:xfrm>
          <a:prstGeom prst="rect">
            <a:avLst/>
          </a:prstGeom>
          <a:noFill/>
        </p:spPr>
        <p:txBody>
          <a:bodyPr wrap="square" lIns="0" rIns="0" tIns="0" bIns="0" anchor="t">
            <a:spAutoFit/>
          </a:bodyPr>
          <a:lstStyle/>
          <a:p>
            <a:pPr algn="r">
              <a:lnSpc>
                <a:spcPts val="960"/>
              </a:lnSpc>
            </a:pPr>
            <a:r>
              <a:rPr sz="720">
                <a:solidFill>
                  <a:srgbClr val="4A4A4A"/>
                </a:solidFill>
                <a:latin typeface="Archivo"/>
              </a:rPr>
              <a:t>11</a:t>
            </a:r>
          </a:p>
        </p:txBody>
      </p:sp>
      <p:sp>
        <p:nvSpPr>
          <p:cNvPr id="55" name="TextBox 54"/>
          <p:cNvSpPr txBox="1"/>
          <p:nvPr/>
        </p:nvSpPr>
        <p:spPr>
          <a:xfrm>
            <a:off x="9468000" y="4409999"/>
            <a:ext cx="4212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A08 Axonométries</a:t>
            </a:r>
          </a:p>
        </p:txBody>
      </p:sp>
      <p:sp>
        <p:nvSpPr>
          <p:cNvPr id="56" name="TextBox 55"/>
          <p:cNvSpPr txBox="1"/>
          <p:nvPr/>
        </p:nvSpPr>
        <p:spPr>
          <a:xfrm>
            <a:off x="13680000" y="4409999"/>
            <a:ext cx="1080000" cy="175920"/>
          </a:xfrm>
          <a:prstGeom prst="rect">
            <a:avLst/>
          </a:prstGeom>
          <a:noFill/>
        </p:spPr>
        <p:txBody>
          <a:bodyPr wrap="square" lIns="0" rIns="0" tIns="0" bIns="0" anchor="t">
            <a:spAutoFit/>
          </a:bodyPr>
          <a:lstStyle/>
          <a:p>
            <a:pPr algn="r">
              <a:lnSpc>
                <a:spcPts val="960"/>
              </a:lnSpc>
            </a:pPr>
            <a:r>
              <a:rPr sz="720">
                <a:solidFill>
                  <a:srgbClr val="4A4A4A"/>
                </a:solidFill>
                <a:latin typeface="Archivo"/>
              </a:rPr>
              <a:t>12</a:t>
            </a:r>
          </a:p>
        </p:txBody>
      </p:sp>
      <p:sp>
        <p:nvSpPr>
          <p:cNvPr id="57" name="TextBox 56"/>
          <p:cNvSpPr txBox="1"/>
          <p:nvPr/>
        </p:nvSpPr>
        <p:spPr>
          <a:xfrm>
            <a:off x="9468000" y="4564799"/>
            <a:ext cx="4212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R1 Rendu de la devanture</a:t>
            </a:r>
          </a:p>
        </p:txBody>
      </p:sp>
      <p:sp>
        <p:nvSpPr>
          <p:cNvPr id="58" name="TextBox 57"/>
          <p:cNvSpPr txBox="1"/>
          <p:nvPr/>
        </p:nvSpPr>
        <p:spPr>
          <a:xfrm>
            <a:off x="13680000" y="4564799"/>
            <a:ext cx="1080000" cy="175920"/>
          </a:xfrm>
          <a:prstGeom prst="rect">
            <a:avLst/>
          </a:prstGeom>
          <a:noFill/>
        </p:spPr>
        <p:txBody>
          <a:bodyPr wrap="square" lIns="0" rIns="0" tIns="0" bIns="0" anchor="t">
            <a:spAutoFit/>
          </a:bodyPr>
          <a:lstStyle/>
          <a:p>
            <a:pPr algn="r">
              <a:lnSpc>
                <a:spcPts val="960"/>
              </a:lnSpc>
            </a:pPr>
            <a:r>
              <a:rPr sz="720">
                <a:solidFill>
                  <a:srgbClr val="4A4A4A"/>
                </a:solidFill>
                <a:latin typeface="Archivo"/>
              </a:rPr>
              <a:t>13</a:t>
            </a:r>
          </a:p>
        </p:txBody>
      </p:sp>
      <p:sp>
        <p:nvSpPr>
          <p:cNvPr id="59" name="TextBox 58"/>
          <p:cNvSpPr txBox="1"/>
          <p:nvPr/>
        </p:nvSpPr>
        <p:spPr>
          <a:xfrm>
            <a:off x="9468000" y="4719599"/>
            <a:ext cx="4212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R2 Rendus intérieurs</a:t>
            </a:r>
          </a:p>
        </p:txBody>
      </p:sp>
      <p:sp>
        <p:nvSpPr>
          <p:cNvPr id="60" name="TextBox 59"/>
          <p:cNvSpPr txBox="1"/>
          <p:nvPr/>
        </p:nvSpPr>
        <p:spPr>
          <a:xfrm>
            <a:off x="13680000" y="4719599"/>
            <a:ext cx="1080000" cy="175920"/>
          </a:xfrm>
          <a:prstGeom prst="rect">
            <a:avLst/>
          </a:prstGeom>
          <a:noFill/>
        </p:spPr>
        <p:txBody>
          <a:bodyPr wrap="square" lIns="0" rIns="0" tIns="0" bIns="0" anchor="t">
            <a:spAutoFit/>
          </a:bodyPr>
          <a:lstStyle/>
          <a:p>
            <a:pPr algn="r">
              <a:lnSpc>
                <a:spcPts val="960"/>
              </a:lnSpc>
            </a:pPr>
            <a:r>
              <a:rPr sz="720">
                <a:solidFill>
                  <a:srgbClr val="4A4A4A"/>
                </a:solidFill>
                <a:latin typeface="Archivo"/>
              </a:rPr>
              <a:t>14</a:t>
            </a:r>
          </a:p>
        </p:txBody>
      </p:sp>
      <p:sp>
        <p:nvSpPr>
          <p:cNvPr id="61" name="TextBox 60"/>
          <p:cNvSpPr txBox="1"/>
          <p:nvPr/>
        </p:nvSpPr>
        <p:spPr>
          <a:xfrm>
            <a:off x="9468000" y="4874399"/>
            <a:ext cx="4212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R3 L'arbre à livres</a:t>
            </a:r>
          </a:p>
        </p:txBody>
      </p:sp>
      <p:sp>
        <p:nvSpPr>
          <p:cNvPr id="62" name="TextBox 61"/>
          <p:cNvSpPr txBox="1"/>
          <p:nvPr/>
        </p:nvSpPr>
        <p:spPr>
          <a:xfrm>
            <a:off x="13680000" y="4874399"/>
            <a:ext cx="1080000" cy="175920"/>
          </a:xfrm>
          <a:prstGeom prst="rect">
            <a:avLst/>
          </a:prstGeom>
          <a:noFill/>
        </p:spPr>
        <p:txBody>
          <a:bodyPr wrap="square" lIns="0" rIns="0" tIns="0" bIns="0" anchor="t">
            <a:spAutoFit/>
          </a:bodyPr>
          <a:lstStyle/>
          <a:p>
            <a:pPr algn="r">
              <a:lnSpc>
                <a:spcPts val="960"/>
              </a:lnSpc>
            </a:pPr>
            <a:r>
              <a:rPr sz="720">
                <a:solidFill>
                  <a:srgbClr val="4A4A4A"/>
                </a:solidFill>
                <a:latin typeface="Archivo"/>
              </a:rPr>
              <a:t>15</a:t>
            </a:r>
          </a:p>
        </p:txBody>
      </p:sp>
      <p:sp>
        <p:nvSpPr>
          <p:cNvPr id="63" name="TextBox 62"/>
          <p:cNvSpPr txBox="1"/>
          <p:nvPr/>
        </p:nvSpPr>
        <p:spPr>
          <a:xfrm>
            <a:off x="9468000" y="5029200"/>
            <a:ext cx="4212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T01 Électricité, courants forts</a:t>
            </a:r>
          </a:p>
        </p:txBody>
      </p:sp>
      <p:sp>
        <p:nvSpPr>
          <p:cNvPr id="64" name="TextBox 63"/>
          <p:cNvSpPr txBox="1"/>
          <p:nvPr/>
        </p:nvSpPr>
        <p:spPr>
          <a:xfrm>
            <a:off x="13680000" y="5029200"/>
            <a:ext cx="1080000" cy="175920"/>
          </a:xfrm>
          <a:prstGeom prst="rect">
            <a:avLst/>
          </a:prstGeom>
          <a:noFill/>
        </p:spPr>
        <p:txBody>
          <a:bodyPr wrap="square" lIns="0" rIns="0" tIns="0" bIns="0" anchor="t">
            <a:spAutoFit/>
          </a:bodyPr>
          <a:lstStyle/>
          <a:p>
            <a:pPr algn="r">
              <a:lnSpc>
                <a:spcPts val="960"/>
              </a:lnSpc>
            </a:pPr>
            <a:r>
              <a:rPr sz="720">
                <a:solidFill>
                  <a:srgbClr val="4A4A4A"/>
                </a:solidFill>
                <a:latin typeface="Archivo"/>
              </a:rPr>
              <a:t>16</a:t>
            </a:r>
          </a:p>
        </p:txBody>
      </p:sp>
      <p:sp>
        <p:nvSpPr>
          <p:cNvPr id="65" name="TextBox 64"/>
          <p:cNvSpPr txBox="1"/>
          <p:nvPr/>
        </p:nvSpPr>
        <p:spPr>
          <a:xfrm>
            <a:off x="9468000" y="5184000"/>
            <a:ext cx="4212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T02 Courants faibles, éclairage et BAES</a:t>
            </a:r>
          </a:p>
        </p:txBody>
      </p:sp>
      <p:sp>
        <p:nvSpPr>
          <p:cNvPr id="66" name="TextBox 65"/>
          <p:cNvSpPr txBox="1"/>
          <p:nvPr/>
        </p:nvSpPr>
        <p:spPr>
          <a:xfrm>
            <a:off x="13680000" y="5184000"/>
            <a:ext cx="1080000" cy="175920"/>
          </a:xfrm>
          <a:prstGeom prst="rect">
            <a:avLst/>
          </a:prstGeom>
          <a:noFill/>
        </p:spPr>
        <p:txBody>
          <a:bodyPr wrap="square" lIns="0" rIns="0" tIns="0" bIns="0" anchor="t">
            <a:spAutoFit/>
          </a:bodyPr>
          <a:lstStyle/>
          <a:p>
            <a:pPr algn="r">
              <a:lnSpc>
                <a:spcPts val="960"/>
              </a:lnSpc>
            </a:pPr>
            <a:r>
              <a:rPr sz="720">
                <a:solidFill>
                  <a:srgbClr val="4A4A4A"/>
                </a:solidFill>
                <a:latin typeface="Archivo"/>
              </a:rPr>
              <a:t>17</a:t>
            </a:r>
          </a:p>
        </p:txBody>
      </p:sp>
      <p:sp>
        <p:nvSpPr>
          <p:cNvPr id="67" name="TextBox 66"/>
          <p:cNvSpPr txBox="1"/>
          <p:nvPr/>
        </p:nvSpPr>
        <p:spPr>
          <a:xfrm>
            <a:off x="9468000" y="5338800"/>
            <a:ext cx="4212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T03 AEP, EU, EV</a:t>
            </a:r>
          </a:p>
        </p:txBody>
      </p:sp>
      <p:sp>
        <p:nvSpPr>
          <p:cNvPr id="68" name="TextBox 67"/>
          <p:cNvSpPr txBox="1"/>
          <p:nvPr/>
        </p:nvSpPr>
        <p:spPr>
          <a:xfrm>
            <a:off x="13680000" y="5338800"/>
            <a:ext cx="1080000" cy="175920"/>
          </a:xfrm>
          <a:prstGeom prst="rect">
            <a:avLst/>
          </a:prstGeom>
          <a:noFill/>
        </p:spPr>
        <p:txBody>
          <a:bodyPr wrap="square" lIns="0" rIns="0" tIns="0" bIns="0" anchor="t">
            <a:spAutoFit/>
          </a:bodyPr>
          <a:lstStyle/>
          <a:p>
            <a:pPr algn="r">
              <a:lnSpc>
                <a:spcPts val="960"/>
              </a:lnSpc>
            </a:pPr>
            <a:r>
              <a:rPr sz="720">
                <a:solidFill>
                  <a:srgbClr val="4A4A4A"/>
                </a:solidFill>
                <a:latin typeface="Archivo"/>
              </a:rPr>
              <a:t>18</a:t>
            </a:r>
          </a:p>
        </p:txBody>
      </p:sp>
      <p:sp>
        <p:nvSpPr>
          <p:cNvPr id="69" name="TextBox 68"/>
          <p:cNvSpPr txBox="1"/>
          <p:nvPr/>
        </p:nvSpPr>
        <p:spPr>
          <a:xfrm>
            <a:off x="9468000" y="5493600"/>
            <a:ext cx="4212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T04 Détails techniques</a:t>
            </a:r>
          </a:p>
        </p:txBody>
      </p:sp>
      <p:sp>
        <p:nvSpPr>
          <p:cNvPr id="70" name="TextBox 69"/>
          <p:cNvSpPr txBox="1"/>
          <p:nvPr/>
        </p:nvSpPr>
        <p:spPr>
          <a:xfrm>
            <a:off x="13680000" y="5493600"/>
            <a:ext cx="1080000" cy="175920"/>
          </a:xfrm>
          <a:prstGeom prst="rect">
            <a:avLst/>
          </a:prstGeom>
          <a:noFill/>
        </p:spPr>
        <p:txBody>
          <a:bodyPr wrap="square" lIns="0" rIns="0" tIns="0" bIns="0" anchor="t">
            <a:spAutoFit/>
          </a:bodyPr>
          <a:lstStyle/>
          <a:p>
            <a:pPr algn="r">
              <a:lnSpc>
                <a:spcPts val="960"/>
              </a:lnSpc>
            </a:pPr>
            <a:r>
              <a:rPr sz="720">
                <a:solidFill>
                  <a:srgbClr val="4A4A4A"/>
                </a:solidFill>
                <a:latin typeface="Archivo"/>
              </a:rPr>
              <a:t>19</a:t>
            </a:r>
          </a:p>
        </p:txBody>
      </p:sp>
      <p:sp>
        <p:nvSpPr>
          <p:cNvPr id="71" name="TextBox 70"/>
          <p:cNvSpPr txBox="1"/>
          <p:nvPr/>
        </p:nvSpPr>
        <p:spPr>
          <a:xfrm>
            <a:off x="9468000" y="5648400"/>
            <a:ext cx="4212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T05 Schéma unifilaire et bilan de puissance</a:t>
            </a:r>
          </a:p>
        </p:txBody>
      </p:sp>
      <p:sp>
        <p:nvSpPr>
          <p:cNvPr id="72" name="TextBox 71"/>
          <p:cNvSpPr txBox="1"/>
          <p:nvPr/>
        </p:nvSpPr>
        <p:spPr>
          <a:xfrm>
            <a:off x="13680000" y="5648400"/>
            <a:ext cx="1080000" cy="175920"/>
          </a:xfrm>
          <a:prstGeom prst="rect">
            <a:avLst/>
          </a:prstGeom>
          <a:noFill/>
        </p:spPr>
        <p:txBody>
          <a:bodyPr wrap="square" lIns="0" rIns="0" tIns="0" bIns="0" anchor="t">
            <a:spAutoFit/>
          </a:bodyPr>
          <a:lstStyle/>
          <a:p>
            <a:pPr algn="r">
              <a:lnSpc>
                <a:spcPts val="960"/>
              </a:lnSpc>
            </a:pPr>
            <a:r>
              <a:rPr sz="720">
                <a:solidFill>
                  <a:srgbClr val="4A4A4A"/>
                </a:solidFill>
                <a:latin typeface="Archivo"/>
              </a:rPr>
              <a:t>20</a:t>
            </a:r>
          </a:p>
        </p:txBody>
      </p:sp>
      <p:sp>
        <p:nvSpPr>
          <p:cNvPr id="73" name="TextBox 72"/>
          <p:cNvSpPr txBox="1"/>
          <p:nvPr/>
        </p:nvSpPr>
        <p:spPr>
          <a:xfrm>
            <a:off x="9468000" y="5803200"/>
            <a:ext cx="4212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Cohérence et points ouverts</a:t>
            </a:r>
          </a:p>
        </p:txBody>
      </p:sp>
      <p:sp>
        <p:nvSpPr>
          <p:cNvPr id="74" name="TextBox 73"/>
          <p:cNvSpPr txBox="1"/>
          <p:nvPr/>
        </p:nvSpPr>
        <p:spPr>
          <a:xfrm>
            <a:off x="13680000" y="5803200"/>
            <a:ext cx="1080000" cy="175920"/>
          </a:xfrm>
          <a:prstGeom prst="rect">
            <a:avLst/>
          </a:prstGeom>
          <a:noFill/>
        </p:spPr>
        <p:txBody>
          <a:bodyPr wrap="square" lIns="0" rIns="0" tIns="0" bIns="0" anchor="t">
            <a:spAutoFit/>
          </a:bodyPr>
          <a:lstStyle/>
          <a:p>
            <a:pPr algn="r">
              <a:lnSpc>
                <a:spcPts val="960"/>
              </a:lnSpc>
            </a:pPr>
            <a:r>
              <a:rPr sz="720">
                <a:solidFill>
                  <a:srgbClr val="4A4A4A"/>
                </a:solidFill>
                <a:latin typeface="Archivo"/>
              </a:rPr>
              <a:t>21</a:t>
            </a:r>
          </a:p>
        </p:txBody>
      </p:sp>
      <p:sp>
        <p:nvSpPr>
          <p:cNvPr id="75" name="TextBox 74"/>
          <p:cNvSpPr txBox="1"/>
          <p:nvPr/>
        </p:nvSpPr>
        <p:spPr>
          <a:xfrm>
            <a:off x="9468000" y="6084000"/>
            <a:ext cx="5292000" cy="180999"/>
          </a:xfrm>
          <a:prstGeom prst="rect">
            <a:avLst/>
          </a:prstGeom>
          <a:noFill/>
        </p:spPr>
        <p:txBody>
          <a:bodyPr wrap="square" lIns="0" rIns="0" tIns="0" bIns="0" anchor="t">
            <a:spAutoFit/>
          </a:bodyPr>
          <a:lstStyle/>
          <a:p>
            <a:pPr algn="l">
              <a:lnSpc>
                <a:spcPts val="1000"/>
              </a:lnSpc>
            </a:pPr>
            <a:r>
              <a:rPr sz="740">
                <a:solidFill>
                  <a:srgbClr val="B4583E"/>
                </a:solidFill>
                <a:latin typeface="Archivo"/>
              </a:rPr>
              <a:t>ESPACES (IFCSPACE DE LA MAQUETTE)</a:t>
            </a:r>
          </a:p>
        </p:txBody>
      </p:sp>
      <p:sp>
        <p:nvSpPr>
          <p:cNvPr id="76" name="TextBox 75"/>
          <p:cNvSpPr txBox="1"/>
          <p:nvPr/>
        </p:nvSpPr>
        <p:spPr>
          <a:xfrm>
            <a:off x="9468000" y="6271200"/>
            <a:ext cx="4212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01 Salle de lecture</a:t>
            </a:r>
          </a:p>
        </p:txBody>
      </p:sp>
      <p:sp>
        <p:nvSpPr>
          <p:cNvPr id="77" name="TextBox 76"/>
          <p:cNvSpPr txBox="1"/>
          <p:nvPr/>
        </p:nvSpPr>
        <p:spPr>
          <a:xfrm>
            <a:off x="13680000" y="6271200"/>
            <a:ext cx="1080000" cy="175920"/>
          </a:xfrm>
          <a:prstGeom prst="rect">
            <a:avLst/>
          </a:prstGeom>
          <a:noFill/>
        </p:spPr>
        <p:txBody>
          <a:bodyPr wrap="square" lIns="0" rIns="0" tIns="0" bIns="0" anchor="t">
            <a:spAutoFit/>
          </a:bodyPr>
          <a:lstStyle/>
          <a:p>
            <a:pPr algn="r">
              <a:lnSpc>
                <a:spcPts val="960"/>
              </a:lnSpc>
            </a:pPr>
            <a:r>
              <a:rPr sz="720">
                <a:solidFill>
                  <a:srgbClr val="4A4A4A"/>
                </a:solidFill>
                <a:latin typeface="Archivo"/>
              </a:rPr>
              <a:t>24,07 m²</a:t>
            </a:r>
          </a:p>
        </p:txBody>
      </p:sp>
      <p:sp>
        <p:nvSpPr>
          <p:cNvPr id="78" name="TextBox 77"/>
          <p:cNvSpPr txBox="1"/>
          <p:nvPr/>
        </p:nvSpPr>
        <p:spPr>
          <a:xfrm>
            <a:off x="9468000" y="6426000"/>
            <a:ext cx="4212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02 Coin lecture, vitrine</a:t>
            </a:r>
          </a:p>
        </p:txBody>
      </p:sp>
      <p:sp>
        <p:nvSpPr>
          <p:cNvPr id="79" name="TextBox 78"/>
          <p:cNvSpPr txBox="1"/>
          <p:nvPr/>
        </p:nvSpPr>
        <p:spPr>
          <a:xfrm>
            <a:off x="13680000" y="6426000"/>
            <a:ext cx="1080000" cy="175920"/>
          </a:xfrm>
          <a:prstGeom prst="rect">
            <a:avLst/>
          </a:prstGeom>
          <a:noFill/>
        </p:spPr>
        <p:txBody>
          <a:bodyPr wrap="square" lIns="0" rIns="0" tIns="0" bIns="0" anchor="t">
            <a:spAutoFit/>
          </a:bodyPr>
          <a:lstStyle/>
          <a:p>
            <a:pPr algn="r">
              <a:lnSpc>
                <a:spcPts val="960"/>
              </a:lnSpc>
            </a:pPr>
            <a:r>
              <a:rPr sz="720">
                <a:solidFill>
                  <a:srgbClr val="4A4A4A"/>
                </a:solidFill>
                <a:latin typeface="Archivo"/>
              </a:rPr>
              <a:t>6,68 m²</a:t>
            </a:r>
          </a:p>
        </p:txBody>
      </p:sp>
      <p:sp>
        <p:nvSpPr>
          <p:cNvPr id="80" name="TextBox 79"/>
          <p:cNvSpPr txBox="1"/>
          <p:nvPr/>
        </p:nvSpPr>
        <p:spPr>
          <a:xfrm>
            <a:off x="9468000" y="6580800"/>
            <a:ext cx="4212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03 Salle de réunion</a:t>
            </a:r>
          </a:p>
        </p:txBody>
      </p:sp>
      <p:sp>
        <p:nvSpPr>
          <p:cNvPr id="81" name="TextBox 80"/>
          <p:cNvSpPr txBox="1"/>
          <p:nvPr/>
        </p:nvSpPr>
        <p:spPr>
          <a:xfrm>
            <a:off x="13680000" y="6580800"/>
            <a:ext cx="1080000" cy="175920"/>
          </a:xfrm>
          <a:prstGeom prst="rect">
            <a:avLst/>
          </a:prstGeom>
          <a:noFill/>
        </p:spPr>
        <p:txBody>
          <a:bodyPr wrap="square" lIns="0" rIns="0" tIns="0" bIns="0" anchor="t">
            <a:spAutoFit/>
          </a:bodyPr>
          <a:lstStyle/>
          <a:p>
            <a:pPr algn="r">
              <a:lnSpc>
                <a:spcPts val="960"/>
              </a:lnSpc>
            </a:pPr>
            <a:r>
              <a:rPr sz="720">
                <a:solidFill>
                  <a:srgbClr val="4A4A4A"/>
                </a:solidFill>
                <a:latin typeface="Archivo"/>
              </a:rPr>
              <a:t>7,21 m²</a:t>
            </a:r>
          </a:p>
        </p:txBody>
      </p:sp>
      <p:sp>
        <p:nvSpPr>
          <p:cNvPr id="82" name="TextBox 81"/>
          <p:cNvSpPr txBox="1"/>
          <p:nvPr/>
        </p:nvSpPr>
        <p:spPr>
          <a:xfrm>
            <a:off x="9468000" y="6735600"/>
            <a:ext cx="4212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04 Rangement</a:t>
            </a:r>
          </a:p>
        </p:txBody>
      </p:sp>
      <p:sp>
        <p:nvSpPr>
          <p:cNvPr id="83" name="TextBox 82"/>
          <p:cNvSpPr txBox="1"/>
          <p:nvPr/>
        </p:nvSpPr>
        <p:spPr>
          <a:xfrm>
            <a:off x="13680000" y="6735600"/>
            <a:ext cx="1080000" cy="175920"/>
          </a:xfrm>
          <a:prstGeom prst="rect">
            <a:avLst/>
          </a:prstGeom>
          <a:noFill/>
        </p:spPr>
        <p:txBody>
          <a:bodyPr wrap="square" lIns="0" rIns="0" tIns="0" bIns="0" anchor="t">
            <a:spAutoFit/>
          </a:bodyPr>
          <a:lstStyle/>
          <a:p>
            <a:pPr algn="r">
              <a:lnSpc>
                <a:spcPts val="960"/>
              </a:lnSpc>
            </a:pPr>
            <a:r>
              <a:rPr sz="720">
                <a:solidFill>
                  <a:srgbClr val="4A4A4A"/>
                </a:solidFill>
                <a:latin typeface="Archivo"/>
              </a:rPr>
              <a:t>1,37 m²</a:t>
            </a:r>
          </a:p>
        </p:txBody>
      </p:sp>
      <p:sp>
        <p:nvSpPr>
          <p:cNvPr id="84" name="TextBox 83"/>
          <p:cNvSpPr txBox="1"/>
          <p:nvPr/>
        </p:nvSpPr>
        <p:spPr>
          <a:xfrm>
            <a:off x="9468000" y="6890400"/>
            <a:ext cx="4212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05 Placard technique</a:t>
            </a:r>
          </a:p>
        </p:txBody>
      </p:sp>
      <p:sp>
        <p:nvSpPr>
          <p:cNvPr id="85" name="TextBox 84"/>
          <p:cNvSpPr txBox="1"/>
          <p:nvPr/>
        </p:nvSpPr>
        <p:spPr>
          <a:xfrm>
            <a:off x="13680000" y="6890400"/>
            <a:ext cx="1080000" cy="175920"/>
          </a:xfrm>
          <a:prstGeom prst="rect">
            <a:avLst/>
          </a:prstGeom>
          <a:noFill/>
        </p:spPr>
        <p:txBody>
          <a:bodyPr wrap="square" lIns="0" rIns="0" tIns="0" bIns="0" anchor="t">
            <a:spAutoFit/>
          </a:bodyPr>
          <a:lstStyle/>
          <a:p>
            <a:pPr algn="r">
              <a:lnSpc>
                <a:spcPts val="960"/>
              </a:lnSpc>
            </a:pPr>
            <a:r>
              <a:rPr sz="720">
                <a:solidFill>
                  <a:srgbClr val="4A4A4A"/>
                </a:solidFill>
                <a:latin typeface="Archivo"/>
              </a:rPr>
              <a:t>0,24 m²</a:t>
            </a:r>
          </a:p>
        </p:txBody>
      </p:sp>
      <p:sp>
        <p:nvSpPr>
          <p:cNvPr id="86" name="TextBox 85"/>
          <p:cNvSpPr txBox="1"/>
          <p:nvPr/>
        </p:nvSpPr>
        <p:spPr>
          <a:xfrm>
            <a:off x="9468000" y="7045200"/>
            <a:ext cx="4212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06 Dégagement</a:t>
            </a:r>
          </a:p>
        </p:txBody>
      </p:sp>
      <p:sp>
        <p:nvSpPr>
          <p:cNvPr id="87" name="TextBox 86"/>
          <p:cNvSpPr txBox="1"/>
          <p:nvPr/>
        </p:nvSpPr>
        <p:spPr>
          <a:xfrm>
            <a:off x="13680000" y="7045200"/>
            <a:ext cx="1080000" cy="175920"/>
          </a:xfrm>
          <a:prstGeom prst="rect">
            <a:avLst/>
          </a:prstGeom>
          <a:noFill/>
        </p:spPr>
        <p:txBody>
          <a:bodyPr wrap="square" lIns="0" rIns="0" tIns="0" bIns="0" anchor="t">
            <a:spAutoFit/>
          </a:bodyPr>
          <a:lstStyle/>
          <a:p>
            <a:pPr algn="r">
              <a:lnSpc>
                <a:spcPts val="960"/>
              </a:lnSpc>
            </a:pPr>
            <a:r>
              <a:rPr sz="720">
                <a:solidFill>
                  <a:srgbClr val="4A4A4A"/>
                </a:solidFill>
                <a:latin typeface="Archivo"/>
              </a:rPr>
              <a:t>1,11 m²</a:t>
            </a:r>
          </a:p>
        </p:txBody>
      </p:sp>
      <p:sp>
        <p:nvSpPr>
          <p:cNvPr id="88" name="TextBox 87"/>
          <p:cNvSpPr txBox="1"/>
          <p:nvPr/>
        </p:nvSpPr>
        <p:spPr>
          <a:xfrm>
            <a:off x="9468000" y="7200000"/>
            <a:ext cx="4212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07 WC</a:t>
            </a:r>
          </a:p>
        </p:txBody>
      </p:sp>
      <p:sp>
        <p:nvSpPr>
          <p:cNvPr id="89" name="TextBox 88"/>
          <p:cNvSpPr txBox="1"/>
          <p:nvPr/>
        </p:nvSpPr>
        <p:spPr>
          <a:xfrm>
            <a:off x="13680000" y="7200000"/>
            <a:ext cx="1080000" cy="175920"/>
          </a:xfrm>
          <a:prstGeom prst="rect">
            <a:avLst/>
          </a:prstGeom>
          <a:noFill/>
        </p:spPr>
        <p:txBody>
          <a:bodyPr wrap="square" lIns="0" rIns="0" tIns="0" bIns="0" anchor="t">
            <a:spAutoFit/>
          </a:bodyPr>
          <a:lstStyle/>
          <a:p>
            <a:pPr algn="r">
              <a:lnSpc>
                <a:spcPts val="960"/>
              </a:lnSpc>
            </a:pPr>
            <a:r>
              <a:rPr sz="720">
                <a:solidFill>
                  <a:srgbClr val="4A4A4A"/>
                </a:solidFill>
                <a:latin typeface="Archivo"/>
              </a:rPr>
              <a:t>2,87 m²</a:t>
            </a:r>
          </a:p>
        </p:txBody>
      </p:sp>
      <p:sp>
        <p:nvSpPr>
          <p:cNvPr id="90" name="TextBox 89"/>
          <p:cNvSpPr txBox="1"/>
          <p:nvPr/>
        </p:nvSpPr>
        <p:spPr>
          <a:xfrm>
            <a:off x="9468000" y="7354800"/>
            <a:ext cx="4212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Total intérieur</a:t>
            </a:r>
          </a:p>
        </p:txBody>
      </p:sp>
      <p:sp>
        <p:nvSpPr>
          <p:cNvPr id="91" name="TextBox 90"/>
          <p:cNvSpPr txBox="1"/>
          <p:nvPr/>
        </p:nvSpPr>
        <p:spPr>
          <a:xfrm>
            <a:off x="13680000" y="7354800"/>
            <a:ext cx="1080000" cy="175920"/>
          </a:xfrm>
          <a:prstGeom prst="rect">
            <a:avLst/>
          </a:prstGeom>
          <a:noFill/>
        </p:spPr>
        <p:txBody>
          <a:bodyPr wrap="square" lIns="0" rIns="0" tIns="0" bIns="0" anchor="t">
            <a:spAutoFit/>
          </a:bodyPr>
          <a:lstStyle/>
          <a:p>
            <a:pPr algn="r">
              <a:lnSpc>
                <a:spcPts val="960"/>
              </a:lnSpc>
            </a:pPr>
            <a:r>
              <a:rPr sz="720">
                <a:solidFill>
                  <a:srgbClr val="4A4A4A"/>
                </a:solidFill>
                <a:latin typeface="Archivo"/>
              </a:rPr>
              <a:t>43,55 m²</a:t>
            </a:r>
          </a:p>
        </p:txBody>
      </p:sp>
      <p:sp>
        <p:nvSpPr>
          <p:cNvPr id="92" name="TextBox 91"/>
          <p:cNvSpPr txBox="1"/>
          <p:nvPr/>
        </p:nvSpPr>
        <p:spPr>
          <a:xfrm>
            <a:off x="9468000" y="7509600"/>
            <a:ext cx="4212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08 Terrasse couverte</a:t>
            </a:r>
          </a:p>
        </p:txBody>
      </p:sp>
      <p:sp>
        <p:nvSpPr>
          <p:cNvPr id="93" name="TextBox 92"/>
          <p:cNvSpPr txBox="1"/>
          <p:nvPr/>
        </p:nvSpPr>
        <p:spPr>
          <a:xfrm>
            <a:off x="13680000" y="7509600"/>
            <a:ext cx="1080000" cy="175920"/>
          </a:xfrm>
          <a:prstGeom prst="rect">
            <a:avLst/>
          </a:prstGeom>
          <a:noFill/>
        </p:spPr>
        <p:txBody>
          <a:bodyPr wrap="square" lIns="0" rIns="0" tIns="0" bIns="0" anchor="t">
            <a:spAutoFit/>
          </a:bodyPr>
          <a:lstStyle/>
          <a:p>
            <a:pPr algn="r">
              <a:lnSpc>
                <a:spcPts val="960"/>
              </a:lnSpc>
            </a:pPr>
            <a:r>
              <a:rPr sz="720">
                <a:solidFill>
                  <a:srgbClr val="4A4A4A"/>
                </a:solidFill>
                <a:latin typeface="Archivo"/>
              </a:rPr>
              <a:t>15,74 m²</a:t>
            </a:r>
          </a:p>
        </p:txBody>
      </p:sp>
      <p:cxnSp>
        <p:nvCxnSpPr>
          <p:cNvPr id="94" name="Connector 93"/>
          <p:cNvCxnSpPr/>
          <p:nvPr/>
        </p:nvCxnSpPr>
        <p:spPr>
          <a:xfrm>
            <a:off x="9468000" y="8856000"/>
            <a:ext cx="5292000" cy="0"/>
          </a:xfrm>
          <a:prstGeom prst="line">
            <a:avLst/>
          </a:prstGeom>
          <a:ln w="3810">
            <a:solidFill>
              <a:srgbClr val="C8C8C8"/>
            </a:solidFill>
          </a:ln>
        </p:spPr>
        <p:style>
          <a:lnRef idx="2">
            <a:schemeClr val="accent1"/>
          </a:lnRef>
          <a:fillRef idx="0">
            <a:schemeClr val="accent1"/>
          </a:fillRef>
          <a:effectRef idx="1">
            <a:schemeClr val="accent1"/>
          </a:effectRef>
          <a:fontRef idx="minor">
            <a:schemeClr val="tx1"/>
          </a:fontRef>
        </p:style>
      </p:cxnSp>
      <p:sp>
        <p:nvSpPr>
          <p:cNvPr id="95" name="TextBox 94"/>
          <p:cNvSpPr txBox="1"/>
          <p:nvPr/>
        </p:nvSpPr>
        <p:spPr>
          <a:xfrm>
            <a:off x="9468000" y="89820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PROJET</a:t>
            </a:r>
          </a:p>
        </p:txBody>
      </p:sp>
      <p:sp>
        <p:nvSpPr>
          <p:cNvPr id="96" name="TextBox 95"/>
          <p:cNvSpPr txBox="1"/>
          <p:nvPr/>
        </p:nvSpPr>
        <p:spPr>
          <a:xfrm>
            <a:off x="10260000" y="89820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Bibliothèque Decimo · RDC sous logements, Deux Plateaux, Abidjan</a:t>
            </a:r>
          </a:p>
        </p:txBody>
      </p:sp>
      <p:sp>
        <p:nvSpPr>
          <p:cNvPr id="97" name="TextBox 96"/>
          <p:cNvSpPr txBox="1"/>
          <p:nvPr/>
        </p:nvSpPr>
        <p:spPr>
          <a:xfrm>
            <a:off x="9468000" y="91476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PHASE</a:t>
            </a:r>
          </a:p>
        </p:txBody>
      </p:sp>
      <p:sp>
        <p:nvSpPr>
          <p:cNvPr id="98" name="TextBox 97"/>
          <p:cNvSpPr txBox="1"/>
          <p:nvPr/>
        </p:nvSpPr>
        <p:spPr>
          <a:xfrm>
            <a:off x="10260000" y="91476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ESQ V5 · aménagement sur existant V4</a:t>
            </a:r>
          </a:p>
        </p:txBody>
      </p:sp>
      <p:sp>
        <p:nvSpPr>
          <p:cNvPr id="99" name="TextBox 98"/>
          <p:cNvSpPr txBox="1"/>
          <p:nvPr/>
        </p:nvSpPr>
        <p:spPr>
          <a:xfrm>
            <a:off x="9468000" y="93132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PLANCHE</a:t>
            </a:r>
          </a:p>
        </p:txBody>
      </p:sp>
      <p:sp>
        <p:nvSpPr>
          <p:cNvPr id="100" name="TextBox 99"/>
          <p:cNvSpPr txBox="1"/>
          <p:nvPr/>
        </p:nvSpPr>
        <p:spPr>
          <a:xfrm>
            <a:off x="10260000" y="93132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02 · Le projet</a:t>
            </a:r>
          </a:p>
        </p:txBody>
      </p:sp>
      <p:sp>
        <p:nvSpPr>
          <p:cNvPr id="101" name="TextBox 100"/>
          <p:cNvSpPr txBox="1"/>
          <p:nvPr/>
        </p:nvSpPr>
        <p:spPr>
          <a:xfrm>
            <a:off x="9468000" y="94788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ÉCHELLE</a:t>
            </a:r>
          </a:p>
        </p:txBody>
      </p:sp>
      <p:sp>
        <p:nvSpPr>
          <p:cNvPr id="102" name="TextBox 101"/>
          <p:cNvSpPr txBox="1"/>
          <p:nvPr/>
        </p:nvSpPr>
        <p:spPr>
          <a:xfrm>
            <a:off x="10260000" y="94788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sans échelle · format A3 paysage</a:t>
            </a:r>
          </a:p>
        </p:txBody>
      </p:sp>
      <p:sp>
        <p:nvSpPr>
          <p:cNvPr id="103" name="TextBox 102"/>
          <p:cNvSpPr txBox="1"/>
          <p:nvPr/>
        </p:nvSpPr>
        <p:spPr>
          <a:xfrm>
            <a:off x="9468000" y="96444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MAQUETTE</a:t>
            </a:r>
          </a:p>
        </p:txBody>
      </p:sp>
      <p:sp>
        <p:nvSpPr>
          <p:cNvPr id="104" name="TextBox 103"/>
          <p:cNvSpPr txBox="1"/>
          <p:nvPr/>
        </p:nvSpPr>
        <p:spPr>
          <a:xfrm>
            <a:off x="10260000" y="96444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v5/DECIMO_ESQ_V5.ifc (IFC4)</a:t>
            </a:r>
          </a:p>
        </p:txBody>
      </p:sp>
      <p:sp>
        <p:nvSpPr>
          <p:cNvPr id="105" name="TextBox 104"/>
          <p:cNvSpPr txBox="1"/>
          <p:nvPr/>
        </p:nvSpPr>
        <p:spPr>
          <a:xfrm>
            <a:off x="9468000" y="98100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DATE</a:t>
            </a:r>
          </a:p>
        </p:txBody>
      </p:sp>
      <p:sp>
        <p:nvSpPr>
          <p:cNvPr id="106" name="TextBox 105"/>
          <p:cNvSpPr txBox="1"/>
          <p:nvPr/>
        </p:nvSpPr>
        <p:spPr>
          <a:xfrm>
            <a:off x="10260000" y="98100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15 octobre 2026 · indice C</a:t>
            </a:r>
          </a:p>
        </p:txBody>
      </p:sp>
      <p:sp>
        <p:nvSpPr>
          <p:cNvPr id="107" name="TextBox 106"/>
          <p:cNvSpPr txBox="1"/>
          <p:nvPr/>
        </p:nvSpPr>
        <p:spPr>
          <a:xfrm>
            <a:off x="9468000" y="10404000"/>
            <a:ext cx="1440000" cy="155600"/>
          </a:xfrm>
          <a:prstGeom prst="rect">
            <a:avLst/>
          </a:prstGeom>
          <a:noFill/>
        </p:spPr>
        <p:txBody>
          <a:bodyPr wrap="square" lIns="0" rIns="0" tIns="0" bIns="0" anchor="t">
            <a:spAutoFit/>
          </a:bodyPr>
          <a:lstStyle/>
          <a:p>
            <a:pPr algn="l">
              <a:lnSpc>
                <a:spcPts val="800"/>
              </a:lnSpc>
            </a:pPr>
            <a:r>
              <a:rPr sz="650">
                <a:solidFill>
                  <a:srgbClr val="4A4A4A"/>
                </a:solidFill>
                <a:latin typeface="Manrope"/>
              </a:rPr>
              <a:t>K&amp;Démi</a:t>
            </a:r>
          </a:p>
        </p:txBody>
      </p:sp>
      <p:sp>
        <p:nvSpPr>
          <p:cNvPr id="108" name="TextBox 107"/>
          <p:cNvSpPr txBox="1"/>
          <p:nvPr/>
        </p:nvSpPr>
        <p:spPr>
          <a:xfrm>
            <a:off x="12600000" y="10404000"/>
            <a:ext cx="2160000" cy="155600"/>
          </a:xfrm>
          <a:prstGeom prst="rect">
            <a:avLst/>
          </a:prstGeom>
          <a:noFill/>
        </p:spPr>
        <p:txBody>
          <a:bodyPr wrap="square" lIns="0" rIns="0" tIns="0" bIns="0" anchor="t">
            <a:spAutoFit/>
          </a:bodyPr>
          <a:lstStyle/>
          <a:p>
            <a:pPr algn="r">
              <a:lnSpc>
                <a:spcPts val="800"/>
              </a:lnSpc>
            </a:pPr>
            <a:r>
              <a:rPr sz="650">
                <a:solidFill>
                  <a:srgbClr val="8C8C8C"/>
                </a:solidFill>
                <a:latin typeface="Archivo"/>
              </a:rPr>
              <a:t>02 · ESQ V5 · Octobre 2026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cxnSp>
        <p:nvCxnSpPr>
          <p:cNvPr id="2" name="Connector 1"/>
          <p:cNvCxnSpPr/>
          <p:nvPr/>
        </p:nvCxnSpPr>
        <p:spPr>
          <a:xfrm>
            <a:off x="504000" y="504000"/>
            <a:ext cx="8172000" cy="0"/>
          </a:xfrm>
          <a:prstGeom prst="line">
            <a:avLst/>
          </a:prstGeom>
          <a:ln w="3810">
            <a:solidFill>
              <a:srgbClr val="C8C8C8"/>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504000" y="4536000"/>
            <a:ext cx="8172000" cy="0"/>
          </a:xfrm>
          <a:prstGeom prst="line">
            <a:avLst/>
          </a:prstGeom>
          <a:ln w="3810">
            <a:solidFill>
              <a:srgbClr val="C8C8C8"/>
            </a:solidFill>
          </a:ln>
        </p:spPr>
        <p:style>
          <a:lnRef idx="2">
            <a:schemeClr val="accent1"/>
          </a:lnRef>
          <a:fillRef idx="0">
            <a:schemeClr val="accent1"/>
          </a:fillRef>
          <a:effectRef idx="1">
            <a:schemeClr val="accent1"/>
          </a:effectRef>
          <a:fontRef idx="minor">
            <a:schemeClr val="tx1"/>
          </a:fontRef>
        </p:style>
      </p:cxnSp>
      <p:pic>
        <p:nvPicPr>
          <p:cNvPr id="4" name="Picture 3" descr="KDemi_v3_A_arche_lockup.png"/>
          <p:cNvPicPr>
            <a:picLocks noChangeAspect="1"/>
          </p:cNvPicPr>
          <p:nvPr/>
        </p:nvPicPr>
        <p:blipFill>
          <a:blip r:embed="rId2"/>
          <a:stretch>
            <a:fillRect/>
          </a:stretch>
        </p:blipFill>
        <p:spPr>
          <a:xfrm>
            <a:off x="2466000" y="1799609"/>
            <a:ext cx="4248000" cy="1440780"/>
          </a:xfrm>
          <a:prstGeom prst="rect">
            <a:avLst/>
          </a:prstGeom>
        </p:spPr>
      </p:pic>
      <p:sp>
        <p:nvSpPr>
          <p:cNvPr id="5" name="TextBox 4"/>
          <p:cNvSpPr txBox="1"/>
          <p:nvPr/>
        </p:nvSpPr>
        <p:spPr>
          <a:xfrm>
            <a:off x="504000" y="4680000"/>
            <a:ext cx="8172000" cy="163220"/>
          </a:xfrm>
          <a:prstGeom prst="rect">
            <a:avLst/>
          </a:prstGeom>
          <a:noFill/>
        </p:spPr>
        <p:txBody>
          <a:bodyPr wrap="square" lIns="0" rIns="0" tIns="0" bIns="0" anchor="t">
            <a:spAutoFit/>
          </a:bodyPr>
          <a:lstStyle/>
          <a:p>
            <a:pPr algn="l">
              <a:lnSpc>
                <a:spcPts val="860"/>
              </a:lnSpc>
            </a:pPr>
            <a:r>
              <a:rPr sz="680">
                <a:solidFill>
                  <a:srgbClr val="8C8C8C"/>
                </a:solidFill>
                <a:latin typeface="Archivo"/>
              </a:rPr>
              <a:t>Version principale sur papier blanc, « &amp; » en terre cuite. Zone de protection : la moitié de la hauteur du carré tout autour.</a:t>
            </a:r>
          </a:p>
        </p:txBody>
      </p:sp>
      <p:sp>
        <p:nvSpPr>
          <p:cNvPr id="6" name="Rectangle 5"/>
          <p:cNvSpPr/>
          <p:nvPr/>
        </p:nvSpPr>
        <p:spPr>
          <a:xfrm>
            <a:off x="504000" y="5112000"/>
            <a:ext cx="864000" cy="1080000"/>
          </a:xfrm>
          <a:prstGeom prst="rect">
            <a:avLst/>
          </a:prstGeom>
          <a:solidFill>
            <a:srgbClr val="4A4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4000" y="6300000"/>
            <a:ext cx="864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Gris texte</a:t>
            </a:r>
          </a:p>
        </p:txBody>
      </p:sp>
      <p:sp>
        <p:nvSpPr>
          <p:cNvPr id="8" name="TextBox 7"/>
          <p:cNvSpPr txBox="1"/>
          <p:nvPr/>
        </p:nvSpPr>
        <p:spPr>
          <a:xfrm>
            <a:off x="504000" y="6451200"/>
            <a:ext cx="864000" cy="150520"/>
          </a:xfrm>
          <a:prstGeom prst="rect">
            <a:avLst/>
          </a:prstGeom>
          <a:noFill/>
        </p:spPr>
        <p:txBody>
          <a:bodyPr wrap="square" lIns="0" rIns="0" tIns="0" bIns="0" anchor="t">
            <a:spAutoFit/>
          </a:bodyPr>
          <a:lstStyle/>
          <a:p>
            <a:pPr algn="l">
              <a:lnSpc>
                <a:spcPts val="760"/>
              </a:lnSpc>
            </a:pPr>
            <a:r>
              <a:rPr sz="620">
                <a:solidFill>
                  <a:srgbClr val="8C8C8C"/>
                </a:solidFill>
                <a:latin typeface="Archivo"/>
              </a:rPr>
              <a:t>#4A4A4A · titres, texte</a:t>
            </a:r>
          </a:p>
        </p:txBody>
      </p:sp>
      <p:sp>
        <p:nvSpPr>
          <p:cNvPr id="9" name="Rectangle 8"/>
          <p:cNvSpPr/>
          <p:nvPr/>
        </p:nvSpPr>
        <p:spPr>
          <a:xfrm>
            <a:off x="1548000" y="5112000"/>
            <a:ext cx="864000" cy="1080000"/>
          </a:xfrm>
          <a:prstGeom prst="rect">
            <a:avLst/>
          </a:prstGeom>
          <a:solidFill>
            <a:srgbClr val="8C8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548000" y="6300000"/>
            <a:ext cx="864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Gris clair</a:t>
            </a:r>
          </a:p>
        </p:txBody>
      </p:sp>
      <p:sp>
        <p:nvSpPr>
          <p:cNvPr id="11" name="TextBox 10"/>
          <p:cNvSpPr txBox="1"/>
          <p:nvPr/>
        </p:nvSpPr>
        <p:spPr>
          <a:xfrm>
            <a:off x="1548000" y="6451200"/>
            <a:ext cx="864000" cy="247039"/>
          </a:xfrm>
          <a:prstGeom prst="rect">
            <a:avLst/>
          </a:prstGeom>
          <a:noFill/>
        </p:spPr>
        <p:txBody>
          <a:bodyPr wrap="square" lIns="0" rIns="0" tIns="0" bIns="0" anchor="t">
            <a:spAutoFit/>
          </a:bodyPr>
          <a:lstStyle/>
          <a:p>
            <a:pPr algn="l">
              <a:lnSpc>
                <a:spcPts val="760"/>
              </a:lnSpc>
            </a:pPr>
            <a:r>
              <a:rPr sz="620">
                <a:solidFill>
                  <a:srgbClr val="8C8C8C"/>
                </a:solidFill>
                <a:latin typeface="Archivo"/>
              </a:rPr>
              <a:t>#8C8C8C · texte 2, cotes</a:t>
            </a:r>
          </a:p>
        </p:txBody>
      </p:sp>
      <p:sp>
        <p:nvSpPr>
          <p:cNvPr id="12" name="Rectangle 11"/>
          <p:cNvSpPr/>
          <p:nvPr/>
        </p:nvSpPr>
        <p:spPr>
          <a:xfrm>
            <a:off x="2592000" y="5112000"/>
            <a:ext cx="864000" cy="1080000"/>
          </a:xfrm>
          <a:prstGeom prst="rect">
            <a:avLst/>
          </a:prstGeom>
          <a:solidFill>
            <a:srgbClr val="C8C8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592000" y="6300000"/>
            <a:ext cx="864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Filet</a:t>
            </a:r>
          </a:p>
        </p:txBody>
      </p:sp>
      <p:sp>
        <p:nvSpPr>
          <p:cNvPr id="14" name="TextBox 13"/>
          <p:cNvSpPr txBox="1"/>
          <p:nvPr/>
        </p:nvSpPr>
        <p:spPr>
          <a:xfrm>
            <a:off x="2592000" y="6451200"/>
            <a:ext cx="864000" cy="150520"/>
          </a:xfrm>
          <a:prstGeom prst="rect">
            <a:avLst/>
          </a:prstGeom>
          <a:noFill/>
        </p:spPr>
        <p:txBody>
          <a:bodyPr wrap="square" lIns="0" rIns="0" tIns="0" bIns="0" anchor="t">
            <a:spAutoFit/>
          </a:bodyPr>
          <a:lstStyle/>
          <a:p>
            <a:pPr algn="l">
              <a:lnSpc>
                <a:spcPts val="760"/>
              </a:lnSpc>
            </a:pPr>
            <a:r>
              <a:rPr sz="620">
                <a:solidFill>
                  <a:srgbClr val="8C8C8C"/>
                </a:solidFill>
                <a:latin typeface="Archivo"/>
              </a:rPr>
              <a:t>#C8C8C8 · filets, grille</a:t>
            </a:r>
          </a:p>
        </p:txBody>
      </p:sp>
      <p:sp>
        <p:nvSpPr>
          <p:cNvPr id="15" name="Rectangle 14"/>
          <p:cNvSpPr/>
          <p:nvPr/>
        </p:nvSpPr>
        <p:spPr>
          <a:xfrm>
            <a:off x="3636000" y="5112000"/>
            <a:ext cx="864000" cy="1080000"/>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6" name="Connector 15"/>
          <p:cNvCxnSpPr/>
          <p:nvPr/>
        </p:nvCxnSpPr>
        <p:spPr>
          <a:xfrm>
            <a:off x="3636000" y="5112000"/>
            <a:ext cx="864000" cy="0"/>
          </a:xfrm>
          <a:prstGeom prst="line">
            <a:avLst/>
          </a:prstGeom>
          <a:ln w="3810">
            <a:solidFill>
              <a:srgbClr val="C8C8C8"/>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3636000" y="6192000"/>
            <a:ext cx="864000" cy="0"/>
          </a:xfrm>
          <a:prstGeom prst="line">
            <a:avLst/>
          </a:prstGeom>
          <a:ln w="3810">
            <a:solidFill>
              <a:srgbClr val="C8C8C8"/>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3636000" y="5112000"/>
            <a:ext cx="0" cy="1080000"/>
          </a:xfrm>
          <a:prstGeom prst="line">
            <a:avLst/>
          </a:prstGeom>
          <a:ln w="3810">
            <a:solidFill>
              <a:srgbClr val="C8C8C8"/>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4500000" y="5112000"/>
            <a:ext cx="0" cy="1080000"/>
          </a:xfrm>
          <a:prstGeom prst="line">
            <a:avLst/>
          </a:prstGeom>
          <a:ln w="3810">
            <a:solidFill>
              <a:srgbClr val="C8C8C8"/>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3636000" y="6300000"/>
            <a:ext cx="864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Gris aplat</a:t>
            </a:r>
          </a:p>
        </p:txBody>
      </p:sp>
      <p:sp>
        <p:nvSpPr>
          <p:cNvPr id="21" name="TextBox 20"/>
          <p:cNvSpPr txBox="1"/>
          <p:nvPr/>
        </p:nvSpPr>
        <p:spPr>
          <a:xfrm>
            <a:off x="3636000" y="6451200"/>
            <a:ext cx="864000" cy="150520"/>
          </a:xfrm>
          <a:prstGeom prst="rect">
            <a:avLst/>
          </a:prstGeom>
          <a:noFill/>
        </p:spPr>
        <p:txBody>
          <a:bodyPr wrap="square" lIns="0" rIns="0" tIns="0" bIns="0" anchor="t">
            <a:spAutoFit/>
          </a:bodyPr>
          <a:lstStyle/>
          <a:p>
            <a:pPr algn="l">
              <a:lnSpc>
                <a:spcPts val="760"/>
              </a:lnSpc>
            </a:pPr>
            <a:r>
              <a:rPr sz="620">
                <a:solidFill>
                  <a:srgbClr val="8C8C8C"/>
                </a:solidFill>
                <a:latin typeface="Archivo"/>
              </a:rPr>
              <a:t>#F4F4F4 · tableaux</a:t>
            </a:r>
          </a:p>
        </p:txBody>
      </p:sp>
      <p:sp>
        <p:nvSpPr>
          <p:cNvPr id="22" name="Rectangle 21"/>
          <p:cNvSpPr/>
          <p:nvPr/>
        </p:nvSpPr>
        <p:spPr>
          <a:xfrm>
            <a:off x="4680000" y="5112000"/>
            <a:ext cx="864000" cy="1080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3" name="Connector 22"/>
          <p:cNvCxnSpPr/>
          <p:nvPr/>
        </p:nvCxnSpPr>
        <p:spPr>
          <a:xfrm>
            <a:off x="4680000" y="5112000"/>
            <a:ext cx="864000" cy="0"/>
          </a:xfrm>
          <a:prstGeom prst="line">
            <a:avLst/>
          </a:prstGeom>
          <a:ln w="3810">
            <a:solidFill>
              <a:srgbClr val="C8C8C8"/>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4680000" y="6192000"/>
            <a:ext cx="864000" cy="0"/>
          </a:xfrm>
          <a:prstGeom prst="line">
            <a:avLst/>
          </a:prstGeom>
          <a:ln w="3810">
            <a:solidFill>
              <a:srgbClr val="C8C8C8"/>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4680000" y="5112000"/>
            <a:ext cx="0" cy="1080000"/>
          </a:xfrm>
          <a:prstGeom prst="line">
            <a:avLst/>
          </a:prstGeom>
          <a:ln w="3810">
            <a:solidFill>
              <a:srgbClr val="C8C8C8"/>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5544000" y="5112000"/>
            <a:ext cx="0" cy="1080000"/>
          </a:xfrm>
          <a:prstGeom prst="line">
            <a:avLst/>
          </a:prstGeom>
          <a:ln w="3810">
            <a:solidFill>
              <a:srgbClr val="C8C8C8"/>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4680000" y="6300000"/>
            <a:ext cx="864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Papier</a:t>
            </a:r>
          </a:p>
        </p:txBody>
      </p:sp>
      <p:sp>
        <p:nvSpPr>
          <p:cNvPr id="28" name="TextBox 27"/>
          <p:cNvSpPr txBox="1"/>
          <p:nvPr/>
        </p:nvSpPr>
        <p:spPr>
          <a:xfrm>
            <a:off x="4680000" y="6451200"/>
            <a:ext cx="864000" cy="150520"/>
          </a:xfrm>
          <a:prstGeom prst="rect">
            <a:avLst/>
          </a:prstGeom>
          <a:noFill/>
        </p:spPr>
        <p:txBody>
          <a:bodyPr wrap="square" lIns="0" rIns="0" tIns="0" bIns="0" anchor="t">
            <a:spAutoFit/>
          </a:bodyPr>
          <a:lstStyle/>
          <a:p>
            <a:pPr algn="l">
              <a:lnSpc>
                <a:spcPts val="760"/>
              </a:lnSpc>
            </a:pPr>
            <a:r>
              <a:rPr sz="620">
                <a:solidFill>
                  <a:srgbClr val="8C8C8C"/>
                </a:solidFill>
                <a:latin typeface="Archivo"/>
              </a:rPr>
              <a:t>#FFFFFF · fond unique</a:t>
            </a:r>
          </a:p>
        </p:txBody>
      </p:sp>
      <p:sp>
        <p:nvSpPr>
          <p:cNvPr id="29" name="Rectangle 28"/>
          <p:cNvSpPr/>
          <p:nvPr/>
        </p:nvSpPr>
        <p:spPr>
          <a:xfrm>
            <a:off x="5724000" y="5112000"/>
            <a:ext cx="864000" cy="1080000"/>
          </a:xfrm>
          <a:prstGeom prst="rect">
            <a:avLst/>
          </a:prstGeom>
          <a:solidFill>
            <a:srgbClr val="B458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724000" y="6300000"/>
            <a:ext cx="864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Terre cuite</a:t>
            </a:r>
          </a:p>
        </p:txBody>
      </p:sp>
      <p:sp>
        <p:nvSpPr>
          <p:cNvPr id="31" name="TextBox 30"/>
          <p:cNvSpPr txBox="1"/>
          <p:nvPr/>
        </p:nvSpPr>
        <p:spPr>
          <a:xfrm>
            <a:off x="5724000" y="6451200"/>
            <a:ext cx="864000" cy="150520"/>
          </a:xfrm>
          <a:prstGeom prst="rect">
            <a:avLst/>
          </a:prstGeom>
          <a:noFill/>
        </p:spPr>
        <p:txBody>
          <a:bodyPr wrap="square" lIns="0" rIns="0" tIns="0" bIns="0" anchor="t">
            <a:spAutoFit/>
          </a:bodyPr>
          <a:lstStyle/>
          <a:p>
            <a:pPr algn="l">
              <a:lnSpc>
                <a:spcPts val="760"/>
              </a:lnSpc>
            </a:pPr>
            <a:r>
              <a:rPr sz="620">
                <a:solidFill>
                  <a:srgbClr val="8C8C8C"/>
                </a:solidFill>
                <a:latin typeface="Archivo"/>
              </a:rPr>
              <a:t>#B4583E · accent, rare</a:t>
            </a:r>
          </a:p>
        </p:txBody>
      </p:sp>
      <p:sp>
        <p:nvSpPr>
          <p:cNvPr id="32" name="Rectangle 31"/>
          <p:cNvSpPr/>
          <p:nvPr/>
        </p:nvSpPr>
        <p:spPr>
          <a:xfrm>
            <a:off x="6768000" y="5112000"/>
            <a:ext cx="864000" cy="1080000"/>
          </a:xfrm>
          <a:prstGeom prst="rect">
            <a:avLst/>
          </a:prstGeom>
          <a:solidFill>
            <a:srgbClr val="2F3A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768000" y="6300000"/>
            <a:ext cx="864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Indigo</a:t>
            </a:r>
          </a:p>
        </p:txBody>
      </p:sp>
      <p:sp>
        <p:nvSpPr>
          <p:cNvPr id="34" name="TextBox 33"/>
          <p:cNvSpPr txBox="1"/>
          <p:nvPr/>
        </p:nvSpPr>
        <p:spPr>
          <a:xfrm>
            <a:off x="6768000" y="6451200"/>
            <a:ext cx="864000" cy="247039"/>
          </a:xfrm>
          <a:prstGeom prst="rect">
            <a:avLst/>
          </a:prstGeom>
          <a:noFill/>
        </p:spPr>
        <p:txBody>
          <a:bodyPr wrap="square" lIns="0" rIns="0" tIns="0" bIns="0" anchor="t">
            <a:spAutoFit/>
          </a:bodyPr>
          <a:lstStyle/>
          <a:p>
            <a:pPr algn="l">
              <a:lnSpc>
                <a:spcPts val="760"/>
              </a:lnSpc>
            </a:pPr>
            <a:r>
              <a:rPr sz="620">
                <a:solidFill>
                  <a:srgbClr val="8C8C8C"/>
                </a:solidFill>
                <a:latin typeface="Archivo"/>
              </a:rPr>
              <a:t>#2F3A56 · accent, très rare</a:t>
            </a:r>
          </a:p>
        </p:txBody>
      </p:sp>
      <p:sp>
        <p:nvSpPr>
          <p:cNvPr id="35" name="Rectangle 34"/>
          <p:cNvSpPr/>
          <p:nvPr/>
        </p:nvSpPr>
        <p:spPr>
          <a:xfrm>
            <a:off x="7812000" y="5112000"/>
            <a:ext cx="864000" cy="1080000"/>
          </a:xfrm>
          <a:prstGeom prst="rect">
            <a:avLst/>
          </a:prstGeom>
          <a:solidFill>
            <a:srgbClr val="9A6B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812000" y="6300000"/>
            <a:ext cx="864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Iroko</a:t>
            </a:r>
          </a:p>
        </p:txBody>
      </p:sp>
      <p:sp>
        <p:nvSpPr>
          <p:cNvPr id="37" name="TextBox 36"/>
          <p:cNvSpPr txBox="1"/>
          <p:nvPr/>
        </p:nvSpPr>
        <p:spPr>
          <a:xfrm>
            <a:off x="7812000" y="6451200"/>
            <a:ext cx="864000" cy="150520"/>
          </a:xfrm>
          <a:prstGeom prst="rect">
            <a:avLst/>
          </a:prstGeom>
          <a:noFill/>
        </p:spPr>
        <p:txBody>
          <a:bodyPr wrap="square" lIns="0" rIns="0" tIns="0" bIns="0" anchor="t">
            <a:spAutoFit/>
          </a:bodyPr>
          <a:lstStyle/>
          <a:p>
            <a:pPr algn="l">
              <a:lnSpc>
                <a:spcPts val="760"/>
              </a:lnSpc>
            </a:pPr>
            <a:r>
              <a:rPr sz="620">
                <a:solidFill>
                  <a:srgbClr val="8C8C8C"/>
                </a:solidFill>
                <a:latin typeface="Archivo"/>
              </a:rPr>
              <a:t>#9A6B43 · matière bois</a:t>
            </a:r>
          </a:p>
        </p:txBody>
      </p:sp>
      <p:cxnSp>
        <p:nvCxnSpPr>
          <p:cNvPr id="38" name="Connector 37"/>
          <p:cNvCxnSpPr/>
          <p:nvPr/>
        </p:nvCxnSpPr>
        <p:spPr>
          <a:xfrm>
            <a:off x="504000" y="6984000"/>
            <a:ext cx="3996000" cy="0"/>
          </a:xfrm>
          <a:prstGeom prst="line">
            <a:avLst/>
          </a:prstGeom>
          <a:ln w="5080">
            <a:solidFill>
              <a:srgbClr val="C8C8C8"/>
            </a:solidFill>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504000" y="7128000"/>
            <a:ext cx="3996000" cy="384199"/>
          </a:xfrm>
          <a:prstGeom prst="rect">
            <a:avLst/>
          </a:prstGeom>
          <a:noFill/>
        </p:spPr>
        <p:txBody>
          <a:bodyPr wrap="square" lIns="0" rIns="0" tIns="0" bIns="0" anchor="t">
            <a:spAutoFit/>
          </a:bodyPr>
          <a:lstStyle/>
          <a:p>
            <a:pPr algn="l">
              <a:lnSpc>
                <a:spcPts val="2600"/>
              </a:lnSpc>
            </a:pPr>
            <a:r>
              <a:rPr sz="2400" b="1">
                <a:solidFill>
                  <a:srgbClr val="4A4A4A"/>
                </a:solidFill>
                <a:latin typeface="Archivo"/>
              </a:rPr>
              <a:t>Archivo SemiBold</a:t>
            </a:r>
          </a:p>
        </p:txBody>
      </p:sp>
      <p:sp>
        <p:nvSpPr>
          <p:cNvPr id="40" name="TextBox 39"/>
          <p:cNvSpPr txBox="1"/>
          <p:nvPr/>
        </p:nvSpPr>
        <p:spPr>
          <a:xfrm>
            <a:off x="504000" y="7560000"/>
            <a:ext cx="3996000" cy="163220"/>
          </a:xfrm>
          <a:prstGeom prst="rect">
            <a:avLst/>
          </a:prstGeom>
          <a:noFill/>
        </p:spPr>
        <p:txBody>
          <a:bodyPr wrap="square" lIns="0" rIns="0" tIns="0" bIns="0" anchor="t">
            <a:spAutoFit/>
          </a:bodyPr>
          <a:lstStyle/>
          <a:p>
            <a:pPr algn="l">
              <a:lnSpc>
                <a:spcPts val="860"/>
              </a:lnSpc>
            </a:pPr>
            <a:r>
              <a:rPr sz="680">
                <a:solidFill>
                  <a:srgbClr val="8C8C8C"/>
                </a:solidFill>
                <a:latin typeface="Archivo"/>
              </a:rPr>
              <a:t>Titres et chiffres clés, 18 à 36 pt, approche serrée</a:t>
            </a:r>
          </a:p>
        </p:txBody>
      </p:sp>
      <p:sp>
        <p:nvSpPr>
          <p:cNvPr id="41" name="TextBox 40"/>
          <p:cNvSpPr txBox="1"/>
          <p:nvPr/>
        </p:nvSpPr>
        <p:spPr>
          <a:xfrm>
            <a:off x="504000" y="7992000"/>
            <a:ext cx="3996000" cy="384199"/>
          </a:xfrm>
          <a:prstGeom prst="rect">
            <a:avLst/>
          </a:prstGeom>
          <a:noFill/>
        </p:spPr>
        <p:txBody>
          <a:bodyPr wrap="square" lIns="0" rIns="0" tIns="0" bIns="0" anchor="t">
            <a:spAutoFit/>
          </a:bodyPr>
          <a:lstStyle/>
          <a:p>
            <a:pPr algn="l">
              <a:lnSpc>
                <a:spcPts val="2600"/>
              </a:lnSpc>
            </a:pPr>
            <a:r>
              <a:rPr sz="2200">
                <a:solidFill>
                  <a:srgbClr val="4A4A4A"/>
                </a:solidFill>
                <a:latin typeface="Archivo"/>
              </a:rPr>
              <a:t>Archivo Regular</a:t>
            </a:r>
          </a:p>
        </p:txBody>
      </p:sp>
      <p:sp>
        <p:nvSpPr>
          <p:cNvPr id="42" name="TextBox 41"/>
          <p:cNvSpPr txBox="1"/>
          <p:nvPr/>
        </p:nvSpPr>
        <p:spPr>
          <a:xfrm>
            <a:off x="504000" y="8388000"/>
            <a:ext cx="3996000" cy="163220"/>
          </a:xfrm>
          <a:prstGeom prst="rect">
            <a:avLst/>
          </a:prstGeom>
          <a:noFill/>
        </p:spPr>
        <p:txBody>
          <a:bodyPr wrap="square" lIns="0" rIns="0" tIns="0" bIns="0" anchor="t">
            <a:spAutoFit/>
          </a:bodyPr>
          <a:lstStyle/>
          <a:p>
            <a:pPr algn="l">
              <a:lnSpc>
                <a:spcPts val="860"/>
              </a:lnSpc>
            </a:pPr>
            <a:r>
              <a:rPr sz="680">
                <a:solidFill>
                  <a:srgbClr val="8C8C8C"/>
                </a:solidFill>
                <a:latin typeface="Archivo"/>
              </a:rPr>
              <a:t>Texte 8 à 10 pt, légendes 7 pt, capitales en Archivo Medium</a:t>
            </a:r>
          </a:p>
        </p:txBody>
      </p:sp>
      <p:sp>
        <p:nvSpPr>
          <p:cNvPr id="43" name="TextBox 42"/>
          <p:cNvSpPr txBox="1"/>
          <p:nvPr/>
        </p:nvSpPr>
        <p:spPr>
          <a:xfrm>
            <a:off x="504000" y="8856000"/>
            <a:ext cx="3996000" cy="384199"/>
          </a:xfrm>
          <a:prstGeom prst="rect">
            <a:avLst/>
          </a:prstGeom>
          <a:noFill/>
        </p:spPr>
        <p:txBody>
          <a:bodyPr wrap="square" lIns="0" rIns="0" tIns="0" bIns="0" anchor="t">
            <a:spAutoFit/>
          </a:bodyPr>
          <a:lstStyle/>
          <a:p>
            <a:pPr algn="l">
              <a:lnSpc>
                <a:spcPts val="2600"/>
              </a:lnSpc>
            </a:pPr>
            <a:r>
              <a:rPr sz="2200">
                <a:solidFill>
                  <a:srgbClr val="4A4A4A"/>
                </a:solidFill>
                <a:latin typeface="Manrope"/>
              </a:rPr>
              <a:t>Manrope</a:t>
            </a:r>
          </a:p>
        </p:txBody>
      </p:sp>
      <p:sp>
        <p:nvSpPr>
          <p:cNvPr id="44" name="TextBox 43"/>
          <p:cNvSpPr txBox="1"/>
          <p:nvPr/>
        </p:nvSpPr>
        <p:spPr>
          <a:xfrm>
            <a:off x="504000" y="9252000"/>
            <a:ext cx="3996000" cy="163220"/>
          </a:xfrm>
          <a:prstGeom prst="rect">
            <a:avLst/>
          </a:prstGeom>
          <a:noFill/>
        </p:spPr>
        <p:txBody>
          <a:bodyPr wrap="square" lIns="0" rIns="0" tIns="0" bIns="0" anchor="t">
            <a:spAutoFit/>
          </a:bodyPr>
          <a:lstStyle/>
          <a:p>
            <a:pPr algn="l">
              <a:lnSpc>
                <a:spcPts val="860"/>
              </a:lnSpc>
            </a:pPr>
            <a:r>
              <a:rPr sz="680">
                <a:solidFill>
                  <a:srgbClr val="8C8C8C"/>
                </a:solidFill>
                <a:latin typeface="Archivo"/>
              </a:rPr>
              <a:t>Réservée au nom K&amp;Démi dans le logo</a:t>
            </a:r>
          </a:p>
        </p:txBody>
      </p:sp>
      <p:sp>
        <p:nvSpPr>
          <p:cNvPr id="45" name="Rectangle 44"/>
          <p:cNvSpPr/>
          <p:nvPr/>
        </p:nvSpPr>
        <p:spPr>
          <a:xfrm>
            <a:off x="4680000" y="6984000"/>
            <a:ext cx="3996000" cy="1512000"/>
          </a:xfrm>
          <a:prstGeom prst="rect">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6" name="Picture 45" descr="KDemi_v3_A_arche_lockup_inverse_gris.png"/>
          <p:cNvPicPr>
            <a:picLocks noChangeAspect="1"/>
          </p:cNvPicPr>
          <p:nvPr/>
        </p:nvPicPr>
        <p:blipFill>
          <a:blip r:embed="rId3"/>
          <a:stretch>
            <a:fillRect/>
          </a:stretch>
        </p:blipFill>
        <p:spPr>
          <a:xfrm>
            <a:off x="5598000" y="7373700"/>
            <a:ext cx="2160000" cy="732600"/>
          </a:xfrm>
          <a:prstGeom prst="rect">
            <a:avLst/>
          </a:prstGeom>
        </p:spPr>
      </p:pic>
      <p:cxnSp>
        <p:nvCxnSpPr>
          <p:cNvPr id="47" name="Connector 46"/>
          <p:cNvCxnSpPr/>
          <p:nvPr/>
        </p:nvCxnSpPr>
        <p:spPr>
          <a:xfrm>
            <a:off x="4680000" y="8676000"/>
            <a:ext cx="3996000" cy="0"/>
          </a:xfrm>
          <a:prstGeom prst="line">
            <a:avLst/>
          </a:prstGeom>
          <a:ln w="3810">
            <a:solidFill>
              <a:srgbClr val="C8C8C8"/>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4680000" y="10188000"/>
            <a:ext cx="3996000" cy="0"/>
          </a:xfrm>
          <a:prstGeom prst="line">
            <a:avLst/>
          </a:prstGeom>
          <a:ln w="3810">
            <a:solidFill>
              <a:srgbClr val="C8C8C8"/>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4680000" y="8676000"/>
            <a:ext cx="0" cy="1512000"/>
          </a:xfrm>
          <a:prstGeom prst="line">
            <a:avLst/>
          </a:prstGeom>
          <a:ln w="3810">
            <a:solidFill>
              <a:srgbClr val="C8C8C8"/>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8676000" y="8676000"/>
            <a:ext cx="0" cy="1512000"/>
          </a:xfrm>
          <a:prstGeom prst="line">
            <a:avLst/>
          </a:prstGeom>
          <a:ln w="3810">
            <a:solidFill>
              <a:srgbClr val="C8C8C8"/>
            </a:solidFill>
          </a:ln>
        </p:spPr>
        <p:style>
          <a:lnRef idx="2">
            <a:schemeClr val="accent1"/>
          </a:lnRef>
          <a:fillRef idx="0">
            <a:schemeClr val="accent1"/>
          </a:fillRef>
          <a:effectRef idx="1">
            <a:schemeClr val="accent1"/>
          </a:effectRef>
          <a:fontRef idx="minor">
            <a:schemeClr val="tx1"/>
          </a:fontRef>
        </p:style>
      </p:cxnSp>
      <p:pic>
        <p:nvPicPr>
          <p:cNvPr id="51" name="Picture 50" descr="KDemi_v3_A_arche_lockup_mono.png"/>
          <p:cNvPicPr>
            <a:picLocks noChangeAspect="1"/>
          </p:cNvPicPr>
          <p:nvPr/>
        </p:nvPicPr>
        <p:blipFill>
          <a:blip r:embed="rId4"/>
          <a:stretch>
            <a:fillRect/>
          </a:stretch>
        </p:blipFill>
        <p:spPr>
          <a:xfrm>
            <a:off x="5598000" y="9065700"/>
            <a:ext cx="2160000" cy="732600"/>
          </a:xfrm>
          <a:prstGeom prst="rect">
            <a:avLst/>
          </a:prstGeom>
        </p:spPr>
      </p:pic>
      <p:cxnSp>
        <p:nvCxnSpPr>
          <p:cNvPr id="52" name="Connector 51"/>
          <p:cNvCxnSpPr/>
          <p:nvPr/>
        </p:nvCxnSpPr>
        <p:spPr>
          <a:xfrm>
            <a:off x="9180000" y="288000"/>
            <a:ext cx="0" cy="10116000"/>
          </a:xfrm>
          <a:prstGeom prst="line">
            <a:avLst/>
          </a:prstGeom>
          <a:ln w="5080">
            <a:solidFill>
              <a:srgbClr val="C8C8C8"/>
            </a:solidFill>
          </a:ln>
        </p:spPr>
        <p:style>
          <a:lnRef idx="2">
            <a:schemeClr val="accent1"/>
          </a:lnRef>
          <a:fillRef idx="0">
            <a:schemeClr val="accent1"/>
          </a:fillRef>
          <a:effectRef idx="1">
            <a:schemeClr val="accent1"/>
          </a:effectRef>
          <a:fontRef idx="minor">
            <a:schemeClr val="tx1"/>
          </a:fontRef>
        </p:style>
      </p:cxnSp>
      <p:pic>
        <p:nvPicPr>
          <p:cNvPr id="53" name="Picture 52" descr="KDemi_v3_A_arche_lockup_mono.png"/>
          <p:cNvPicPr>
            <a:picLocks noChangeAspect="1"/>
          </p:cNvPicPr>
          <p:nvPr/>
        </p:nvPicPr>
        <p:blipFill>
          <a:blip r:embed="rId4"/>
          <a:stretch>
            <a:fillRect/>
          </a:stretch>
        </p:blipFill>
        <p:spPr>
          <a:xfrm>
            <a:off x="9468000" y="432000"/>
            <a:ext cx="1656000" cy="561660"/>
          </a:xfrm>
          <a:prstGeom prst="rect">
            <a:avLst/>
          </a:prstGeom>
        </p:spPr>
      </p:pic>
      <p:sp>
        <p:nvSpPr>
          <p:cNvPr id="54" name="TextBox 53"/>
          <p:cNvSpPr txBox="1"/>
          <p:nvPr/>
        </p:nvSpPr>
        <p:spPr>
          <a:xfrm>
            <a:off x="9468000" y="1440000"/>
            <a:ext cx="5292000" cy="384199"/>
          </a:xfrm>
          <a:prstGeom prst="rect">
            <a:avLst/>
          </a:prstGeom>
          <a:noFill/>
        </p:spPr>
        <p:txBody>
          <a:bodyPr wrap="square" lIns="0" rIns="0" tIns="0" bIns="0" anchor="t">
            <a:spAutoFit/>
          </a:bodyPr>
          <a:lstStyle/>
          <a:p>
            <a:pPr algn="l">
              <a:lnSpc>
                <a:spcPts val="2600"/>
              </a:lnSpc>
            </a:pPr>
            <a:r>
              <a:rPr sz="2300" b="1">
                <a:solidFill>
                  <a:srgbClr val="4A4A4A"/>
                </a:solidFill>
                <a:latin typeface="Archivo"/>
              </a:rPr>
              <a:t>Identité K&amp;Démi</a:t>
            </a:r>
          </a:p>
        </p:txBody>
      </p:sp>
      <p:sp>
        <p:nvSpPr>
          <p:cNvPr id="55" name="TextBox 54"/>
          <p:cNvSpPr txBox="1"/>
          <p:nvPr/>
        </p:nvSpPr>
        <p:spPr>
          <a:xfrm>
            <a:off x="9468000" y="1890000"/>
            <a:ext cx="5292000" cy="231799"/>
          </a:xfrm>
          <a:prstGeom prst="rect">
            <a:avLst/>
          </a:prstGeom>
          <a:noFill/>
        </p:spPr>
        <p:txBody>
          <a:bodyPr wrap="square" lIns="0" rIns="0" tIns="0" bIns="0" anchor="t">
            <a:spAutoFit/>
          </a:bodyPr>
          <a:lstStyle/>
          <a:p>
            <a:pPr algn="l">
              <a:lnSpc>
                <a:spcPts val="1400"/>
              </a:lnSpc>
            </a:pPr>
            <a:r>
              <a:rPr sz="1050">
                <a:solidFill>
                  <a:srgbClr val="4A4A4A"/>
                </a:solidFill>
                <a:latin typeface="Archivo"/>
              </a:rPr>
              <a:t>L'arche dans le carré</a:t>
            </a:r>
          </a:p>
        </p:txBody>
      </p:sp>
      <p:sp>
        <p:nvSpPr>
          <p:cNvPr id="56" name="TextBox 55"/>
          <p:cNvSpPr txBox="1"/>
          <p:nvPr/>
        </p:nvSpPr>
        <p:spPr>
          <a:xfrm>
            <a:off x="9468000" y="2142000"/>
            <a:ext cx="5292000" cy="168300"/>
          </a:xfrm>
          <a:prstGeom prst="rect">
            <a:avLst/>
          </a:prstGeom>
          <a:noFill/>
        </p:spPr>
        <p:txBody>
          <a:bodyPr wrap="square" lIns="0" rIns="0" tIns="0" bIns="0" anchor="t">
            <a:spAutoFit/>
          </a:bodyPr>
          <a:lstStyle/>
          <a:p>
            <a:pPr algn="l">
              <a:lnSpc>
                <a:spcPts val="900"/>
              </a:lnSpc>
            </a:pPr>
            <a:r>
              <a:rPr sz="720">
                <a:solidFill>
                  <a:srgbClr val="8C8C8C"/>
                </a:solidFill>
                <a:latin typeface="Archivo"/>
              </a:rPr>
              <a:t>Logo v3 A, charte v2 du 15 octobre 2026</a:t>
            </a:r>
          </a:p>
        </p:txBody>
      </p:sp>
      <p:cxnSp>
        <p:nvCxnSpPr>
          <p:cNvPr id="57" name="Connector 56"/>
          <p:cNvCxnSpPr/>
          <p:nvPr/>
        </p:nvCxnSpPr>
        <p:spPr>
          <a:xfrm>
            <a:off x="9468000" y="2304000"/>
            <a:ext cx="648000" cy="0"/>
          </a:xfrm>
          <a:prstGeom prst="line">
            <a:avLst/>
          </a:prstGeom>
          <a:ln w="11430">
            <a:solidFill>
              <a:srgbClr val="B4583E"/>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a:off x="10116000" y="2304000"/>
            <a:ext cx="4644000" cy="0"/>
          </a:xfrm>
          <a:prstGeom prst="line">
            <a:avLst/>
          </a:prstGeom>
          <a:ln w="5080">
            <a:solidFill>
              <a:srgbClr val="C8C8C8"/>
            </a:solidFill>
          </a:ln>
        </p:spPr>
        <p:style>
          <a:lnRef idx="2">
            <a:schemeClr val="accent1"/>
          </a:lnRef>
          <a:fillRef idx="0">
            <a:schemeClr val="accent1"/>
          </a:fillRef>
          <a:effectRef idx="1">
            <a:schemeClr val="accent1"/>
          </a:effectRef>
          <a:fontRef idx="minor">
            <a:schemeClr val="tx1"/>
          </a:fontRef>
        </p:style>
      </p:cxnSp>
      <p:sp>
        <p:nvSpPr>
          <p:cNvPr id="59" name="TextBox 58"/>
          <p:cNvSpPr txBox="1"/>
          <p:nvPr/>
        </p:nvSpPr>
        <p:spPr>
          <a:xfrm>
            <a:off x="9468000" y="2520000"/>
            <a:ext cx="5292000" cy="180999"/>
          </a:xfrm>
          <a:prstGeom prst="rect">
            <a:avLst/>
          </a:prstGeom>
          <a:noFill/>
        </p:spPr>
        <p:txBody>
          <a:bodyPr wrap="square" lIns="0" rIns="0" tIns="0" bIns="0" anchor="t">
            <a:spAutoFit/>
          </a:bodyPr>
          <a:lstStyle/>
          <a:p>
            <a:pPr algn="l">
              <a:lnSpc>
                <a:spcPts val="1000"/>
              </a:lnSpc>
            </a:pPr>
            <a:r>
              <a:rPr sz="740">
                <a:solidFill>
                  <a:srgbClr val="B4583E"/>
                </a:solidFill>
                <a:latin typeface="Archivo"/>
              </a:rPr>
              <a:t>LE LOGO</a:t>
            </a:r>
          </a:p>
        </p:txBody>
      </p:sp>
      <p:sp>
        <p:nvSpPr>
          <p:cNvPr id="60" name="TextBox 59"/>
          <p:cNvSpPr txBox="1"/>
          <p:nvPr/>
        </p:nvSpPr>
        <p:spPr>
          <a:xfrm>
            <a:off x="9468000" y="2707200"/>
            <a:ext cx="5292000" cy="3587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Une arche découpée dans un carré, lue comme une porte. Le nom est composé en Manrope, l'esperluette en terre cuite. C'est le seuil de la devanture Decimo ramené à un signe.</a:t>
            </a:r>
          </a:p>
        </p:txBody>
      </p:sp>
      <p:sp>
        <p:nvSpPr>
          <p:cNvPr id="61" name="TextBox 60"/>
          <p:cNvSpPr txBox="1"/>
          <p:nvPr/>
        </p:nvSpPr>
        <p:spPr>
          <a:xfrm>
            <a:off x="9468000" y="3174000"/>
            <a:ext cx="5292000" cy="180999"/>
          </a:xfrm>
          <a:prstGeom prst="rect">
            <a:avLst/>
          </a:prstGeom>
          <a:noFill/>
        </p:spPr>
        <p:txBody>
          <a:bodyPr wrap="square" lIns="0" rIns="0" tIns="0" bIns="0" anchor="t">
            <a:spAutoFit/>
          </a:bodyPr>
          <a:lstStyle/>
          <a:p>
            <a:pPr algn="l">
              <a:lnSpc>
                <a:spcPts val="1000"/>
              </a:lnSpc>
            </a:pPr>
            <a:r>
              <a:rPr sz="740">
                <a:solidFill>
                  <a:srgbClr val="B4583E"/>
                </a:solidFill>
                <a:latin typeface="Archivo"/>
              </a:rPr>
              <a:t>RÈGLES D'USAGE</a:t>
            </a:r>
          </a:p>
        </p:txBody>
      </p:sp>
      <p:sp>
        <p:nvSpPr>
          <p:cNvPr id="62" name="TextBox 61"/>
          <p:cNvSpPr txBox="1"/>
          <p:nvPr/>
        </p:nvSpPr>
        <p:spPr>
          <a:xfrm>
            <a:off x="9468000" y="3361200"/>
            <a:ext cx="216000" cy="175920"/>
          </a:xfrm>
          <a:prstGeom prst="rect">
            <a:avLst/>
          </a:prstGeom>
          <a:noFill/>
        </p:spPr>
        <p:txBody>
          <a:bodyPr wrap="square" lIns="0" rIns="0" tIns="0" bIns="0" anchor="t">
            <a:spAutoFit/>
          </a:bodyPr>
          <a:lstStyle/>
          <a:p>
            <a:pPr algn="l">
              <a:lnSpc>
                <a:spcPts val="960"/>
              </a:lnSpc>
            </a:pPr>
            <a:r>
              <a:rPr sz="720">
                <a:solidFill>
                  <a:srgbClr val="B4583E"/>
                </a:solidFill>
                <a:latin typeface="Archivo"/>
              </a:rPr>
              <a:t>01</a:t>
            </a:r>
          </a:p>
        </p:txBody>
      </p:sp>
      <p:sp>
        <p:nvSpPr>
          <p:cNvPr id="63" name="TextBox 62"/>
          <p:cNvSpPr txBox="1"/>
          <p:nvPr/>
        </p:nvSpPr>
        <p:spPr>
          <a:xfrm>
            <a:off x="9720000" y="3361200"/>
            <a:ext cx="5040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Le nom est toujours posé à côté du symbole. Le symbole seul est réservé à l'icône d'application et au favicon.</a:t>
            </a:r>
          </a:p>
        </p:txBody>
      </p:sp>
      <p:sp>
        <p:nvSpPr>
          <p:cNvPr id="64" name="TextBox 63"/>
          <p:cNvSpPr txBox="1"/>
          <p:nvPr/>
        </p:nvSpPr>
        <p:spPr>
          <a:xfrm>
            <a:off x="9468000" y="3526320"/>
            <a:ext cx="216000" cy="175920"/>
          </a:xfrm>
          <a:prstGeom prst="rect">
            <a:avLst/>
          </a:prstGeom>
          <a:noFill/>
        </p:spPr>
        <p:txBody>
          <a:bodyPr wrap="square" lIns="0" rIns="0" tIns="0" bIns="0" anchor="t">
            <a:spAutoFit/>
          </a:bodyPr>
          <a:lstStyle/>
          <a:p>
            <a:pPr algn="l">
              <a:lnSpc>
                <a:spcPts val="960"/>
              </a:lnSpc>
            </a:pPr>
            <a:r>
              <a:rPr sz="720">
                <a:solidFill>
                  <a:srgbClr val="B4583E"/>
                </a:solidFill>
                <a:latin typeface="Archivo"/>
              </a:rPr>
              <a:t>02</a:t>
            </a:r>
          </a:p>
        </p:txBody>
      </p:sp>
      <p:sp>
        <p:nvSpPr>
          <p:cNvPr id="65" name="TextBox 64"/>
          <p:cNvSpPr txBox="1"/>
          <p:nvPr/>
        </p:nvSpPr>
        <p:spPr>
          <a:xfrm>
            <a:off x="9720000" y="3526320"/>
            <a:ext cx="5040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30 mm minimum en impression, 120 px à l'écran.</a:t>
            </a:r>
          </a:p>
        </p:txBody>
      </p:sp>
      <p:sp>
        <p:nvSpPr>
          <p:cNvPr id="66" name="TextBox 65"/>
          <p:cNvSpPr txBox="1"/>
          <p:nvPr/>
        </p:nvSpPr>
        <p:spPr>
          <a:xfrm>
            <a:off x="9468000" y="3691440"/>
            <a:ext cx="216000" cy="175920"/>
          </a:xfrm>
          <a:prstGeom prst="rect">
            <a:avLst/>
          </a:prstGeom>
          <a:noFill/>
        </p:spPr>
        <p:txBody>
          <a:bodyPr wrap="square" lIns="0" rIns="0" tIns="0" bIns="0" anchor="t">
            <a:spAutoFit/>
          </a:bodyPr>
          <a:lstStyle/>
          <a:p>
            <a:pPr algn="l">
              <a:lnSpc>
                <a:spcPts val="960"/>
              </a:lnSpc>
            </a:pPr>
            <a:r>
              <a:rPr sz="720">
                <a:solidFill>
                  <a:srgbClr val="B4583E"/>
                </a:solidFill>
                <a:latin typeface="Archivo"/>
              </a:rPr>
              <a:t>03</a:t>
            </a:r>
          </a:p>
        </p:txBody>
      </p:sp>
      <p:sp>
        <p:nvSpPr>
          <p:cNvPr id="67" name="TextBox 66"/>
          <p:cNvSpPr txBox="1"/>
          <p:nvPr/>
        </p:nvSpPr>
        <p:spPr>
          <a:xfrm>
            <a:off x="9720000" y="3691440"/>
            <a:ext cx="5040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Version mono sur papier blanc, inversée sur fond sombre. Pas de déformation, d'ombre ni de dégradé.</a:t>
            </a:r>
          </a:p>
        </p:txBody>
      </p:sp>
      <p:sp>
        <p:nvSpPr>
          <p:cNvPr id="68" name="TextBox 67"/>
          <p:cNvSpPr txBox="1"/>
          <p:nvPr/>
        </p:nvSpPr>
        <p:spPr>
          <a:xfrm>
            <a:off x="9468000" y="3964560"/>
            <a:ext cx="5292000" cy="180999"/>
          </a:xfrm>
          <a:prstGeom prst="rect">
            <a:avLst/>
          </a:prstGeom>
          <a:noFill/>
        </p:spPr>
        <p:txBody>
          <a:bodyPr wrap="square" lIns="0" rIns="0" tIns="0" bIns="0" anchor="t">
            <a:spAutoFit/>
          </a:bodyPr>
          <a:lstStyle/>
          <a:p>
            <a:pPr algn="l">
              <a:lnSpc>
                <a:spcPts val="1000"/>
              </a:lnSpc>
            </a:pPr>
            <a:r>
              <a:rPr sz="740">
                <a:solidFill>
                  <a:srgbClr val="B4583E"/>
                </a:solidFill>
                <a:latin typeface="Archivo"/>
              </a:rPr>
              <a:t>LA PAGE</a:t>
            </a:r>
          </a:p>
        </p:txBody>
      </p:sp>
      <p:sp>
        <p:nvSpPr>
          <p:cNvPr id="69" name="TextBox 68"/>
          <p:cNvSpPr txBox="1"/>
          <p:nvPr/>
        </p:nvSpPr>
        <p:spPr>
          <a:xfrm>
            <a:off x="9468000" y="4151760"/>
            <a:ext cx="5292000" cy="3587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Papier blanc, texte gris, une seule famille, Archivo. Toutes les pages partagent la grille et le panneau de droite des planches de dessin : 12 colonnes, marges de 14 mm, gouttières de 5 mm.</a:t>
            </a:r>
          </a:p>
        </p:txBody>
      </p:sp>
      <p:cxnSp>
        <p:nvCxnSpPr>
          <p:cNvPr id="70" name="Connector 69"/>
          <p:cNvCxnSpPr/>
          <p:nvPr/>
        </p:nvCxnSpPr>
        <p:spPr>
          <a:xfrm>
            <a:off x="9468000" y="8856000"/>
            <a:ext cx="5292000" cy="0"/>
          </a:xfrm>
          <a:prstGeom prst="line">
            <a:avLst/>
          </a:prstGeom>
          <a:ln w="3810">
            <a:solidFill>
              <a:srgbClr val="C8C8C8"/>
            </a:solidFill>
          </a:ln>
        </p:spPr>
        <p:style>
          <a:lnRef idx="2">
            <a:schemeClr val="accent1"/>
          </a:lnRef>
          <a:fillRef idx="0">
            <a:schemeClr val="accent1"/>
          </a:fillRef>
          <a:effectRef idx="1">
            <a:schemeClr val="accent1"/>
          </a:effectRef>
          <a:fontRef idx="minor">
            <a:schemeClr val="tx1"/>
          </a:fontRef>
        </p:style>
      </p:cxnSp>
      <p:sp>
        <p:nvSpPr>
          <p:cNvPr id="71" name="TextBox 70"/>
          <p:cNvSpPr txBox="1"/>
          <p:nvPr/>
        </p:nvSpPr>
        <p:spPr>
          <a:xfrm>
            <a:off x="9468000" y="89820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PROJET</a:t>
            </a:r>
          </a:p>
        </p:txBody>
      </p:sp>
      <p:sp>
        <p:nvSpPr>
          <p:cNvPr id="72" name="TextBox 71"/>
          <p:cNvSpPr txBox="1"/>
          <p:nvPr/>
        </p:nvSpPr>
        <p:spPr>
          <a:xfrm>
            <a:off x="10260000" y="89820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Bibliothèque Decimo · RDC sous logements, Deux Plateaux, Abidjan</a:t>
            </a:r>
          </a:p>
        </p:txBody>
      </p:sp>
      <p:sp>
        <p:nvSpPr>
          <p:cNvPr id="73" name="TextBox 72"/>
          <p:cNvSpPr txBox="1"/>
          <p:nvPr/>
        </p:nvSpPr>
        <p:spPr>
          <a:xfrm>
            <a:off x="9468000" y="91476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PHASE</a:t>
            </a:r>
          </a:p>
        </p:txBody>
      </p:sp>
      <p:sp>
        <p:nvSpPr>
          <p:cNvPr id="74" name="TextBox 73"/>
          <p:cNvSpPr txBox="1"/>
          <p:nvPr/>
        </p:nvSpPr>
        <p:spPr>
          <a:xfrm>
            <a:off x="10260000" y="91476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ESQ V5 · aménagement sur existant V4</a:t>
            </a:r>
          </a:p>
        </p:txBody>
      </p:sp>
      <p:sp>
        <p:nvSpPr>
          <p:cNvPr id="75" name="TextBox 74"/>
          <p:cNvSpPr txBox="1"/>
          <p:nvPr/>
        </p:nvSpPr>
        <p:spPr>
          <a:xfrm>
            <a:off x="9468000" y="93132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PLANCHE</a:t>
            </a:r>
          </a:p>
        </p:txBody>
      </p:sp>
      <p:sp>
        <p:nvSpPr>
          <p:cNvPr id="76" name="TextBox 75"/>
          <p:cNvSpPr txBox="1"/>
          <p:nvPr/>
        </p:nvSpPr>
        <p:spPr>
          <a:xfrm>
            <a:off x="10260000" y="93132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03 · Identité K&amp;Démi</a:t>
            </a:r>
          </a:p>
        </p:txBody>
      </p:sp>
      <p:sp>
        <p:nvSpPr>
          <p:cNvPr id="77" name="TextBox 76"/>
          <p:cNvSpPr txBox="1"/>
          <p:nvPr/>
        </p:nvSpPr>
        <p:spPr>
          <a:xfrm>
            <a:off x="9468000" y="94788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ÉCHELLE</a:t>
            </a:r>
          </a:p>
        </p:txBody>
      </p:sp>
      <p:sp>
        <p:nvSpPr>
          <p:cNvPr id="78" name="TextBox 77"/>
          <p:cNvSpPr txBox="1"/>
          <p:nvPr/>
        </p:nvSpPr>
        <p:spPr>
          <a:xfrm>
            <a:off x="10260000" y="94788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sans échelle · format A3 paysage</a:t>
            </a:r>
          </a:p>
        </p:txBody>
      </p:sp>
      <p:sp>
        <p:nvSpPr>
          <p:cNvPr id="79" name="TextBox 78"/>
          <p:cNvSpPr txBox="1"/>
          <p:nvPr/>
        </p:nvSpPr>
        <p:spPr>
          <a:xfrm>
            <a:off x="9468000" y="96444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MAQUETTE</a:t>
            </a:r>
          </a:p>
        </p:txBody>
      </p:sp>
      <p:sp>
        <p:nvSpPr>
          <p:cNvPr id="80" name="TextBox 79"/>
          <p:cNvSpPr txBox="1"/>
          <p:nvPr/>
        </p:nvSpPr>
        <p:spPr>
          <a:xfrm>
            <a:off x="10260000" y="96444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v5/DECIMO_ESQ_V5.ifc (IFC4)</a:t>
            </a:r>
          </a:p>
        </p:txBody>
      </p:sp>
      <p:sp>
        <p:nvSpPr>
          <p:cNvPr id="81" name="TextBox 80"/>
          <p:cNvSpPr txBox="1"/>
          <p:nvPr/>
        </p:nvSpPr>
        <p:spPr>
          <a:xfrm>
            <a:off x="9468000" y="98100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DATE</a:t>
            </a:r>
          </a:p>
        </p:txBody>
      </p:sp>
      <p:sp>
        <p:nvSpPr>
          <p:cNvPr id="82" name="TextBox 81"/>
          <p:cNvSpPr txBox="1"/>
          <p:nvPr/>
        </p:nvSpPr>
        <p:spPr>
          <a:xfrm>
            <a:off x="10260000" y="98100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15 octobre 2026 · indice C</a:t>
            </a:r>
          </a:p>
        </p:txBody>
      </p:sp>
      <p:sp>
        <p:nvSpPr>
          <p:cNvPr id="83" name="TextBox 82"/>
          <p:cNvSpPr txBox="1"/>
          <p:nvPr/>
        </p:nvSpPr>
        <p:spPr>
          <a:xfrm>
            <a:off x="9468000" y="10404000"/>
            <a:ext cx="1440000" cy="155600"/>
          </a:xfrm>
          <a:prstGeom prst="rect">
            <a:avLst/>
          </a:prstGeom>
          <a:noFill/>
        </p:spPr>
        <p:txBody>
          <a:bodyPr wrap="square" lIns="0" rIns="0" tIns="0" bIns="0" anchor="t">
            <a:spAutoFit/>
          </a:bodyPr>
          <a:lstStyle/>
          <a:p>
            <a:pPr algn="l">
              <a:lnSpc>
                <a:spcPts val="800"/>
              </a:lnSpc>
            </a:pPr>
            <a:r>
              <a:rPr sz="650">
                <a:solidFill>
                  <a:srgbClr val="4A4A4A"/>
                </a:solidFill>
                <a:latin typeface="Manrope"/>
              </a:rPr>
              <a:t>K&amp;Démi</a:t>
            </a:r>
          </a:p>
        </p:txBody>
      </p:sp>
      <p:sp>
        <p:nvSpPr>
          <p:cNvPr id="84" name="TextBox 83"/>
          <p:cNvSpPr txBox="1"/>
          <p:nvPr/>
        </p:nvSpPr>
        <p:spPr>
          <a:xfrm>
            <a:off x="12600000" y="10404000"/>
            <a:ext cx="2160000" cy="155600"/>
          </a:xfrm>
          <a:prstGeom prst="rect">
            <a:avLst/>
          </a:prstGeom>
          <a:noFill/>
        </p:spPr>
        <p:txBody>
          <a:bodyPr wrap="square" lIns="0" rIns="0" tIns="0" bIns="0" anchor="t">
            <a:spAutoFit/>
          </a:bodyPr>
          <a:lstStyle/>
          <a:p>
            <a:pPr algn="r">
              <a:lnSpc>
                <a:spcPts val="800"/>
              </a:lnSpc>
            </a:pPr>
            <a:r>
              <a:rPr sz="650">
                <a:solidFill>
                  <a:srgbClr val="8C8C8C"/>
                </a:solidFill>
                <a:latin typeface="Archivo"/>
              </a:rPr>
              <a:t>03 · ESQ V5 · Octobre 2026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mood.jpg"/>
          <p:cNvPicPr>
            <a:picLocks noChangeAspect="1"/>
          </p:cNvPicPr>
          <p:nvPr/>
        </p:nvPicPr>
        <p:blipFill>
          <a:blip r:embed="rId2"/>
          <a:stretch>
            <a:fillRect/>
          </a:stretch>
        </p:blipFill>
        <p:spPr>
          <a:xfrm>
            <a:off x="504000" y="504000"/>
            <a:ext cx="8172000" cy="5940000"/>
          </a:xfrm>
          <a:prstGeom prst="rect">
            <a:avLst/>
          </a:prstGeom>
        </p:spPr>
      </p:pic>
      <p:sp>
        <p:nvSpPr>
          <p:cNvPr id="3" name="TextBox 2"/>
          <p:cNvSpPr txBox="1"/>
          <p:nvPr/>
        </p:nvSpPr>
        <p:spPr>
          <a:xfrm>
            <a:off x="504000" y="6516000"/>
            <a:ext cx="8172000" cy="163220"/>
          </a:xfrm>
          <a:prstGeom prst="rect">
            <a:avLst/>
          </a:prstGeom>
          <a:noFill/>
        </p:spPr>
        <p:txBody>
          <a:bodyPr wrap="square" lIns="0" rIns="0" tIns="0" bIns="0" anchor="t">
            <a:spAutoFit/>
          </a:bodyPr>
          <a:lstStyle/>
          <a:p>
            <a:pPr algn="l">
              <a:lnSpc>
                <a:spcPts val="860"/>
              </a:lnSpc>
            </a:pPr>
            <a:r>
              <a:rPr sz="680">
                <a:solidFill>
                  <a:srgbClr val="8C8C8C"/>
                </a:solidFill>
                <a:latin typeface="Archivo"/>
              </a:rPr>
              <a:t>Planche matière : claustra en terre cuite, iroko huilé, chaux sable, enduit terre, grès cérame, acier noir, laine terre cuite, coton indigo, raphia</a:t>
            </a:r>
          </a:p>
        </p:txBody>
      </p:sp>
      <p:sp>
        <p:nvSpPr>
          <p:cNvPr id="4" name="Rectangle 3"/>
          <p:cNvSpPr/>
          <p:nvPr/>
        </p:nvSpPr>
        <p:spPr>
          <a:xfrm>
            <a:off x="504000" y="6804000"/>
            <a:ext cx="1013142" cy="504000"/>
          </a:xfrm>
          <a:prstGeom prst="rect">
            <a:avLst/>
          </a:prstGeom>
          <a:solidFill>
            <a:srgbClr val="B458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4000" y="7380000"/>
            <a:ext cx="1013142" cy="163220"/>
          </a:xfrm>
          <a:prstGeom prst="rect">
            <a:avLst/>
          </a:prstGeom>
          <a:noFill/>
        </p:spPr>
        <p:txBody>
          <a:bodyPr wrap="square" lIns="0" rIns="0" tIns="0" bIns="0" anchor="t">
            <a:spAutoFit/>
          </a:bodyPr>
          <a:lstStyle/>
          <a:p>
            <a:pPr algn="l">
              <a:lnSpc>
                <a:spcPts val="860"/>
              </a:lnSpc>
            </a:pPr>
            <a:r>
              <a:rPr sz="640">
                <a:solidFill>
                  <a:srgbClr val="8C8C8C"/>
                </a:solidFill>
                <a:latin typeface="Archivo"/>
              </a:rPr>
              <a:t>Terre cuite #B4583E</a:t>
            </a:r>
          </a:p>
        </p:txBody>
      </p:sp>
      <p:sp>
        <p:nvSpPr>
          <p:cNvPr id="6" name="Rectangle 5"/>
          <p:cNvSpPr/>
          <p:nvPr/>
        </p:nvSpPr>
        <p:spPr>
          <a:xfrm>
            <a:off x="1697142" y="6804000"/>
            <a:ext cx="1013142" cy="504000"/>
          </a:xfrm>
          <a:prstGeom prst="rect">
            <a:avLst/>
          </a:prstGeom>
          <a:solidFill>
            <a:srgbClr val="9A6B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697142" y="7380000"/>
            <a:ext cx="1013142" cy="163220"/>
          </a:xfrm>
          <a:prstGeom prst="rect">
            <a:avLst/>
          </a:prstGeom>
          <a:noFill/>
        </p:spPr>
        <p:txBody>
          <a:bodyPr wrap="square" lIns="0" rIns="0" tIns="0" bIns="0" anchor="t">
            <a:spAutoFit/>
          </a:bodyPr>
          <a:lstStyle/>
          <a:p>
            <a:pPr algn="l">
              <a:lnSpc>
                <a:spcPts val="860"/>
              </a:lnSpc>
            </a:pPr>
            <a:r>
              <a:rPr sz="640">
                <a:solidFill>
                  <a:srgbClr val="8C8C8C"/>
                </a:solidFill>
                <a:latin typeface="Archivo"/>
              </a:rPr>
              <a:t>Iroko #9A6B43</a:t>
            </a:r>
          </a:p>
        </p:txBody>
      </p:sp>
      <p:sp>
        <p:nvSpPr>
          <p:cNvPr id="8" name="Rectangle 7"/>
          <p:cNvSpPr/>
          <p:nvPr/>
        </p:nvSpPr>
        <p:spPr>
          <a:xfrm>
            <a:off x="2890285" y="6804000"/>
            <a:ext cx="1013142" cy="504000"/>
          </a:xfrm>
          <a:prstGeom prst="rect">
            <a:avLst/>
          </a:prstGeom>
          <a:solidFill>
            <a:srgbClr val="E6D6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890285" y="7380000"/>
            <a:ext cx="1013142" cy="163220"/>
          </a:xfrm>
          <a:prstGeom prst="rect">
            <a:avLst/>
          </a:prstGeom>
          <a:noFill/>
        </p:spPr>
        <p:txBody>
          <a:bodyPr wrap="square" lIns="0" rIns="0" tIns="0" bIns="0" anchor="t">
            <a:spAutoFit/>
          </a:bodyPr>
          <a:lstStyle/>
          <a:p>
            <a:pPr algn="l">
              <a:lnSpc>
                <a:spcPts val="860"/>
              </a:lnSpc>
            </a:pPr>
            <a:r>
              <a:rPr sz="640">
                <a:solidFill>
                  <a:srgbClr val="8C8C8C"/>
                </a:solidFill>
                <a:latin typeface="Archivo"/>
              </a:rPr>
              <a:t>Sable #E6D6BF</a:t>
            </a:r>
          </a:p>
        </p:txBody>
      </p:sp>
      <p:sp>
        <p:nvSpPr>
          <p:cNvPr id="10" name="Rectangle 9"/>
          <p:cNvSpPr/>
          <p:nvPr/>
        </p:nvSpPr>
        <p:spPr>
          <a:xfrm>
            <a:off x="4083428" y="6804000"/>
            <a:ext cx="1013142" cy="504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1" name="Connector 10"/>
          <p:cNvCxnSpPr/>
          <p:nvPr/>
        </p:nvCxnSpPr>
        <p:spPr>
          <a:xfrm>
            <a:off x="4083428" y="6804000"/>
            <a:ext cx="1013143" cy="0"/>
          </a:xfrm>
          <a:prstGeom prst="line">
            <a:avLst/>
          </a:prstGeom>
          <a:ln w="3810">
            <a:solidFill>
              <a:srgbClr val="8C8C8C"/>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4083428" y="7308000"/>
            <a:ext cx="1013143" cy="0"/>
          </a:xfrm>
          <a:prstGeom prst="line">
            <a:avLst/>
          </a:prstGeom>
          <a:ln w="3810">
            <a:solidFill>
              <a:srgbClr val="8C8C8C"/>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4083428" y="6804000"/>
            <a:ext cx="0" cy="504000"/>
          </a:xfrm>
          <a:prstGeom prst="line">
            <a:avLst/>
          </a:prstGeom>
          <a:ln w="3810">
            <a:solidFill>
              <a:srgbClr val="8C8C8C"/>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5096571" y="6804000"/>
            <a:ext cx="0" cy="504000"/>
          </a:xfrm>
          <a:prstGeom prst="line">
            <a:avLst/>
          </a:prstGeom>
          <a:ln w="3810">
            <a:solidFill>
              <a:srgbClr val="8C8C8C"/>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4083428" y="7380000"/>
            <a:ext cx="1013142" cy="163220"/>
          </a:xfrm>
          <a:prstGeom prst="rect">
            <a:avLst/>
          </a:prstGeom>
          <a:noFill/>
        </p:spPr>
        <p:txBody>
          <a:bodyPr wrap="square" lIns="0" rIns="0" tIns="0" bIns="0" anchor="t">
            <a:spAutoFit/>
          </a:bodyPr>
          <a:lstStyle/>
          <a:p>
            <a:pPr algn="l">
              <a:lnSpc>
                <a:spcPts val="860"/>
              </a:lnSpc>
            </a:pPr>
            <a:r>
              <a:rPr sz="640">
                <a:solidFill>
                  <a:srgbClr val="8C8C8C"/>
                </a:solidFill>
                <a:latin typeface="Archivo"/>
              </a:rPr>
              <a:t>Chaux #FFFFFF</a:t>
            </a:r>
          </a:p>
        </p:txBody>
      </p:sp>
      <p:sp>
        <p:nvSpPr>
          <p:cNvPr id="16" name="Rectangle 15"/>
          <p:cNvSpPr/>
          <p:nvPr/>
        </p:nvSpPr>
        <p:spPr>
          <a:xfrm>
            <a:off x="5276571" y="6804000"/>
            <a:ext cx="1013142" cy="504000"/>
          </a:xfrm>
          <a:prstGeom prst="rect">
            <a:avLst/>
          </a:prstGeom>
          <a:solidFill>
            <a:srgbClr val="4A4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276571" y="7380000"/>
            <a:ext cx="1013142" cy="163220"/>
          </a:xfrm>
          <a:prstGeom prst="rect">
            <a:avLst/>
          </a:prstGeom>
          <a:noFill/>
        </p:spPr>
        <p:txBody>
          <a:bodyPr wrap="square" lIns="0" rIns="0" tIns="0" bIns="0" anchor="t">
            <a:spAutoFit/>
          </a:bodyPr>
          <a:lstStyle/>
          <a:p>
            <a:pPr algn="l">
              <a:lnSpc>
                <a:spcPts val="860"/>
              </a:lnSpc>
            </a:pPr>
            <a:r>
              <a:rPr sz="640">
                <a:solidFill>
                  <a:srgbClr val="8C8C8C"/>
                </a:solidFill>
                <a:latin typeface="Archivo"/>
              </a:rPr>
              <a:t>Encre #4A4A4A</a:t>
            </a:r>
          </a:p>
        </p:txBody>
      </p:sp>
      <p:sp>
        <p:nvSpPr>
          <p:cNvPr id="18" name="Rectangle 17"/>
          <p:cNvSpPr/>
          <p:nvPr/>
        </p:nvSpPr>
        <p:spPr>
          <a:xfrm>
            <a:off x="6469714" y="6804000"/>
            <a:ext cx="1013142" cy="504000"/>
          </a:xfrm>
          <a:prstGeom prst="rect">
            <a:avLst/>
          </a:prstGeom>
          <a:solidFill>
            <a:srgbClr val="2F3A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69714" y="7380000"/>
            <a:ext cx="1013142" cy="163220"/>
          </a:xfrm>
          <a:prstGeom prst="rect">
            <a:avLst/>
          </a:prstGeom>
          <a:noFill/>
        </p:spPr>
        <p:txBody>
          <a:bodyPr wrap="square" lIns="0" rIns="0" tIns="0" bIns="0" anchor="t">
            <a:spAutoFit/>
          </a:bodyPr>
          <a:lstStyle/>
          <a:p>
            <a:pPr algn="l">
              <a:lnSpc>
                <a:spcPts val="860"/>
              </a:lnSpc>
            </a:pPr>
            <a:r>
              <a:rPr sz="640">
                <a:solidFill>
                  <a:srgbClr val="8C8C8C"/>
                </a:solidFill>
                <a:latin typeface="Archivo"/>
              </a:rPr>
              <a:t>Indigo #2F3A56</a:t>
            </a:r>
          </a:p>
        </p:txBody>
      </p:sp>
      <p:sp>
        <p:nvSpPr>
          <p:cNvPr id="20" name="Rectangle 19"/>
          <p:cNvSpPr/>
          <p:nvPr/>
        </p:nvSpPr>
        <p:spPr>
          <a:xfrm>
            <a:off x="7662857" y="6804000"/>
            <a:ext cx="1013142" cy="504000"/>
          </a:xfrm>
          <a:prstGeom prst="rect">
            <a:avLst/>
          </a:prstGeom>
          <a:solidFill>
            <a:srgbClr val="5F7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662857" y="7380000"/>
            <a:ext cx="1013142" cy="163220"/>
          </a:xfrm>
          <a:prstGeom prst="rect">
            <a:avLst/>
          </a:prstGeom>
          <a:noFill/>
        </p:spPr>
        <p:txBody>
          <a:bodyPr wrap="square" lIns="0" rIns="0" tIns="0" bIns="0" anchor="t">
            <a:spAutoFit/>
          </a:bodyPr>
          <a:lstStyle/>
          <a:p>
            <a:pPr algn="l">
              <a:lnSpc>
                <a:spcPts val="860"/>
              </a:lnSpc>
            </a:pPr>
            <a:r>
              <a:rPr sz="640">
                <a:solidFill>
                  <a:srgbClr val="8C8C8C"/>
                </a:solidFill>
                <a:latin typeface="Archivo"/>
              </a:rPr>
              <a:t>Olive #5F7A4B</a:t>
            </a:r>
          </a:p>
        </p:txBody>
      </p:sp>
      <p:cxnSp>
        <p:nvCxnSpPr>
          <p:cNvPr id="22" name="Connector 21"/>
          <p:cNvCxnSpPr/>
          <p:nvPr/>
        </p:nvCxnSpPr>
        <p:spPr>
          <a:xfrm>
            <a:off x="504000" y="7776000"/>
            <a:ext cx="1908000" cy="0"/>
          </a:xfrm>
          <a:prstGeom prst="line">
            <a:avLst/>
          </a:prstGeom>
          <a:ln w="5080">
            <a:solidFill>
              <a:srgbClr val="C8C8C8"/>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504000" y="7920000"/>
            <a:ext cx="1908000" cy="257199"/>
          </a:xfrm>
          <a:prstGeom prst="rect">
            <a:avLst/>
          </a:prstGeom>
          <a:noFill/>
        </p:spPr>
        <p:txBody>
          <a:bodyPr wrap="square" lIns="0" rIns="0" tIns="0" bIns="0" anchor="t">
            <a:spAutoFit/>
          </a:bodyPr>
          <a:lstStyle/>
          <a:p>
            <a:pPr algn="l">
              <a:lnSpc>
                <a:spcPts val="1600"/>
              </a:lnSpc>
            </a:pPr>
            <a:r>
              <a:rPr sz="1250" b="1">
                <a:solidFill>
                  <a:srgbClr val="4A4A4A"/>
                </a:solidFill>
                <a:latin typeface="Archivo"/>
              </a:rPr>
              <a:t>Matériaux</a:t>
            </a:r>
          </a:p>
        </p:txBody>
      </p:sp>
      <p:sp>
        <p:nvSpPr>
          <p:cNvPr id="24" name="TextBox 23"/>
          <p:cNvSpPr txBox="1"/>
          <p:nvPr/>
        </p:nvSpPr>
        <p:spPr>
          <a:xfrm>
            <a:off x="504000" y="8190000"/>
            <a:ext cx="1908000" cy="602640"/>
          </a:xfrm>
          <a:prstGeom prst="rect">
            <a:avLst/>
          </a:prstGeom>
          <a:noFill/>
        </p:spPr>
        <p:txBody>
          <a:bodyPr wrap="square" lIns="0" rIns="0" tIns="0" bIns="0" anchor="t">
            <a:spAutoFit/>
          </a:bodyPr>
          <a:lstStyle/>
          <a:p>
            <a:pPr algn="l">
              <a:lnSpc>
                <a:spcPts val="1080"/>
              </a:lnSpc>
            </a:pPr>
            <a:r>
              <a:rPr sz="780">
                <a:solidFill>
                  <a:srgbClr val="4A4A4A"/>
                </a:solidFill>
                <a:latin typeface="Archivo"/>
              </a:rPr>
              <a:t>Terrazzo clair au sol, parquet iroko dans la salle de lecture, enduit terre et chaux sable aux murs, lambris iroko à claire-voie, acier noir mat pour les châssis et la marquise.</a:t>
            </a:r>
          </a:p>
        </p:txBody>
      </p:sp>
      <p:cxnSp>
        <p:nvCxnSpPr>
          <p:cNvPr id="25" name="Connector 24"/>
          <p:cNvCxnSpPr/>
          <p:nvPr/>
        </p:nvCxnSpPr>
        <p:spPr>
          <a:xfrm>
            <a:off x="2592000" y="7776000"/>
            <a:ext cx="1908000" cy="0"/>
          </a:xfrm>
          <a:prstGeom prst="line">
            <a:avLst/>
          </a:prstGeom>
          <a:ln w="5080">
            <a:solidFill>
              <a:srgbClr val="C8C8C8"/>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2592000" y="7920000"/>
            <a:ext cx="1908000" cy="257199"/>
          </a:xfrm>
          <a:prstGeom prst="rect">
            <a:avLst/>
          </a:prstGeom>
          <a:noFill/>
        </p:spPr>
        <p:txBody>
          <a:bodyPr wrap="square" lIns="0" rIns="0" tIns="0" bIns="0" anchor="t">
            <a:spAutoFit/>
          </a:bodyPr>
          <a:lstStyle/>
          <a:p>
            <a:pPr algn="l">
              <a:lnSpc>
                <a:spcPts val="1600"/>
              </a:lnSpc>
            </a:pPr>
            <a:r>
              <a:rPr sz="1250" b="1">
                <a:solidFill>
                  <a:srgbClr val="4A4A4A"/>
                </a:solidFill>
                <a:latin typeface="Archivo"/>
              </a:rPr>
              <a:t>Mobilier</a:t>
            </a:r>
          </a:p>
        </p:txBody>
      </p:sp>
      <p:sp>
        <p:nvSpPr>
          <p:cNvPr id="27" name="TextBox 26"/>
          <p:cNvSpPr txBox="1"/>
          <p:nvPr/>
        </p:nvSpPr>
        <p:spPr>
          <a:xfrm>
            <a:off x="2592000" y="8190000"/>
            <a:ext cx="1908000" cy="602640"/>
          </a:xfrm>
          <a:prstGeom prst="rect">
            <a:avLst/>
          </a:prstGeom>
          <a:noFill/>
        </p:spPr>
        <p:txBody>
          <a:bodyPr wrap="square" lIns="0" rIns="0" tIns="0" bIns="0" anchor="t">
            <a:spAutoFit/>
          </a:bodyPr>
          <a:lstStyle/>
          <a:p>
            <a:pPr algn="l">
              <a:lnSpc>
                <a:spcPts val="1080"/>
              </a:lnSpc>
            </a:pPr>
            <a:r>
              <a:rPr sz="780">
                <a:solidFill>
                  <a:srgbClr val="4A4A4A"/>
                </a:solidFill>
                <a:latin typeface="Archivo"/>
              </a:rPr>
              <a:t>Iroko sur mesure : arbre à livres, rayonnages, banque d'accueil, banquettes. Chaises courbes, assises en raphia, coussins indigo artisanaux.</a:t>
            </a:r>
          </a:p>
        </p:txBody>
      </p:sp>
      <p:cxnSp>
        <p:nvCxnSpPr>
          <p:cNvPr id="28" name="Connector 27"/>
          <p:cNvCxnSpPr/>
          <p:nvPr/>
        </p:nvCxnSpPr>
        <p:spPr>
          <a:xfrm>
            <a:off x="4680000" y="7776000"/>
            <a:ext cx="1908000" cy="0"/>
          </a:xfrm>
          <a:prstGeom prst="line">
            <a:avLst/>
          </a:prstGeom>
          <a:ln w="5080">
            <a:solidFill>
              <a:srgbClr val="C8C8C8"/>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4680000" y="7920000"/>
            <a:ext cx="1908000" cy="257199"/>
          </a:xfrm>
          <a:prstGeom prst="rect">
            <a:avLst/>
          </a:prstGeom>
          <a:noFill/>
        </p:spPr>
        <p:txBody>
          <a:bodyPr wrap="square" lIns="0" rIns="0" tIns="0" bIns="0" anchor="t">
            <a:spAutoFit/>
          </a:bodyPr>
          <a:lstStyle/>
          <a:p>
            <a:pPr algn="l">
              <a:lnSpc>
                <a:spcPts val="1600"/>
              </a:lnSpc>
            </a:pPr>
            <a:r>
              <a:rPr sz="1250" b="1">
                <a:solidFill>
                  <a:srgbClr val="4A4A4A"/>
                </a:solidFill>
                <a:latin typeface="Archivo"/>
              </a:rPr>
              <a:t>Lumière</a:t>
            </a:r>
          </a:p>
        </p:txBody>
      </p:sp>
      <p:sp>
        <p:nvSpPr>
          <p:cNvPr id="30" name="TextBox 29"/>
          <p:cNvSpPr txBox="1"/>
          <p:nvPr/>
        </p:nvSpPr>
        <p:spPr>
          <a:xfrm>
            <a:off x="4680000" y="8190000"/>
            <a:ext cx="1908000" cy="739799"/>
          </a:xfrm>
          <a:prstGeom prst="rect">
            <a:avLst/>
          </a:prstGeom>
          <a:noFill/>
        </p:spPr>
        <p:txBody>
          <a:bodyPr wrap="square" lIns="0" rIns="0" tIns="0" bIns="0" anchor="t">
            <a:spAutoFit/>
          </a:bodyPr>
          <a:lstStyle/>
          <a:p>
            <a:pPr algn="l">
              <a:lnSpc>
                <a:spcPts val="1080"/>
              </a:lnSpc>
            </a:pPr>
            <a:r>
              <a:rPr sz="780">
                <a:solidFill>
                  <a:srgbClr val="4A4A4A"/>
                </a:solidFill>
                <a:latin typeface="Archivo"/>
              </a:rPr>
              <a:t>Tout en 2700 K. Anneau LED sous la canopée de l'arbre, downlights encastrés, suspensions terre cuite au-dessus des tables, réglette de vitrine, spot IP65 sous marquise.</a:t>
            </a:r>
          </a:p>
        </p:txBody>
      </p:sp>
      <p:cxnSp>
        <p:nvCxnSpPr>
          <p:cNvPr id="31" name="Connector 30"/>
          <p:cNvCxnSpPr/>
          <p:nvPr/>
        </p:nvCxnSpPr>
        <p:spPr>
          <a:xfrm>
            <a:off x="6768000" y="7776000"/>
            <a:ext cx="1908000" cy="0"/>
          </a:xfrm>
          <a:prstGeom prst="line">
            <a:avLst/>
          </a:prstGeom>
          <a:ln w="5080">
            <a:solidFill>
              <a:srgbClr val="C8C8C8"/>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6768000" y="7920000"/>
            <a:ext cx="1908000" cy="257199"/>
          </a:xfrm>
          <a:prstGeom prst="rect">
            <a:avLst/>
          </a:prstGeom>
          <a:noFill/>
        </p:spPr>
        <p:txBody>
          <a:bodyPr wrap="square" lIns="0" rIns="0" tIns="0" bIns="0" anchor="t">
            <a:spAutoFit/>
          </a:bodyPr>
          <a:lstStyle/>
          <a:p>
            <a:pPr algn="l">
              <a:lnSpc>
                <a:spcPts val="1600"/>
              </a:lnSpc>
            </a:pPr>
            <a:r>
              <a:rPr sz="1250" b="1">
                <a:solidFill>
                  <a:srgbClr val="4A4A4A"/>
                </a:solidFill>
                <a:latin typeface="Archivo"/>
              </a:rPr>
              <a:t>Végétal</a:t>
            </a:r>
          </a:p>
        </p:txBody>
      </p:sp>
      <p:sp>
        <p:nvSpPr>
          <p:cNvPr id="33" name="TextBox 32"/>
          <p:cNvSpPr txBox="1"/>
          <p:nvPr/>
        </p:nvSpPr>
        <p:spPr>
          <a:xfrm>
            <a:off x="6768000" y="8190000"/>
            <a:ext cx="1908000" cy="602640"/>
          </a:xfrm>
          <a:prstGeom prst="rect">
            <a:avLst/>
          </a:prstGeom>
          <a:noFill/>
        </p:spPr>
        <p:txBody>
          <a:bodyPr wrap="square" lIns="0" rIns="0" tIns="0" bIns="0" anchor="t">
            <a:spAutoFit/>
          </a:bodyPr>
          <a:lstStyle/>
          <a:p>
            <a:pPr algn="l">
              <a:lnSpc>
                <a:spcPts val="1080"/>
              </a:lnSpc>
            </a:pPr>
            <a:r>
              <a:rPr sz="780">
                <a:solidFill>
                  <a:srgbClr val="4A4A4A"/>
                </a:solidFill>
                <a:latin typeface="Archivo"/>
              </a:rPr>
              <a:t>Ficus lyrata, strelitzia, fougères et dracaena en jardinières sur la terrasse. Le vert reste rare à l'intérieur pour laisser la terre et le bois parler.</a:t>
            </a:r>
          </a:p>
        </p:txBody>
      </p:sp>
      <p:cxnSp>
        <p:nvCxnSpPr>
          <p:cNvPr id="34" name="Connector 33"/>
          <p:cNvCxnSpPr/>
          <p:nvPr/>
        </p:nvCxnSpPr>
        <p:spPr>
          <a:xfrm>
            <a:off x="9180000" y="288000"/>
            <a:ext cx="0" cy="10116000"/>
          </a:xfrm>
          <a:prstGeom prst="line">
            <a:avLst/>
          </a:prstGeom>
          <a:ln w="5080">
            <a:solidFill>
              <a:srgbClr val="C8C8C8"/>
            </a:solidFill>
          </a:ln>
        </p:spPr>
        <p:style>
          <a:lnRef idx="2">
            <a:schemeClr val="accent1"/>
          </a:lnRef>
          <a:fillRef idx="0">
            <a:schemeClr val="accent1"/>
          </a:fillRef>
          <a:effectRef idx="1">
            <a:schemeClr val="accent1"/>
          </a:effectRef>
          <a:fontRef idx="minor">
            <a:schemeClr val="tx1"/>
          </a:fontRef>
        </p:style>
      </p:cxnSp>
      <p:pic>
        <p:nvPicPr>
          <p:cNvPr id="35" name="Picture 34" descr="KDemi_v3_A_arche_lockup_mono.png"/>
          <p:cNvPicPr>
            <a:picLocks noChangeAspect="1"/>
          </p:cNvPicPr>
          <p:nvPr/>
        </p:nvPicPr>
        <p:blipFill>
          <a:blip r:embed="rId3"/>
          <a:stretch>
            <a:fillRect/>
          </a:stretch>
        </p:blipFill>
        <p:spPr>
          <a:xfrm>
            <a:off x="9468000" y="432000"/>
            <a:ext cx="1656000" cy="561660"/>
          </a:xfrm>
          <a:prstGeom prst="rect">
            <a:avLst/>
          </a:prstGeom>
        </p:spPr>
      </p:pic>
      <p:sp>
        <p:nvSpPr>
          <p:cNvPr id="36" name="TextBox 35"/>
          <p:cNvSpPr txBox="1"/>
          <p:nvPr/>
        </p:nvSpPr>
        <p:spPr>
          <a:xfrm>
            <a:off x="9468000" y="1440000"/>
            <a:ext cx="5292000" cy="384199"/>
          </a:xfrm>
          <a:prstGeom prst="rect">
            <a:avLst/>
          </a:prstGeom>
          <a:noFill/>
        </p:spPr>
        <p:txBody>
          <a:bodyPr wrap="square" lIns="0" rIns="0" tIns="0" bIns="0" anchor="t">
            <a:spAutoFit/>
          </a:bodyPr>
          <a:lstStyle/>
          <a:p>
            <a:pPr algn="l">
              <a:lnSpc>
                <a:spcPts val="2600"/>
              </a:lnSpc>
            </a:pPr>
            <a:r>
              <a:rPr sz="2300" b="1">
                <a:solidFill>
                  <a:srgbClr val="4A4A4A"/>
                </a:solidFill>
                <a:latin typeface="Archivo"/>
              </a:rPr>
              <a:t>D.A de la bibliothèque</a:t>
            </a:r>
          </a:p>
        </p:txBody>
      </p:sp>
      <p:sp>
        <p:nvSpPr>
          <p:cNvPr id="37" name="TextBox 36"/>
          <p:cNvSpPr txBox="1"/>
          <p:nvPr/>
        </p:nvSpPr>
        <p:spPr>
          <a:xfrm>
            <a:off x="9468000" y="1890000"/>
            <a:ext cx="5292000" cy="231799"/>
          </a:xfrm>
          <a:prstGeom prst="rect">
            <a:avLst/>
          </a:prstGeom>
          <a:noFill/>
        </p:spPr>
        <p:txBody>
          <a:bodyPr wrap="square" lIns="0" rIns="0" tIns="0" bIns="0" anchor="t">
            <a:spAutoFit/>
          </a:bodyPr>
          <a:lstStyle/>
          <a:p>
            <a:pPr algn="l">
              <a:lnSpc>
                <a:spcPts val="1400"/>
              </a:lnSpc>
            </a:pPr>
            <a:r>
              <a:rPr sz="1050">
                <a:solidFill>
                  <a:srgbClr val="4A4A4A"/>
                </a:solidFill>
                <a:latin typeface="Archivo"/>
              </a:rPr>
              <a:t>Terre, ombre et bois</a:t>
            </a:r>
          </a:p>
        </p:txBody>
      </p:sp>
      <p:sp>
        <p:nvSpPr>
          <p:cNvPr id="38" name="TextBox 37"/>
          <p:cNvSpPr txBox="1"/>
          <p:nvPr/>
        </p:nvSpPr>
        <p:spPr>
          <a:xfrm>
            <a:off x="9468000" y="2142000"/>
            <a:ext cx="5292000" cy="168300"/>
          </a:xfrm>
          <a:prstGeom prst="rect">
            <a:avLst/>
          </a:prstGeom>
          <a:noFill/>
        </p:spPr>
        <p:txBody>
          <a:bodyPr wrap="square" lIns="0" rIns="0" tIns="0" bIns="0" anchor="t">
            <a:spAutoFit/>
          </a:bodyPr>
          <a:lstStyle/>
          <a:p>
            <a:pPr algn="l">
              <a:lnSpc>
                <a:spcPts val="900"/>
              </a:lnSpc>
            </a:pPr>
            <a:r>
              <a:rPr sz="720">
                <a:solidFill>
                  <a:srgbClr val="8C8C8C"/>
                </a:solidFill>
                <a:latin typeface="Archivo"/>
              </a:rPr>
              <a:t>Direction artistique d'Affoué, visée le 14 octobre 2026</a:t>
            </a:r>
          </a:p>
        </p:txBody>
      </p:sp>
      <p:cxnSp>
        <p:nvCxnSpPr>
          <p:cNvPr id="39" name="Connector 38"/>
          <p:cNvCxnSpPr/>
          <p:nvPr/>
        </p:nvCxnSpPr>
        <p:spPr>
          <a:xfrm>
            <a:off x="9468000" y="2304000"/>
            <a:ext cx="648000" cy="0"/>
          </a:xfrm>
          <a:prstGeom prst="line">
            <a:avLst/>
          </a:prstGeom>
          <a:ln w="11430">
            <a:solidFill>
              <a:srgbClr val="B4583E"/>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10116000" y="2304000"/>
            <a:ext cx="4644000" cy="0"/>
          </a:xfrm>
          <a:prstGeom prst="line">
            <a:avLst/>
          </a:prstGeom>
          <a:ln w="5080">
            <a:solidFill>
              <a:srgbClr val="C8C8C8"/>
            </a:solidFill>
          </a:ln>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9468000" y="2520000"/>
            <a:ext cx="5292000" cy="180999"/>
          </a:xfrm>
          <a:prstGeom prst="rect">
            <a:avLst/>
          </a:prstGeom>
          <a:noFill/>
        </p:spPr>
        <p:txBody>
          <a:bodyPr wrap="square" lIns="0" rIns="0" tIns="0" bIns="0" anchor="t">
            <a:spAutoFit/>
          </a:bodyPr>
          <a:lstStyle/>
          <a:p>
            <a:pPr algn="l">
              <a:lnSpc>
                <a:spcPts val="1000"/>
              </a:lnSpc>
            </a:pPr>
            <a:r>
              <a:rPr sz="740">
                <a:solidFill>
                  <a:srgbClr val="B4583E"/>
                </a:solidFill>
                <a:latin typeface="Archivo"/>
              </a:rPr>
              <a:t>PRINCIPES</a:t>
            </a:r>
          </a:p>
        </p:txBody>
      </p:sp>
      <p:sp>
        <p:nvSpPr>
          <p:cNvPr id="42" name="TextBox 41"/>
          <p:cNvSpPr txBox="1"/>
          <p:nvPr/>
        </p:nvSpPr>
        <p:spPr>
          <a:xfrm>
            <a:off x="9468000" y="2707200"/>
            <a:ext cx="216000" cy="175920"/>
          </a:xfrm>
          <a:prstGeom prst="rect">
            <a:avLst/>
          </a:prstGeom>
          <a:noFill/>
        </p:spPr>
        <p:txBody>
          <a:bodyPr wrap="square" lIns="0" rIns="0" tIns="0" bIns="0" anchor="t">
            <a:spAutoFit/>
          </a:bodyPr>
          <a:lstStyle/>
          <a:p>
            <a:pPr algn="l">
              <a:lnSpc>
                <a:spcPts val="960"/>
              </a:lnSpc>
            </a:pPr>
            <a:r>
              <a:rPr sz="720">
                <a:solidFill>
                  <a:srgbClr val="B4583E"/>
                </a:solidFill>
                <a:latin typeface="Archivo"/>
              </a:rPr>
              <a:t>01</a:t>
            </a:r>
          </a:p>
        </p:txBody>
      </p:sp>
      <p:sp>
        <p:nvSpPr>
          <p:cNvPr id="43" name="TextBox 42"/>
          <p:cNvSpPr txBox="1"/>
          <p:nvPr/>
        </p:nvSpPr>
        <p:spPr>
          <a:xfrm>
            <a:off x="9720000" y="2707200"/>
            <a:ext cx="5040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Un seuil cintré centré sur la rue cadre l'arbre à livres.</a:t>
            </a:r>
          </a:p>
        </p:txBody>
      </p:sp>
      <p:sp>
        <p:nvSpPr>
          <p:cNvPr id="44" name="TextBox 43"/>
          <p:cNvSpPr txBox="1"/>
          <p:nvPr/>
        </p:nvSpPr>
        <p:spPr>
          <a:xfrm>
            <a:off x="9468000" y="2872320"/>
            <a:ext cx="216000" cy="175920"/>
          </a:xfrm>
          <a:prstGeom prst="rect">
            <a:avLst/>
          </a:prstGeom>
          <a:noFill/>
        </p:spPr>
        <p:txBody>
          <a:bodyPr wrap="square" lIns="0" rIns="0" tIns="0" bIns="0" anchor="t">
            <a:spAutoFit/>
          </a:bodyPr>
          <a:lstStyle/>
          <a:p>
            <a:pPr algn="l">
              <a:lnSpc>
                <a:spcPts val="960"/>
              </a:lnSpc>
            </a:pPr>
            <a:r>
              <a:rPr sz="720">
                <a:solidFill>
                  <a:srgbClr val="B4583E"/>
                </a:solidFill>
                <a:latin typeface="Archivo"/>
              </a:rPr>
              <a:t>02</a:t>
            </a:r>
          </a:p>
        </p:txBody>
      </p:sp>
      <p:sp>
        <p:nvSpPr>
          <p:cNvPr id="45" name="TextBox 44"/>
          <p:cNvSpPr txBox="1"/>
          <p:nvPr/>
        </p:nvSpPr>
        <p:spPr>
          <a:xfrm>
            <a:off x="9720000" y="2872320"/>
            <a:ext cx="5040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Les baies en claustra terre cuite, à motifs inspirés des Adinkra Adinkrahene et Eban, filtrent le soleil de l'après-midi.</a:t>
            </a:r>
          </a:p>
        </p:txBody>
      </p:sp>
      <p:sp>
        <p:nvSpPr>
          <p:cNvPr id="46" name="TextBox 45"/>
          <p:cNvSpPr txBox="1"/>
          <p:nvPr/>
        </p:nvSpPr>
        <p:spPr>
          <a:xfrm>
            <a:off x="9468000" y="3037440"/>
            <a:ext cx="216000" cy="175920"/>
          </a:xfrm>
          <a:prstGeom prst="rect">
            <a:avLst/>
          </a:prstGeom>
          <a:noFill/>
        </p:spPr>
        <p:txBody>
          <a:bodyPr wrap="square" lIns="0" rIns="0" tIns="0" bIns="0" anchor="t">
            <a:spAutoFit/>
          </a:bodyPr>
          <a:lstStyle/>
          <a:p>
            <a:pPr algn="l">
              <a:lnSpc>
                <a:spcPts val="960"/>
              </a:lnSpc>
            </a:pPr>
            <a:r>
              <a:rPr sz="720">
                <a:solidFill>
                  <a:srgbClr val="B4583E"/>
                </a:solidFill>
                <a:latin typeface="Archivo"/>
              </a:rPr>
              <a:t>03</a:t>
            </a:r>
          </a:p>
        </p:txBody>
      </p:sp>
      <p:sp>
        <p:nvSpPr>
          <p:cNvPr id="47" name="TextBox 46"/>
          <p:cNvSpPr txBox="1"/>
          <p:nvPr/>
        </p:nvSpPr>
        <p:spPr>
          <a:xfrm>
            <a:off x="9720000" y="3037440"/>
            <a:ext cx="5040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La canopée de l'arbre et son oculus indigo sont le seul objet fort de la salle.</a:t>
            </a:r>
          </a:p>
        </p:txBody>
      </p:sp>
      <p:sp>
        <p:nvSpPr>
          <p:cNvPr id="48" name="TextBox 47"/>
          <p:cNvSpPr txBox="1"/>
          <p:nvPr/>
        </p:nvSpPr>
        <p:spPr>
          <a:xfrm>
            <a:off x="9468000" y="3202560"/>
            <a:ext cx="216000" cy="175920"/>
          </a:xfrm>
          <a:prstGeom prst="rect">
            <a:avLst/>
          </a:prstGeom>
          <a:noFill/>
        </p:spPr>
        <p:txBody>
          <a:bodyPr wrap="square" lIns="0" rIns="0" tIns="0" bIns="0" anchor="t">
            <a:spAutoFit/>
          </a:bodyPr>
          <a:lstStyle/>
          <a:p>
            <a:pPr algn="l">
              <a:lnSpc>
                <a:spcPts val="960"/>
              </a:lnSpc>
            </a:pPr>
            <a:r>
              <a:rPr sz="720">
                <a:solidFill>
                  <a:srgbClr val="B4583E"/>
                </a:solidFill>
                <a:latin typeface="Archivo"/>
              </a:rPr>
              <a:t>04</a:t>
            </a:r>
          </a:p>
        </p:txBody>
      </p:sp>
      <p:sp>
        <p:nvSpPr>
          <p:cNvPr id="49" name="TextBox 48"/>
          <p:cNvSpPr txBox="1"/>
          <p:nvPr/>
        </p:nvSpPr>
        <p:spPr>
          <a:xfrm>
            <a:off x="9720000" y="3202560"/>
            <a:ext cx="5040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Iroko pour tout ce qui se touche, chaux pour tout ce qui se voit.</a:t>
            </a:r>
          </a:p>
        </p:txBody>
      </p:sp>
      <p:sp>
        <p:nvSpPr>
          <p:cNvPr id="50" name="TextBox 49"/>
          <p:cNvSpPr txBox="1"/>
          <p:nvPr/>
        </p:nvSpPr>
        <p:spPr>
          <a:xfrm>
            <a:off x="9468000" y="3367680"/>
            <a:ext cx="216000" cy="175920"/>
          </a:xfrm>
          <a:prstGeom prst="rect">
            <a:avLst/>
          </a:prstGeom>
          <a:noFill/>
        </p:spPr>
        <p:txBody>
          <a:bodyPr wrap="square" lIns="0" rIns="0" tIns="0" bIns="0" anchor="t">
            <a:spAutoFit/>
          </a:bodyPr>
          <a:lstStyle/>
          <a:p>
            <a:pPr algn="l">
              <a:lnSpc>
                <a:spcPts val="960"/>
              </a:lnSpc>
            </a:pPr>
            <a:r>
              <a:rPr sz="720">
                <a:solidFill>
                  <a:srgbClr val="B4583E"/>
                </a:solidFill>
                <a:latin typeface="Archivo"/>
              </a:rPr>
              <a:t>05</a:t>
            </a:r>
          </a:p>
        </p:txBody>
      </p:sp>
      <p:sp>
        <p:nvSpPr>
          <p:cNvPr id="51" name="TextBox 50"/>
          <p:cNvSpPr txBox="1"/>
          <p:nvPr/>
        </p:nvSpPr>
        <p:spPr>
          <a:xfrm>
            <a:off x="9720000" y="3367680"/>
            <a:ext cx="5040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Ventilation traversante par la claustra et la terrasse, deux splits en appoint dont les unités extérieures vont en courette.</a:t>
            </a:r>
          </a:p>
        </p:txBody>
      </p:sp>
      <p:sp>
        <p:nvSpPr>
          <p:cNvPr id="52" name="TextBox 51"/>
          <p:cNvSpPr txBox="1"/>
          <p:nvPr/>
        </p:nvSpPr>
        <p:spPr>
          <a:xfrm>
            <a:off x="9468000" y="3640800"/>
            <a:ext cx="5292000" cy="180999"/>
          </a:xfrm>
          <a:prstGeom prst="rect">
            <a:avLst/>
          </a:prstGeom>
          <a:noFill/>
        </p:spPr>
        <p:txBody>
          <a:bodyPr wrap="square" lIns="0" rIns="0" tIns="0" bIns="0" anchor="t">
            <a:spAutoFit/>
          </a:bodyPr>
          <a:lstStyle/>
          <a:p>
            <a:pPr algn="l">
              <a:lnSpc>
                <a:spcPts val="1000"/>
              </a:lnSpc>
            </a:pPr>
            <a:r>
              <a:rPr sz="740">
                <a:solidFill>
                  <a:srgbClr val="B4583E"/>
                </a:solidFill>
                <a:latin typeface="Archivo"/>
              </a:rPr>
              <a:t>AMBIANCE</a:t>
            </a:r>
          </a:p>
        </p:txBody>
      </p:sp>
      <p:sp>
        <p:nvSpPr>
          <p:cNvPr id="53" name="TextBox 52"/>
          <p:cNvSpPr txBox="1"/>
          <p:nvPr/>
        </p:nvSpPr>
        <p:spPr>
          <a:xfrm>
            <a:off x="9468000" y="3828000"/>
            <a:ext cx="5292000" cy="3587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Une pénombre fraîche, une lumière tamisée par la claustra le jour et 2700 K le soir. Aucun dégradé, aucun motif plaqué : les motifs naissent de la matière.</a:t>
            </a:r>
          </a:p>
        </p:txBody>
      </p:sp>
      <p:cxnSp>
        <p:nvCxnSpPr>
          <p:cNvPr id="54" name="Connector 53"/>
          <p:cNvCxnSpPr/>
          <p:nvPr/>
        </p:nvCxnSpPr>
        <p:spPr>
          <a:xfrm>
            <a:off x="9468000" y="8856000"/>
            <a:ext cx="5292000" cy="0"/>
          </a:xfrm>
          <a:prstGeom prst="line">
            <a:avLst/>
          </a:prstGeom>
          <a:ln w="3810">
            <a:solidFill>
              <a:srgbClr val="C8C8C8"/>
            </a:solidFill>
          </a:ln>
        </p:spPr>
        <p:style>
          <a:lnRef idx="2">
            <a:schemeClr val="accent1"/>
          </a:lnRef>
          <a:fillRef idx="0">
            <a:schemeClr val="accent1"/>
          </a:fillRef>
          <a:effectRef idx="1">
            <a:schemeClr val="accent1"/>
          </a:effectRef>
          <a:fontRef idx="minor">
            <a:schemeClr val="tx1"/>
          </a:fontRef>
        </p:style>
      </p:cxnSp>
      <p:sp>
        <p:nvSpPr>
          <p:cNvPr id="55" name="TextBox 54"/>
          <p:cNvSpPr txBox="1"/>
          <p:nvPr/>
        </p:nvSpPr>
        <p:spPr>
          <a:xfrm>
            <a:off x="9468000" y="89820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PROJET</a:t>
            </a:r>
          </a:p>
        </p:txBody>
      </p:sp>
      <p:sp>
        <p:nvSpPr>
          <p:cNvPr id="56" name="TextBox 55"/>
          <p:cNvSpPr txBox="1"/>
          <p:nvPr/>
        </p:nvSpPr>
        <p:spPr>
          <a:xfrm>
            <a:off x="10260000" y="89820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Bibliothèque Decimo · RDC sous logements, Deux Plateaux, Abidjan</a:t>
            </a:r>
          </a:p>
        </p:txBody>
      </p:sp>
      <p:sp>
        <p:nvSpPr>
          <p:cNvPr id="57" name="TextBox 56"/>
          <p:cNvSpPr txBox="1"/>
          <p:nvPr/>
        </p:nvSpPr>
        <p:spPr>
          <a:xfrm>
            <a:off x="9468000" y="91476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PHASE</a:t>
            </a:r>
          </a:p>
        </p:txBody>
      </p:sp>
      <p:sp>
        <p:nvSpPr>
          <p:cNvPr id="58" name="TextBox 57"/>
          <p:cNvSpPr txBox="1"/>
          <p:nvPr/>
        </p:nvSpPr>
        <p:spPr>
          <a:xfrm>
            <a:off x="10260000" y="91476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ESQ V5 · aménagement sur existant V4</a:t>
            </a:r>
          </a:p>
        </p:txBody>
      </p:sp>
      <p:sp>
        <p:nvSpPr>
          <p:cNvPr id="59" name="TextBox 58"/>
          <p:cNvSpPr txBox="1"/>
          <p:nvPr/>
        </p:nvSpPr>
        <p:spPr>
          <a:xfrm>
            <a:off x="9468000" y="93132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PLANCHE</a:t>
            </a:r>
          </a:p>
        </p:txBody>
      </p:sp>
      <p:sp>
        <p:nvSpPr>
          <p:cNvPr id="60" name="TextBox 59"/>
          <p:cNvSpPr txBox="1"/>
          <p:nvPr/>
        </p:nvSpPr>
        <p:spPr>
          <a:xfrm>
            <a:off x="10260000" y="93132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04 · D.A de la bibliothèque</a:t>
            </a:r>
          </a:p>
        </p:txBody>
      </p:sp>
      <p:sp>
        <p:nvSpPr>
          <p:cNvPr id="61" name="TextBox 60"/>
          <p:cNvSpPr txBox="1"/>
          <p:nvPr/>
        </p:nvSpPr>
        <p:spPr>
          <a:xfrm>
            <a:off x="9468000" y="94788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ÉCHELLE</a:t>
            </a:r>
          </a:p>
        </p:txBody>
      </p:sp>
      <p:sp>
        <p:nvSpPr>
          <p:cNvPr id="62" name="TextBox 61"/>
          <p:cNvSpPr txBox="1"/>
          <p:nvPr/>
        </p:nvSpPr>
        <p:spPr>
          <a:xfrm>
            <a:off x="10260000" y="94788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sans échelle · format A3 paysage</a:t>
            </a:r>
          </a:p>
        </p:txBody>
      </p:sp>
      <p:sp>
        <p:nvSpPr>
          <p:cNvPr id="63" name="TextBox 62"/>
          <p:cNvSpPr txBox="1"/>
          <p:nvPr/>
        </p:nvSpPr>
        <p:spPr>
          <a:xfrm>
            <a:off x="9468000" y="96444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MAQUETTE</a:t>
            </a:r>
          </a:p>
        </p:txBody>
      </p:sp>
      <p:sp>
        <p:nvSpPr>
          <p:cNvPr id="64" name="TextBox 63"/>
          <p:cNvSpPr txBox="1"/>
          <p:nvPr/>
        </p:nvSpPr>
        <p:spPr>
          <a:xfrm>
            <a:off x="10260000" y="96444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v5/DECIMO_ESQ_V5.ifc (IFC4)</a:t>
            </a:r>
          </a:p>
        </p:txBody>
      </p:sp>
      <p:sp>
        <p:nvSpPr>
          <p:cNvPr id="65" name="TextBox 64"/>
          <p:cNvSpPr txBox="1"/>
          <p:nvPr/>
        </p:nvSpPr>
        <p:spPr>
          <a:xfrm>
            <a:off x="9468000" y="98100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DATE</a:t>
            </a:r>
          </a:p>
        </p:txBody>
      </p:sp>
      <p:sp>
        <p:nvSpPr>
          <p:cNvPr id="66" name="TextBox 65"/>
          <p:cNvSpPr txBox="1"/>
          <p:nvPr/>
        </p:nvSpPr>
        <p:spPr>
          <a:xfrm>
            <a:off x="10260000" y="98100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15 octobre 2026 · indice C</a:t>
            </a:r>
          </a:p>
        </p:txBody>
      </p:sp>
      <p:sp>
        <p:nvSpPr>
          <p:cNvPr id="67" name="TextBox 66"/>
          <p:cNvSpPr txBox="1"/>
          <p:nvPr/>
        </p:nvSpPr>
        <p:spPr>
          <a:xfrm>
            <a:off x="9468000" y="10404000"/>
            <a:ext cx="1440000" cy="155600"/>
          </a:xfrm>
          <a:prstGeom prst="rect">
            <a:avLst/>
          </a:prstGeom>
          <a:noFill/>
        </p:spPr>
        <p:txBody>
          <a:bodyPr wrap="square" lIns="0" rIns="0" tIns="0" bIns="0" anchor="t">
            <a:spAutoFit/>
          </a:bodyPr>
          <a:lstStyle/>
          <a:p>
            <a:pPr algn="l">
              <a:lnSpc>
                <a:spcPts val="800"/>
              </a:lnSpc>
            </a:pPr>
            <a:r>
              <a:rPr sz="650">
                <a:solidFill>
                  <a:srgbClr val="4A4A4A"/>
                </a:solidFill>
                <a:latin typeface="Manrope"/>
              </a:rPr>
              <a:t>K&amp;Démi</a:t>
            </a:r>
          </a:p>
        </p:txBody>
      </p:sp>
      <p:sp>
        <p:nvSpPr>
          <p:cNvPr id="68" name="TextBox 67"/>
          <p:cNvSpPr txBox="1"/>
          <p:nvPr/>
        </p:nvSpPr>
        <p:spPr>
          <a:xfrm>
            <a:off x="12600000" y="10404000"/>
            <a:ext cx="2160000" cy="155600"/>
          </a:xfrm>
          <a:prstGeom prst="rect">
            <a:avLst/>
          </a:prstGeom>
          <a:noFill/>
        </p:spPr>
        <p:txBody>
          <a:bodyPr wrap="square" lIns="0" rIns="0" tIns="0" bIns="0" anchor="t">
            <a:spAutoFit/>
          </a:bodyPr>
          <a:lstStyle/>
          <a:p>
            <a:pPr algn="r">
              <a:lnSpc>
                <a:spcPts val="800"/>
              </a:lnSpc>
            </a:pPr>
            <a:r>
              <a:rPr sz="650">
                <a:solidFill>
                  <a:srgbClr val="8C8C8C"/>
                </a:solidFill>
                <a:latin typeface="Archivo"/>
              </a:rPr>
              <a:t>04 · ESQ V5 · Octobre 2026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A01_plan_RDC.png"/>
          <p:cNvPicPr>
            <a:picLocks noChangeAspect="1"/>
          </p:cNvPicPr>
          <p:nvPr/>
        </p:nvPicPr>
        <p:blipFill>
          <a:blip r:embed="rId2"/>
          <a:stretch>
            <a:fillRect/>
          </a:stretch>
        </p:blipFill>
        <p:spPr>
          <a:xfrm>
            <a:off x="0" y="0"/>
            <a:ext cx="15120000" cy="10692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A02_plan_faux_plafond_reseaux.png"/>
          <p:cNvPicPr>
            <a:picLocks noChangeAspect="1"/>
          </p:cNvPicPr>
          <p:nvPr/>
        </p:nvPicPr>
        <p:blipFill>
          <a:blip r:embed="rId2"/>
          <a:stretch>
            <a:fillRect/>
          </a:stretch>
        </p:blipFill>
        <p:spPr>
          <a:xfrm>
            <a:off x="0" y="0"/>
            <a:ext cx="15120000" cy="10692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A03_coupe_AA.png"/>
          <p:cNvPicPr>
            <a:picLocks noChangeAspect="1"/>
          </p:cNvPicPr>
          <p:nvPr/>
        </p:nvPicPr>
        <p:blipFill>
          <a:blip r:embed="rId2"/>
          <a:stretch>
            <a:fillRect/>
          </a:stretch>
        </p:blipFill>
        <p:spPr>
          <a:xfrm>
            <a:off x="0" y="0"/>
            <a:ext cx="15120000" cy="10692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A04_elevation_devanture.png"/>
          <p:cNvPicPr>
            <a:picLocks noChangeAspect="1"/>
          </p:cNvPicPr>
          <p:nvPr/>
        </p:nvPicPr>
        <p:blipFill>
          <a:blip r:embed="rId2"/>
          <a:stretch>
            <a:fillRect/>
          </a:stretch>
        </p:blipFill>
        <p:spPr>
          <a:xfrm>
            <a:off x="0" y="0"/>
            <a:ext cx="15120000" cy="10692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A05_elevations_interieures_est_nord.png"/>
          <p:cNvPicPr>
            <a:picLocks noChangeAspect="1"/>
          </p:cNvPicPr>
          <p:nvPr/>
        </p:nvPicPr>
        <p:blipFill>
          <a:blip r:embed="rId2"/>
          <a:stretch>
            <a:fillRect/>
          </a:stretch>
        </p:blipFill>
        <p:spPr>
          <a:xfrm>
            <a:off x="0" y="0"/>
            <a:ext cx="15120000" cy="10692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A06_elevations_interieures_sud_ouest.png"/>
          <p:cNvPicPr>
            <a:picLocks noChangeAspect="1"/>
          </p:cNvPicPr>
          <p:nvPr/>
        </p:nvPicPr>
        <p:blipFill>
          <a:blip r:embed="rId2"/>
          <a:stretch>
            <a:fillRect/>
          </a:stretch>
        </p:blipFill>
        <p:spPr>
          <a:xfrm>
            <a:off x="0" y="0"/>
            <a:ext cx="15120000" cy="10692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A07_vues_3D.png"/>
          <p:cNvPicPr>
            <a:picLocks noChangeAspect="1"/>
          </p:cNvPicPr>
          <p:nvPr/>
        </p:nvPicPr>
        <p:blipFill>
          <a:blip r:embed="rId2"/>
          <a:stretch>
            <a:fillRect/>
          </a:stretch>
        </p:blipFill>
        <p:spPr>
          <a:xfrm>
            <a:off x="0" y="0"/>
            <a:ext cx="15120000" cy="10692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A08_axonometries.png"/>
          <p:cNvPicPr>
            <a:picLocks noChangeAspect="1"/>
          </p:cNvPicPr>
          <p:nvPr/>
        </p:nvPicPr>
        <p:blipFill>
          <a:blip r:embed="rId2"/>
          <a:stretch>
            <a:fillRect/>
          </a:stretch>
        </p:blipFill>
        <p:spPr>
          <a:xfrm>
            <a:off x="0" y="0"/>
            <a:ext cx="15120000" cy="10692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r1.jpg"/>
          <p:cNvPicPr>
            <a:picLocks noChangeAspect="1"/>
          </p:cNvPicPr>
          <p:nvPr/>
        </p:nvPicPr>
        <p:blipFill>
          <a:blip r:embed="rId2"/>
          <a:stretch>
            <a:fillRect/>
          </a:stretch>
        </p:blipFill>
        <p:spPr>
          <a:xfrm>
            <a:off x="504000" y="504000"/>
            <a:ext cx="8172000" cy="5760000"/>
          </a:xfrm>
          <a:prstGeom prst="rect">
            <a:avLst/>
          </a:prstGeom>
        </p:spPr>
      </p:pic>
      <p:sp>
        <p:nvSpPr>
          <p:cNvPr id="3" name="TextBox 2"/>
          <p:cNvSpPr txBox="1"/>
          <p:nvPr/>
        </p:nvSpPr>
        <p:spPr>
          <a:xfrm>
            <a:off x="504000" y="6354000"/>
            <a:ext cx="8172000" cy="163220"/>
          </a:xfrm>
          <a:prstGeom prst="rect">
            <a:avLst/>
          </a:prstGeom>
          <a:noFill/>
        </p:spPr>
        <p:txBody>
          <a:bodyPr wrap="square" lIns="0" rIns="0" tIns="0" bIns="0" anchor="t">
            <a:spAutoFit/>
          </a:bodyPr>
          <a:lstStyle/>
          <a:p>
            <a:pPr algn="l">
              <a:lnSpc>
                <a:spcPts val="860"/>
              </a:lnSpc>
            </a:pPr>
            <a:r>
              <a:rPr sz="680">
                <a:solidFill>
                  <a:srgbClr val="8C8C8C"/>
                </a:solidFill>
                <a:latin typeface="Archivo"/>
              </a:rPr>
              <a:t>R1 · Devanture sur rue, vue piéton depuis le trottoir opposé, œil à 1,60 m</a:t>
            </a:r>
          </a:p>
        </p:txBody>
      </p:sp>
      <p:pic>
        <p:nvPicPr>
          <p:cNvPr id="4" name="Picture 3" descr="r1_s1.jpg"/>
          <p:cNvPicPr>
            <a:picLocks noChangeAspect="1"/>
          </p:cNvPicPr>
          <p:nvPr/>
        </p:nvPicPr>
        <p:blipFill>
          <a:blip r:embed="rId3"/>
          <a:stretch>
            <a:fillRect/>
          </a:stretch>
        </p:blipFill>
        <p:spPr>
          <a:xfrm>
            <a:off x="504000" y="6696000"/>
            <a:ext cx="3996000" cy="2484000"/>
          </a:xfrm>
          <a:prstGeom prst="rect">
            <a:avLst/>
          </a:prstGeom>
        </p:spPr>
      </p:pic>
      <p:pic>
        <p:nvPicPr>
          <p:cNvPr id="5" name="Picture 4" descr="r1_s2.jpg"/>
          <p:cNvPicPr>
            <a:picLocks noChangeAspect="1"/>
          </p:cNvPicPr>
          <p:nvPr/>
        </p:nvPicPr>
        <p:blipFill>
          <a:blip r:embed="rId4"/>
          <a:stretch>
            <a:fillRect/>
          </a:stretch>
        </p:blipFill>
        <p:spPr>
          <a:xfrm>
            <a:off x="4680000" y="6696000"/>
            <a:ext cx="3996000" cy="2484000"/>
          </a:xfrm>
          <a:prstGeom prst="rect">
            <a:avLst/>
          </a:prstGeom>
        </p:spPr>
      </p:pic>
      <p:sp>
        <p:nvSpPr>
          <p:cNvPr id="6" name="TextBox 5"/>
          <p:cNvSpPr txBox="1"/>
          <p:nvPr/>
        </p:nvSpPr>
        <p:spPr>
          <a:xfrm>
            <a:off x="504000" y="9252000"/>
            <a:ext cx="3996000" cy="163220"/>
          </a:xfrm>
          <a:prstGeom prst="rect">
            <a:avLst/>
          </a:prstGeom>
          <a:noFill/>
        </p:spPr>
        <p:txBody>
          <a:bodyPr wrap="square" lIns="0" rIns="0" tIns="0" bIns="0" anchor="t">
            <a:spAutoFit/>
          </a:bodyPr>
          <a:lstStyle/>
          <a:p>
            <a:pPr algn="l">
              <a:lnSpc>
                <a:spcPts val="860"/>
              </a:lnSpc>
            </a:pPr>
            <a:r>
              <a:rPr sz="680">
                <a:solidFill>
                  <a:srgbClr val="8C8C8C"/>
                </a:solidFill>
                <a:latin typeface="Archivo"/>
              </a:rPr>
              <a:t>Vue source 01 : maquette IFC V5 ombrée, même caméra</a:t>
            </a:r>
          </a:p>
        </p:txBody>
      </p:sp>
      <p:sp>
        <p:nvSpPr>
          <p:cNvPr id="7" name="TextBox 6"/>
          <p:cNvSpPr txBox="1"/>
          <p:nvPr/>
        </p:nvSpPr>
        <p:spPr>
          <a:xfrm>
            <a:off x="4680000" y="9252000"/>
            <a:ext cx="3996000" cy="163220"/>
          </a:xfrm>
          <a:prstGeom prst="rect">
            <a:avLst/>
          </a:prstGeom>
          <a:noFill/>
        </p:spPr>
        <p:txBody>
          <a:bodyPr wrap="square" lIns="0" rIns="0" tIns="0" bIns="0" anchor="t">
            <a:spAutoFit/>
          </a:bodyPr>
          <a:lstStyle/>
          <a:p>
            <a:pPr algn="l">
              <a:lnSpc>
                <a:spcPts val="860"/>
              </a:lnSpc>
            </a:pPr>
            <a:r>
              <a:rPr sz="680">
                <a:solidFill>
                  <a:srgbClr val="8C8C8C"/>
                </a:solidFill>
                <a:latin typeface="Archivo"/>
              </a:rPr>
              <a:t>Vue source 01 : traits et silhouettes</a:t>
            </a:r>
          </a:p>
        </p:txBody>
      </p:sp>
      <p:cxnSp>
        <p:nvCxnSpPr>
          <p:cNvPr id="8" name="Connector 7"/>
          <p:cNvCxnSpPr/>
          <p:nvPr/>
        </p:nvCxnSpPr>
        <p:spPr>
          <a:xfrm>
            <a:off x="9180000" y="288000"/>
            <a:ext cx="0" cy="10116000"/>
          </a:xfrm>
          <a:prstGeom prst="line">
            <a:avLst/>
          </a:prstGeom>
          <a:ln w="5080">
            <a:solidFill>
              <a:srgbClr val="C8C8C8"/>
            </a:solidFill>
          </a:ln>
        </p:spPr>
        <p:style>
          <a:lnRef idx="2">
            <a:schemeClr val="accent1"/>
          </a:lnRef>
          <a:fillRef idx="0">
            <a:schemeClr val="accent1"/>
          </a:fillRef>
          <a:effectRef idx="1">
            <a:schemeClr val="accent1"/>
          </a:effectRef>
          <a:fontRef idx="minor">
            <a:schemeClr val="tx1"/>
          </a:fontRef>
        </p:style>
      </p:cxnSp>
      <p:pic>
        <p:nvPicPr>
          <p:cNvPr id="9" name="Picture 8" descr="KDemi_v3_A_arche_lockup_mono.png"/>
          <p:cNvPicPr>
            <a:picLocks noChangeAspect="1"/>
          </p:cNvPicPr>
          <p:nvPr/>
        </p:nvPicPr>
        <p:blipFill>
          <a:blip r:embed="rId5"/>
          <a:stretch>
            <a:fillRect/>
          </a:stretch>
        </p:blipFill>
        <p:spPr>
          <a:xfrm>
            <a:off x="9468000" y="432000"/>
            <a:ext cx="1656000" cy="561660"/>
          </a:xfrm>
          <a:prstGeom prst="rect">
            <a:avLst/>
          </a:prstGeom>
        </p:spPr>
      </p:pic>
      <p:sp>
        <p:nvSpPr>
          <p:cNvPr id="10" name="TextBox 9"/>
          <p:cNvSpPr txBox="1"/>
          <p:nvPr/>
        </p:nvSpPr>
        <p:spPr>
          <a:xfrm>
            <a:off x="9468000" y="1440000"/>
            <a:ext cx="5292000" cy="384199"/>
          </a:xfrm>
          <a:prstGeom prst="rect">
            <a:avLst/>
          </a:prstGeom>
          <a:noFill/>
        </p:spPr>
        <p:txBody>
          <a:bodyPr wrap="square" lIns="0" rIns="0" tIns="0" bIns="0" anchor="t">
            <a:spAutoFit/>
          </a:bodyPr>
          <a:lstStyle/>
          <a:p>
            <a:pPr algn="l">
              <a:lnSpc>
                <a:spcPts val="2600"/>
              </a:lnSpc>
            </a:pPr>
            <a:r>
              <a:rPr sz="2300" b="1">
                <a:solidFill>
                  <a:srgbClr val="4A4A4A"/>
                </a:solidFill>
                <a:latin typeface="Archivo"/>
              </a:rPr>
              <a:t>La devanture</a:t>
            </a:r>
          </a:p>
        </p:txBody>
      </p:sp>
      <p:sp>
        <p:nvSpPr>
          <p:cNvPr id="11" name="TextBox 10"/>
          <p:cNvSpPr txBox="1"/>
          <p:nvPr/>
        </p:nvSpPr>
        <p:spPr>
          <a:xfrm>
            <a:off x="9468000" y="1890000"/>
            <a:ext cx="5292000" cy="231799"/>
          </a:xfrm>
          <a:prstGeom prst="rect">
            <a:avLst/>
          </a:prstGeom>
          <a:noFill/>
        </p:spPr>
        <p:txBody>
          <a:bodyPr wrap="square" lIns="0" rIns="0" tIns="0" bIns="0" anchor="t">
            <a:spAutoFit/>
          </a:bodyPr>
          <a:lstStyle/>
          <a:p>
            <a:pPr algn="l">
              <a:lnSpc>
                <a:spcPts val="1400"/>
              </a:lnSpc>
            </a:pPr>
            <a:r>
              <a:rPr sz="1050">
                <a:solidFill>
                  <a:srgbClr val="4A4A4A"/>
                </a:solidFill>
                <a:latin typeface="Archivo"/>
              </a:rPr>
              <a:t>Le seuil cintré sous la pergola</a:t>
            </a:r>
          </a:p>
        </p:txBody>
      </p:sp>
      <p:sp>
        <p:nvSpPr>
          <p:cNvPr id="12" name="TextBox 11"/>
          <p:cNvSpPr txBox="1"/>
          <p:nvPr/>
        </p:nvSpPr>
        <p:spPr>
          <a:xfrm>
            <a:off x="9468000" y="2142000"/>
            <a:ext cx="5292000" cy="168300"/>
          </a:xfrm>
          <a:prstGeom prst="rect">
            <a:avLst/>
          </a:prstGeom>
          <a:noFill/>
        </p:spPr>
        <p:txBody>
          <a:bodyPr wrap="square" lIns="0" rIns="0" tIns="0" bIns="0" anchor="t">
            <a:spAutoFit/>
          </a:bodyPr>
          <a:lstStyle/>
          <a:p>
            <a:pPr algn="l">
              <a:lnSpc>
                <a:spcPts val="900"/>
              </a:lnSpc>
            </a:pPr>
            <a:r>
              <a:rPr sz="720">
                <a:solidFill>
                  <a:srgbClr val="8C8C8C"/>
                </a:solidFill>
                <a:latin typeface="Archivo"/>
              </a:rPr>
              <a:t>Rendu tiré de la maquette IFC V5</a:t>
            </a:r>
          </a:p>
        </p:txBody>
      </p:sp>
      <p:cxnSp>
        <p:nvCxnSpPr>
          <p:cNvPr id="13" name="Connector 12"/>
          <p:cNvCxnSpPr/>
          <p:nvPr/>
        </p:nvCxnSpPr>
        <p:spPr>
          <a:xfrm>
            <a:off x="9468000" y="2304000"/>
            <a:ext cx="648000" cy="0"/>
          </a:xfrm>
          <a:prstGeom prst="line">
            <a:avLst/>
          </a:prstGeom>
          <a:ln w="11430">
            <a:solidFill>
              <a:srgbClr val="B4583E"/>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116000" y="2304000"/>
            <a:ext cx="4644000" cy="0"/>
          </a:xfrm>
          <a:prstGeom prst="line">
            <a:avLst/>
          </a:prstGeom>
          <a:ln w="5080">
            <a:solidFill>
              <a:srgbClr val="C8C8C8"/>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9468000" y="2520000"/>
            <a:ext cx="5292000" cy="180999"/>
          </a:xfrm>
          <a:prstGeom prst="rect">
            <a:avLst/>
          </a:prstGeom>
          <a:noFill/>
        </p:spPr>
        <p:txBody>
          <a:bodyPr wrap="square" lIns="0" rIns="0" tIns="0" bIns="0" anchor="t">
            <a:spAutoFit/>
          </a:bodyPr>
          <a:lstStyle/>
          <a:p>
            <a:pPr algn="l">
              <a:lnSpc>
                <a:spcPts val="1000"/>
              </a:lnSpc>
            </a:pPr>
            <a:r>
              <a:rPr sz="740">
                <a:solidFill>
                  <a:srgbClr val="B4583E"/>
                </a:solidFill>
                <a:latin typeface="Archivo"/>
              </a:rPr>
              <a:t>CE QUE L'ON VOIT</a:t>
            </a:r>
          </a:p>
        </p:txBody>
      </p:sp>
      <p:sp>
        <p:nvSpPr>
          <p:cNvPr id="16" name="TextBox 15"/>
          <p:cNvSpPr txBox="1"/>
          <p:nvPr/>
        </p:nvSpPr>
        <p:spPr>
          <a:xfrm>
            <a:off x="9468000" y="2707200"/>
            <a:ext cx="5292000" cy="511200"/>
          </a:xfrm>
          <a:prstGeom prst="rect">
            <a:avLst/>
          </a:prstGeom>
          <a:noFill/>
        </p:spPr>
        <p:txBody>
          <a:bodyPr wrap="square" lIns="0" rIns="0" tIns="0" bIns="0" anchor="t">
            <a:spAutoFit/>
          </a:bodyPr>
          <a:lstStyle/>
          <a:p>
            <a:pPr algn="l">
              <a:lnSpc>
                <a:spcPts val="1200"/>
              </a:lnSpc>
            </a:pPr>
            <a:r>
              <a:rPr sz="840">
                <a:solidFill>
                  <a:srgbClr val="4A4A4A"/>
                </a:solidFill>
                <a:latin typeface="Archivo"/>
              </a:rPr>
              <a:t>Les quatre baies existantes de la V4 gardent leur forme. La vitrine en arche et son châssis en acier noir se posent dans la baie A, la porte vitrée dans le portail en enduit terre cuite. Les deux baies de claustra reçoivent les inserts Adinkra. La pergola en bois de la V4 abrite la terrasse de lecture.</a:t>
            </a:r>
          </a:p>
        </p:txBody>
      </p:sp>
      <p:sp>
        <p:nvSpPr>
          <p:cNvPr id="17" name="TextBox 16"/>
          <p:cNvSpPr txBox="1"/>
          <p:nvPr/>
        </p:nvSpPr>
        <p:spPr>
          <a:xfrm>
            <a:off x="9468000" y="3326400"/>
            <a:ext cx="5292000" cy="180999"/>
          </a:xfrm>
          <a:prstGeom prst="rect">
            <a:avLst/>
          </a:prstGeom>
          <a:noFill/>
        </p:spPr>
        <p:txBody>
          <a:bodyPr wrap="square" lIns="0" rIns="0" tIns="0" bIns="0" anchor="t">
            <a:spAutoFit/>
          </a:bodyPr>
          <a:lstStyle/>
          <a:p>
            <a:pPr algn="l">
              <a:lnSpc>
                <a:spcPts val="1000"/>
              </a:lnSpc>
            </a:pPr>
            <a:r>
              <a:rPr sz="740">
                <a:solidFill>
                  <a:srgbClr val="B4583E"/>
                </a:solidFill>
                <a:latin typeface="Archivo"/>
              </a:rPr>
              <a:t>CONTRÔLE</a:t>
            </a:r>
          </a:p>
        </p:txBody>
      </p:sp>
      <p:sp>
        <p:nvSpPr>
          <p:cNvPr id="18" name="TextBox 17"/>
          <p:cNvSpPr txBox="1"/>
          <p:nvPr/>
        </p:nvSpPr>
        <p:spPr>
          <a:xfrm>
            <a:off x="9468000" y="3513600"/>
            <a:ext cx="5292000" cy="511200"/>
          </a:xfrm>
          <a:prstGeom prst="rect">
            <a:avLst/>
          </a:prstGeom>
          <a:noFill/>
        </p:spPr>
        <p:txBody>
          <a:bodyPr wrap="square" lIns="0" rIns="0" tIns="0" bIns="0" anchor="t">
            <a:spAutoFit/>
          </a:bodyPr>
          <a:lstStyle/>
          <a:p>
            <a:pPr algn="l">
              <a:lnSpc>
                <a:spcPts val="1200"/>
              </a:lnSpc>
            </a:pPr>
            <a:r>
              <a:rPr sz="840">
                <a:solidFill>
                  <a:srgbClr val="4A4A4A"/>
                </a:solidFill>
                <a:latin typeface="Archivo"/>
              </a:rPr>
              <a:t>Même caméra, mêmes baies, même pergola que la vue source. Le rendu ajoute la matière et la lumière. Les balcons qu'il avait inventés sur l'immeuble voisin ont été retirés : la maquette y montre un mur plein. Écart restant : les jardinières basses de la terrasse sont rendues comme des banquettes. La maquette fait foi.</a:t>
            </a:r>
          </a:p>
        </p:txBody>
      </p:sp>
      <p:sp>
        <p:nvSpPr>
          <p:cNvPr id="19" name="TextBox 18"/>
          <p:cNvSpPr txBox="1"/>
          <p:nvPr/>
        </p:nvSpPr>
        <p:spPr>
          <a:xfrm>
            <a:off x="9468000" y="4132800"/>
            <a:ext cx="5292000" cy="180999"/>
          </a:xfrm>
          <a:prstGeom prst="rect">
            <a:avLst/>
          </a:prstGeom>
          <a:noFill/>
        </p:spPr>
        <p:txBody>
          <a:bodyPr wrap="square" lIns="0" rIns="0" tIns="0" bIns="0" anchor="t">
            <a:spAutoFit/>
          </a:bodyPr>
          <a:lstStyle/>
          <a:p>
            <a:pPr algn="l">
              <a:lnSpc>
                <a:spcPts val="1000"/>
              </a:lnSpc>
            </a:pPr>
            <a:r>
              <a:rPr sz="740">
                <a:solidFill>
                  <a:srgbClr val="B4583E"/>
                </a:solidFill>
                <a:latin typeface="Archivo"/>
              </a:rPr>
              <a:t>MÉTHODE</a:t>
            </a:r>
          </a:p>
        </p:txBody>
      </p:sp>
      <p:sp>
        <p:nvSpPr>
          <p:cNvPr id="20" name="TextBox 19"/>
          <p:cNvSpPr txBox="1"/>
          <p:nvPr/>
        </p:nvSpPr>
        <p:spPr>
          <a:xfrm>
            <a:off x="9468000" y="4320000"/>
            <a:ext cx="5292000" cy="511200"/>
          </a:xfrm>
          <a:prstGeom prst="rect">
            <a:avLst/>
          </a:prstGeom>
          <a:noFill/>
        </p:spPr>
        <p:txBody>
          <a:bodyPr wrap="square" lIns="0" rIns="0" tIns="0" bIns="0" anchor="t">
            <a:spAutoFit/>
          </a:bodyPr>
          <a:lstStyle/>
          <a:p>
            <a:pPr algn="l">
              <a:lnSpc>
                <a:spcPts val="1200"/>
              </a:lnSpc>
            </a:pPr>
            <a:r>
              <a:rPr sz="840">
                <a:solidFill>
                  <a:srgbClr val="4A4A4A"/>
                </a:solidFill>
                <a:latin typeface="Archivo"/>
              </a:rPr>
              <a:t>Chaque rendu part d'une vue exportée de l'IFC (v5/vues_rendu, position, cible et focale enregistrées). L'image est retravaillée en matière et lumière sans rien ajouter ni déplacer, puis comparée à sa vue source avant d'entrer au dossier.</a:t>
            </a:r>
          </a:p>
        </p:txBody>
      </p:sp>
      <p:cxnSp>
        <p:nvCxnSpPr>
          <p:cNvPr id="21" name="Connector 20"/>
          <p:cNvCxnSpPr/>
          <p:nvPr/>
        </p:nvCxnSpPr>
        <p:spPr>
          <a:xfrm>
            <a:off x="9468000" y="8856000"/>
            <a:ext cx="5292000" cy="0"/>
          </a:xfrm>
          <a:prstGeom prst="line">
            <a:avLst/>
          </a:prstGeom>
          <a:ln w="3810">
            <a:solidFill>
              <a:srgbClr val="C8C8C8"/>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9468000" y="89820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PROJET</a:t>
            </a:r>
          </a:p>
        </p:txBody>
      </p:sp>
      <p:sp>
        <p:nvSpPr>
          <p:cNvPr id="23" name="TextBox 22"/>
          <p:cNvSpPr txBox="1"/>
          <p:nvPr/>
        </p:nvSpPr>
        <p:spPr>
          <a:xfrm>
            <a:off x="10260000" y="89820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Bibliothèque Decimo · RDC sous logements, Deux Plateaux, Abidjan</a:t>
            </a:r>
          </a:p>
        </p:txBody>
      </p:sp>
      <p:sp>
        <p:nvSpPr>
          <p:cNvPr id="24" name="TextBox 23"/>
          <p:cNvSpPr txBox="1"/>
          <p:nvPr/>
        </p:nvSpPr>
        <p:spPr>
          <a:xfrm>
            <a:off x="9468000" y="91476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PHASE</a:t>
            </a:r>
          </a:p>
        </p:txBody>
      </p:sp>
      <p:sp>
        <p:nvSpPr>
          <p:cNvPr id="25" name="TextBox 24"/>
          <p:cNvSpPr txBox="1"/>
          <p:nvPr/>
        </p:nvSpPr>
        <p:spPr>
          <a:xfrm>
            <a:off x="10260000" y="91476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ESQ V5 · aménagement sur existant V4</a:t>
            </a:r>
          </a:p>
        </p:txBody>
      </p:sp>
      <p:sp>
        <p:nvSpPr>
          <p:cNvPr id="26" name="TextBox 25"/>
          <p:cNvSpPr txBox="1"/>
          <p:nvPr/>
        </p:nvSpPr>
        <p:spPr>
          <a:xfrm>
            <a:off x="9468000" y="93132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PLANCHE</a:t>
            </a:r>
          </a:p>
        </p:txBody>
      </p:sp>
      <p:sp>
        <p:nvSpPr>
          <p:cNvPr id="27" name="TextBox 26"/>
          <p:cNvSpPr txBox="1"/>
          <p:nvPr/>
        </p:nvSpPr>
        <p:spPr>
          <a:xfrm>
            <a:off x="10260000" y="93132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13 · R1 Rendu de la devanture</a:t>
            </a:r>
          </a:p>
        </p:txBody>
      </p:sp>
      <p:sp>
        <p:nvSpPr>
          <p:cNvPr id="28" name="TextBox 27"/>
          <p:cNvSpPr txBox="1"/>
          <p:nvPr/>
        </p:nvSpPr>
        <p:spPr>
          <a:xfrm>
            <a:off x="9468000" y="94788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ÉCHELLE</a:t>
            </a:r>
          </a:p>
        </p:txBody>
      </p:sp>
      <p:sp>
        <p:nvSpPr>
          <p:cNvPr id="29" name="TextBox 28"/>
          <p:cNvSpPr txBox="1"/>
          <p:nvPr/>
        </p:nvSpPr>
        <p:spPr>
          <a:xfrm>
            <a:off x="10260000" y="94788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sans échelle · format A3 paysage</a:t>
            </a:r>
          </a:p>
        </p:txBody>
      </p:sp>
      <p:sp>
        <p:nvSpPr>
          <p:cNvPr id="30" name="TextBox 29"/>
          <p:cNvSpPr txBox="1"/>
          <p:nvPr/>
        </p:nvSpPr>
        <p:spPr>
          <a:xfrm>
            <a:off x="9468000" y="96444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MAQUETTE</a:t>
            </a:r>
          </a:p>
        </p:txBody>
      </p:sp>
      <p:sp>
        <p:nvSpPr>
          <p:cNvPr id="31" name="TextBox 30"/>
          <p:cNvSpPr txBox="1"/>
          <p:nvPr/>
        </p:nvSpPr>
        <p:spPr>
          <a:xfrm>
            <a:off x="10260000" y="96444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v5/DECIMO_ESQ_V5.ifc (IFC4)</a:t>
            </a:r>
          </a:p>
        </p:txBody>
      </p:sp>
      <p:sp>
        <p:nvSpPr>
          <p:cNvPr id="32" name="TextBox 31"/>
          <p:cNvSpPr txBox="1"/>
          <p:nvPr/>
        </p:nvSpPr>
        <p:spPr>
          <a:xfrm>
            <a:off x="9468000" y="98100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DATE</a:t>
            </a:r>
          </a:p>
        </p:txBody>
      </p:sp>
      <p:sp>
        <p:nvSpPr>
          <p:cNvPr id="33" name="TextBox 32"/>
          <p:cNvSpPr txBox="1"/>
          <p:nvPr/>
        </p:nvSpPr>
        <p:spPr>
          <a:xfrm>
            <a:off x="10260000" y="98100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15 octobre 2026 · indice C</a:t>
            </a:r>
          </a:p>
        </p:txBody>
      </p:sp>
      <p:sp>
        <p:nvSpPr>
          <p:cNvPr id="34" name="TextBox 33"/>
          <p:cNvSpPr txBox="1"/>
          <p:nvPr/>
        </p:nvSpPr>
        <p:spPr>
          <a:xfrm>
            <a:off x="9468000" y="10404000"/>
            <a:ext cx="1440000" cy="155600"/>
          </a:xfrm>
          <a:prstGeom prst="rect">
            <a:avLst/>
          </a:prstGeom>
          <a:noFill/>
        </p:spPr>
        <p:txBody>
          <a:bodyPr wrap="square" lIns="0" rIns="0" tIns="0" bIns="0" anchor="t">
            <a:spAutoFit/>
          </a:bodyPr>
          <a:lstStyle/>
          <a:p>
            <a:pPr algn="l">
              <a:lnSpc>
                <a:spcPts val="800"/>
              </a:lnSpc>
            </a:pPr>
            <a:r>
              <a:rPr sz="650">
                <a:solidFill>
                  <a:srgbClr val="4A4A4A"/>
                </a:solidFill>
                <a:latin typeface="Manrope"/>
              </a:rPr>
              <a:t>K&amp;Démi</a:t>
            </a:r>
          </a:p>
        </p:txBody>
      </p:sp>
      <p:sp>
        <p:nvSpPr>
          <p:cNvPr id="35" name="TextBox 34"/>
          <p:cNvSpPr txBox="1"/>
          <p:nvPr/>
        </p:nvSpPr>
        <p:spPr>
          <a:xfrm>
            <a:off x="12600000" y="10404000"/>
            <a:ext cx="2160000" cy="155600"/>
          </a:xfrm>
          <a:prstGeom prst="rect">
            <a:avLst/>
          </a:prstGeom>
          <a:noFill/>
        </p:spPr>
        <p:txBody>
          <a:bodyPr wrap="square" lIns="0" rIns="0" tIns="0" bIns="0" anchor="t">
            <a:spAutoFit/>
          </a:bodyPr>
          <a:lstStyle/>
          <a:p>
            <a:pPr algn="r">
              <a:lnSpc>
                <a:spcPts val="800"/>
              </a:lnSpc>
            </a:pPr>
            <a:r>
              <a:rPr sz="650">
                <a:solidFill>
                  <a:srgbClr val="8C8C8C"/>
                </a:solidFill>
                <a:latin typeface="Archivo"/>
              </a:rPr>
              <a:t>13 · ESQ V5 · Octobre 2026</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r2a.jpg"/>
          <p:cNvPicPr>
            <a:picLocks noChangeAspect="1"/>
          </p:cNvPicPr>
          <p:nvPr/>
        </p:nvPicPr>
        <p:blipFill>
          <a:blip r:embed="rId2"/>
          <a:stretch>
            <a:fillRect/>
          </a:stretch>
        </p:blipFill>
        <p:spPr>
          <a:xfrm>
            <a:off x="504000" y="504000"/>
            <a:ext cx="8172000" cy="5076000"/>
          </a:xfrm>
          <a:prstGeom prst="rect">
            <a:avLst/>
          </a:prstGeom>
        </p:spPr>
      </p:pic>
      <p:sp>
        <p:nvSpPr>
          <p:cNvPr id="3" name="TextBox 2"/>
          <p:cNvSpPr txBox="1"/>
          <p:nvPr/>
        </p:nvSpPr>
        <p:spPr>
          <a:xfrm>
            <a:off x="504000" y="5670000"/>
            <a:ext cx="8172000" cy="163220"/>
          </a:xfrm>
          <a:prstGeom prst="rect">
            <a:avLst/>
          </a:prstGeom>
          <a:noFill/>
        </p:spPr>
        <p:txBody>
          <a:bodyPr wrap="square" lIns="0" rIns="0" tIns="0" bIns="0" anchor="t">
            <a:spAutoFit/>
          </a:bodyPr>
          <a:lstStyle/>
          <a:p>
            <a:pPr algn="l">
              <a:lnSpc>
                <a:spcPts val="860"/>
              </a:lnSpc>
            </a:pPr>
            <a:r>
              <a:rPr sz="680">
                <a:solidFill>
                  <a:srgbClr val="8C8C8C"/>
                </a:solidFill>
                <a:latin typeface="Archivo"/>
              </a:rPr>
              <a:t>R2a · Depuis l'entrée : la banque d'accueil, la salle de lecture et l'arbre à livres au fond</a:t>
            </a:r>
          </a:p>
        </p:txBody>
      </p:sp>
      <p:pic>
        <p:nvPicPr>
          <p:cNvPr id="4" name="Picture 3" descr="r2b.jpg"/>
          <p:cNvPicPr>
            <a:picLocks noChangeAspect="1"/>
          </p:cNvPicPr>
          <p:nvPr/>
        </p:nvPicPr>
        <p:blipFill>
          <a:blip r:embed="rId3"/>
          <a:stretch>
            <a:fillRect/>
          </a:stretch>
        </p:blipFill>
        <p:spPr>
          <a:xfrm>
            <a:off x="504000" y="5976000"/>
            <a:ext cx="3996000" cy="3528000"/>
          </a:xfrm>
          <a:prstGeom prst="rect">
            <a:avLst/>
          </a:prstGeom>
        </p:spPr>
      </p:pic>
      <p:pic>
        <p:nvPicPr>
          <p:cNvPr id="5" name="Picture 4" descr="r2c.jpg"/>
          <p:cNvPicPr>
            <a:picLocks noChangeAspect="1"/>
          </p:cNvPicPr>
          <p:nvPr/>
        </p:nvPicPr>
        <p:blipFill>
          <a:blip r:embed="rId4"/>
          <a:stretch>
            <a:fillRect/>
          </a:stretch>
        </p:blipFill>
        <p:spPr>
          <a:xfrm>
            <a:off x="4680000" y="5976000"/>
            <a:ext cx="3996000" cy="3528000"/>
          </a:xfrm>
          <a:prstGeom prst="rect">
            <a:avLst/>
          </a:prstGeom>
        </p:spPr>
      </p:pic>
      <p:sp>
        <p:nvSpPr>
          <p:cNvPr id="6" name="TextBox 5"/>
          <p:cNvSpPr txBox="1"/>
          <p:nvPr/>
        </p:nvSpPr>
        <p:spPr>
          <a:xfrm>
            <a:off x="504000" y="9594000"/>
            <a:ext cx="3996000" cy="163220"/>
          </a:xfrm>
          <a:prstGeom prst="rect">
            <a:avLst/>
          </a:prstGeom>
          <a:noFill/>
        </p:spPr>
        <p:txBody>
          <a:bodyPr wrap="square" lIns="0" rIns="0" tIns="0" bIns="0" anchor="t">
            <a:spAutoFit/>
          </a:bodyPr>
          <a:lstStyle/>
          <a:p>
            <a:pPr algn="l">
              <a:lnSpc>
                <a:spcPts val="860"/>
              </a:lnSpc>
            </a:pPr>
            <a:r>
              <a:rPr sz="680">
                <a:solidFill>
                  <a:srgbClr val="8C8C8C"/>
                </a:solidFill>
                <a:latin typeface="Archivo"/>
              </a:rPr>
              <a:t>R2b · Vers la devanture : la porte cintrée et la claustra</a:t>
            </a:r>
          </a:p>
        </p:txBody>
      </p:sp>
      <p:sp>
        <p:nvSpPr>
          <p:cNvPr id="7" name="TextBox 6"/>
          <p:cNvSpPr txBox="1"/>
          <p:nvPr/>
        </p:nvSpPr>
        <p:spPr>
          <a:xfrm>
            <a:off x="4680000" y="9594000"/>
            <a:ext cx="3996000" cy="163220"/>
          </a:xfrm>
          <a:prstGeom prst="rect">
            <a:avLst/>
          </a:prstGeom>
          <a:noFill/>
        </p:spPr>
        <p:txBody>
          <a:bodyPr wrap="square" lIns="0" rIns="0" tIns="0" bIns="0" anchor="t">
            <a:spAutoFit/>
          </a:bodyPr>
          <a:lstStyle/>
          <a:p>
            <a:pPr algn="l">
              <a:lnSpc>
                <a:spcPts val="860"/>
              </a:lnSpc>
            </a:pPr>
            <a:r>
              <a:rPr sz="680">
                <a:solidFill>
                  <a:srgbClr val="8C8C8C"/>
                </a:solidFill>
                <a:latin typeface="Archivo"/>
              </a:rPr>
              <a:t>R2c · Le coin lecture en vitrine, banquette et rayonnages iroko</a:t>
            </a:r>
          </a:p>
        </p:txBody>
      </p:sp>
      <p:cxnSp>
        <p:nvCxnSpPr>
          <p:cNvPr id="8" name="Connector 7"/>
          <p:cNvCxnSpPr/>
          <p:nvPr/>
        </p:nvCxnSpPr>
        <p:spPr>
          <a:xfrm>
            <a:off x="9180000" y="288000"/>
            <a:ext cx="0" cy="10116000"/>
          </a:xfrm>
          <a:prstGeom prst="line">
            <a:avLst/>
          </a:prstGeom>
          <a:ln w="5080">
            <a:solidFill>
              <a:srgbClr val="C8C8C8"/>
            </a:solidFill>
          </a:ln>
        </p:spPr>
        <p:style>
          <a:lnRef idx="2">
            <a:schemeClr val="accent1"/>
          </a:lnRef>
          <a:fillRef idx="0">
            <a:schemeClr val="accent1"/>
          </a:fillRef>
          <a:effectRef idx="1">
            <a:schemeClr val="accent1"/>
          </a:effectRef>
          <a:fontRef idx="minor">
            <a:schemeClr val="tx1"/>
          </a:fontRef>
        </p:style>
      </p:cxnSp>
      <p:pic>
        <p:nvPicPr>
          <p:cNvPr id="9" name="Picture 8" descr="KDemi_v3_A_arche_lockup_mono.png"/>
          <p:cNvPicPr>
            <a:picLocks noChangeAspect="1"/>
          </p:cNvPicPr>
          <p:nvPr/>
        </p:nvPicPr>
        <p:blipFill>
          <a:blip r:embed="rId5"/>
          <a:stretch>
            <a:fillRect/>
          </a:stretch>
        </p:blipFill>
        <p:spPr>
          <a:xfrm>
            <a:off x="9468000" y="432000"/>
            <a:ext cx="1656000" cy="561660"/>
          </a:xfrm>
          <a:prstGeom prst="rect">
            <a:avLst/>
          </a:prstGeom>
        </p:spPr>
      </p:pic>
      <p:sp>
        <p:nvSpPr>
          <p:cNvPr id="10" name="TextBox 9"/>
          <p:cNvSpPr txBox="1"/>
          <p:nvPr/>
        </p:nvSpPr>
        <p:spPr>
          <a:xfrm>
            <a:off x="9468000" y="1440000"/>
            <a:ext cx="5292000" cy="384199"/>
          </a:xfrm>
          <a:prstGeom prst="rect">
            <a:avLst/>
          </a:prstGeom>
          <a:noFill/>
        </p:spPr>
        <p:txBody>
          <a:bodyPr wrap="square" lIns="0" rIns="0" tIns="0" bIns="0" anchor="t">
            <a:spAutoFit/>
          </a:bodyPr>
          <a:lstStyle/>
          <a:p>
            <a:pPr algn="l">
              <a:lnSpc>
                <a:spcPts val="2600"/>
              </a:lnSpc>
            </a:pPr>
            <a:r>
              <a:rPr sz="2300" b="1">
                <a:solidFill>
                  <a:srgbClr val="4A4A4A"/>
                </a:solidFill>
                <a:latin typeface="Archivo"/>
              </a:rPr>
              <a:t>Les intérieurs</a:t>
            </a:r>
          </a:p>
        </p:txBody>
      </p:sp>
      <p:sp>
        <p:nvSpPr>
          <p:cNvPr id="11" name="TextBox 10"/>
          <p:cNvSpPr txBox="1"/>
          <p:nvPr/>
        </p:nvSpPr>
        <p:spPr>
          <a:xfrm>
            <a:off x="9468000" y="1890000"/>
            <a:ext cx="5292000" cy="231799"/>
          </a:xfrm>
          <a:prstGeom prst="rect">
            <a:avLst/>
          </a:prstGeom>
          <a:noFill/>
        </p:spPr>
        <p:txBody>
          <a:bodyPr wrap="square" lIns="0" rIns="0" tIns="0" bIns="0" anchor="t">
            <a:spAutoFit/>
          </a:bodyPr>
          <a:lstStyle/>
          <a:p>
            <a:pPr algn="l">
              <a:lnSpc>
                <a:spcPts val="1400"/>
              </a:lnSpc>
            </a:pPr>
            <a:r>
              <a:rPr sz="1050">
                <a:solidFill>
                  <a:srgbClr val="4A4A4A"/>
                </a:solidFill>
                <a:latin typeface="Archivo"/>
              </a:rPr>
              <a:t>Une pénombre fraîche, du bois et des livres</a:t>
            </a:r>
          </a:p>
        </p:txBody>
      </p:sp>
      <p:sp>
        <p:nvSpPr>
          <p:cNvPr id="12" name="TextBox 11"/>
          <p:cNvSpPr txBox="1"/>
          <p:nvPr/>
        </p:nvSpPr>
        <p:spPr>
          <a:xfrm>
            <a:off x="9468000" y="2142000"/>
            <a:ext cx="5292000" cy="168300"/>
          </a:xfrm>
          <a:prstGeom prst="rect">
            <a:avLst/>
          </a:prstGeom>
          <a:noFill/>
        </p:spPr>
        <p:txBody>
          <a:bodyPr wrap="square" lIns="0" rIns="0" tIns="0" bIns="0" anchor="t">
            <a:spAutoFit/>
          </a:bodyPr>
          <a:lstStyle/>
          <a:p>
            <a:pPr algn="l">
              <a:lnSpc>
                <a:spcPts val="900"/>
              </a:lnSpc>
            </a:pPr>
            <a:r>
              <a:rPr sz="720">
                <a:solidFill>
                  <a:srgbClr val="8C8C8C"/>
                </a:solidFill>
                <a:latin typeface="Archivo"/>
              </a:rPr>
              <a:t>Rendus tirés des vues 02, 03 et 05 de la maquette</a:t>
            </a:r>
          </a:p>
        </p:txBody>
      </p:sp>
      <p:cxnSp>
        <p:nvCxnSpPr>
          <p:cNvPr id="13" name="Connector 12"/>
          <p:cNvCxnSpPr/>
          <p:nvPr/>
        </p:nvCxnSpPr>
        <p:spPr>
          <a:xfrm>
            <a:off x="9468000" y="2304000"/>
            <a:ext cx="648000" cy="0"/>
          </a:xfrm>
          <a:prstGeom prst="line">
            <a:avLst/>
          </a:prstGeom>
          <a:ln w="11430">
            <a:solidFill>
              <a:srgbClr val="B4583E"/>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116000" y="2304000"/>
            <a:ext cx="4644000" cy="0"/>
          </a:xfrm>
          <a:prstGeom prst="line">
            <a:avLst/>
          </a:prstGeom>
          <a:ln w="5080">
            <a:solidFill>
              <a:srgbClr val="C8C8C8"/>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9468000" y="2520000"/>
            <a:ext cx="5292000" cy="180999"/>
          </a:xfrm>
          <a:prstGeom prst="rect">
            <a:avLst/>
          </a:prstGeom>
          <a:noFill/>
        </p:spPr>
        <p:txBody>
          <a:bodyPr wrap="square" lIns="0" rIns="0" tIns="0" bIns="0" anchor="t">
            <a:spAutoFit/>
          </a:bodyPr>
          <a:lstStyle/>
          <a:p>
            <a:pPr algn="l">
              <a:lnSpc>
                <a:spcPts val="1000"/>
              </a:lnSpc>
            </a:pPr>
            <a:r>
              <a:rPr sz="740">
                <a:solidFill>
                  <a:srgbClr val="B4583E"/>
                </a:solidFill>
                <a:latin typeface="Archivo"/>
              </a:rPr>
              <a:t>MATIÈRES</a:t>
            </a:r>
          </a:p>
        </p:txBody>
      </p:sp>
      <p:sp>
        <p:nvSpPr>
          <p:cNvPr id="16" name="TextBox 15"/>
          <p:cNvSpPr txBox="1"/>
          <p:nvPr/>
        </p:nvSpPr>
        <p:spPr>
          <a:xfrm>
            <a:off x="9468000" y="2707200"/>
            <a:ext cx="5292000" cy="3587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Terrazzo clair au sol, enduit terre et chaux aux murs, iroko huilé pour la banque d'accueil, les rayonnages et les banquettes. Le faux-plafond acoustique à +3,00 garde 0,26 m de plénum sous la dalle de l'immeuble.</a:t>
            </a:r>
          </a:p>
        </p:txBody>
      </p:sp>
      <p:sp>
        <p:nvSpPr>
          <p:cNvPr id="17" name="TextBox 16"/>
          <p:cNvSpPr txBox="1"/>
          <p:nvPr/>
        </p:nvSpPr>
        <p:spPr>
          <a:xfrm>
            <a:off x="9468000" y="3174000"/>
            <a:ext cx="5292000" cy="180999"/>
          </a:xfrm>
          <a:prstGeom prst="rect">
            <a:avLst/>
          </a:prstGeom>
          <a:noFill/>
        </p:spPr>
        <p:txBody>
          <a:bodyPr wrap="square" lIns="0" rIns="0" tIns="0" bIns="0" anchor="t">
            <a:spAutoFit/>
          </a:bodyPr>
          <a:lstStyle/>
          <a:p>
            <a:pPr algn="l">
              <a:lnSpc>
                <a:spcPts val="1000"/>
              </a:lnSpc>
            </a:pPr>
            <a:r>
              <a:rPr sz="740">
                <a:solidFill>
                  <a:srgbClr val="B4583E"/>
                </a:solidFill>
                <a:latin typeface="Archivo"/>
              </a:rPr>
              <a:t>LUMIÈRE</a:t>
            </a:r>
          </a:p>
        </p:txBody>
      </p:sp>
      <p:sp>
        <p:nvSpPr>
          <p:cNvPr id="18" name="TextBox 17"/>
          <p:cNvSpPr txBox="1"/>
          <p:nvPr/>
        </p:nvSpPr>
        <p:spPr>
          <a:xfrm>
            <a:off x="9468000" y="3361200"/>
            <a:ext cx="5292000" cy="3587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Downlights 2700 K encastrés, suspensions en terre cuite au-dessus des tables, lumière du jour filtrée par la claustra. Les splits sont posés en hauteur sur des murs pleins, jamais au-dessus des tables.</a:t>
            </a:r>
          </a:p>
        </p:txBody>
      </p:sp>
      <p:sp>
        <p:nvSpPr>
          <p:cNvPr id="19" name="TextBox 18"/>
          <p:cNvSpPr txBox="1"/>
          <p:nvPr/>
        </p:nvSpPr>
        <p:spPr>
          <a:xfrm>
            <a:off x="9468000" y="3828000"/>
            <a:ext cx="5292000" cy="180999"/>
          </a:xfrm>
          <a:prstGeom prst="rect">
            <a:avLst/>
          </a:prstGeom>
          <a:noFill/>
        </p:spPr>
        <p:txBody>
          <a:bodyPr wrap="square" lIns="0" rIns="0" tIns="0" bIns="0" anchor="t">
            <a:spAutoFit/>
          </a:bodyPr>
          <a:lstStyle/>
          <a:p>
            <a:pPr algn="l">
              <a:lnSpc>
                <a:spcPts val="1000"/>
              </a:lnSpc>
            </a:pPr>
            <a:r>
              <a:rPr sz="740">
                <a:solidFill>
                  <a:srgbClr val="B4583E"/>
                </a:solidFill>
                <a:latin typeface="Archivo"/>
              </a:rPr>
              <a:t>CONTRÔLE</a:t>
            </a:r>
          </a:p>
        </p:txBody>
      </p:sp>
      <p:sp>
        <p:nvSpPr>
          <p:cNvPr id="20" name="TextBox 19"/>
          <p:cNvSpPr txBox="1"/>
          <p:nvPr/>
        </p:nvSpPr>
        <p:spPr>
          <a:xfrm>
            <a:off x="9468000" y="4015200"/>
            <a:ext cx="5292000" cy="3587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Comparés à leurs vues sources : murs, baies, mobilier et luminaires sont à leur place. Seuls les livres sur les étagères et la végétation sont ajoutés au rendu.</a:t>
            </a:r>
          </a:p>
        </p:txBody>
      </p:sp>
      <p:cxnSp>
        <p:nvCxnSpPr>
          <p:cNvPr id="21" name="Connector 20"/>
          <p:cNvCxnSpPr/>
          <p:nvPr/>
        </p:nvCxnSpPr>
        <p:spPr>
          <a:xfrm>
            <a:off x="9468000" y="8856000"/>
            <a:ext cx="5292000" cy="0"/>
          </a:xfrm>
          <a:prstGeom prst="line">
            <a:avLst/>
          </a:prstGeom>
          <a:ln w="3810">
            <a:solidFill>
              <a:srgbClr val="C8C8C8"/>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9468000" y="89820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PROJET</a:t>
            </a:r>
          </a:p>
        </p:txBody>
      </p:sp>
      <p:sp>
        <p:nvSpPr>
          <p:cNvPr id="23" name="TextBox 22"/>
          <p:cNvSpPr txBox="1"/>
          <p:nvPr/>
        </p:nvSpPr>
        <p:spPr>
          <a:xfrm>
            <a:off x="10260000" y="89820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Bibliothèque Decimo · RDC sous logements, Deux Plateaux, Abidjan</a:t>
            </a:r>
          </a:p>
        </p:txBody>
      </p:sp>
      <p:sp>
        <p:nvSpPr>
          <p:cNvPr id="24" name="TextBox 23"/>
          <p:cNvSpPr txBox="1"/>
          <p:nvPr/>
        </p:nvSpPr>
        <p:spPr>
          <a:xfrm>
            <a:off x="9468000" y="91476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PHASE</a:t>
            </a:r>
          </a:p>
        </p:txBody>
      </p:sp>
      <p:sp>
        <p:nvSpPr>
          <p:cNvPr id="25" name="TextBox 24"/>
          <p:cNvSpPr txBox="1"/>
          <p:nvPr/>
        </p:nvSpPr>
        <p:spPr>
          <a:xfrm>
            <a:off x="10260000" y="91476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ESQ V5 · aménagement sur existant V4</a:t>
            </a:r>
          </a:p>
        </p:txBody>
      </p:sp>
      <p:sp>
        <p:nvSpPr>
          <p:cNvPr id="26" name="TextBox 25"/>
          <p:cNvSpPr txBox="1"/>
          <p:nvPr/>
        </p:nvSpPr>
        <p:spPr>
          <a:xfrm>
            <a:off x="9468000" y="93132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PLANCHE</a:t>
            </a:r>
          </a:p>
        </p:txBody>
      </p:sp>
      <p:sp>
        <p:nvSpPr>
          <p:cNvPr id="27" name="TextBox 26"/>
          <p:cNvSpPr txBox="1"/>
          <p:nvPr/>
        </p:nvSpPr>
        <p:spPr>
          <a:xfrm>
            <a:off x="10260000" y="93132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14 · R2 Rendus intérieurs</a:t>
            </a:r>
          </a:p>
        </p:txBody>
      </p:sp>
      <p:sp>
        <p:nvSpPr>
          <p:cNvPr id="28" name="TextBox 27"/>
          <p:cNvSpPr txBox="1"/>
          <p:nvPr/>
        </p:nvSpPr>
        <p:spPr>
          <a:xfrm>
            <a:off x="9468000" y="94788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ÉCHELLE</a:t>
            </a:r>
          </a:p>
        </p:txBody>
      </p:sp>
      <p:sp>
        <p:nvSpPr>
          <p:cNvPr id="29" name="TextBox 28"/>
          <p:cNvSpPr txBox="1"/>
          <p:nvPr/>
        </p:nvSpPr>
        <p:spPr>
          <a:xfrm>
            <a:off x="10260000" y="94788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sans échelle · format A3 paysage</a:t>
            </a:r>
          </a:p>
        </p:txBody>
      </p:sp>
      <p:sp>
        <p:nvSpPr>
          <p:cNvPr id="30" name="TextBox 29"/>
          <p:cNvSpPr txBox="1"/>
          <p:nvPr/>
        </p:nvSpPr>
        <p:spPr>
          <a:xfrm>
            <a:off x="9468000" y="96444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MAQUETTE</a:t>
            </a:r>
          </a:p>
        </p:txBody>
      </p:sp>
      <p:sp>
        <p:nvSpPr>
          <p:cNvPr id="31" name="TextBox 30"/>
          <p:cNvSpPr txBox="1"/>
          <p:nvPr/>
        </p:nvSpPr>
        <p:spPr>
          <a:xfrm>
            <a:off x="10260000" y="96444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v5/DECIMO_ESQ_V5.ifc (IFC4)</a:t>
            </a:r>
          </a:p>
        </p:txBody>
      </p:sp>
      <p:sp>
        <p:nvSpPr>
          <p:cNvPr id="32" name="TextBox 31"/>
          <p:cNvSpPr txBox="1"/>
          <p:nvPr/>
        </p:nvSpPr>
        <p:spPr>
          <a:xfrm>
            <a:off x="9468000" y="98100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DATE</a:t>
            </a:r>
          </a:p>
        </p:txBody>
      </p:sp>
      <p:sp>
        <p:nvSpPr>
          <p:cNvPr id="33" name="TextBox 32"/>
          <p:cNvSpPr txBox="1"/>
          <p:nvPr/>
        </p:nvSpPr>
        <p:spPr>
          <a:xfrm>
            <a:off x="10260000" y="98100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15 octobre 2026 · indice C</a:t>
            </a:r>
          </a:p>
        </p:txBody>
      </p:sp>
      <p:sp>
        <p:nvSpPr>
          <p:cNvPr id="34" name="TextBox 33"/>
          <p:cNvSpPr txBox="1"/>
          <p:nvPr/>
        </p:nvSpPr>
        <p:spPr>
          <a:xfrm>
            <a:off x="9468000" y="10404000"/>
            <a:ext cx="1440000" cy="155600"/>
          </a:xfrm>
          <a:prstGeom prst="rect">
            <a:avLst/>
          </a:prstGeom>
          <a:noFill/>
        </p:spPr>
        <p:txBody>
          <a:bodyPr wrap="square" lIns="0" rIns="0" tIns="0" bIns="0" anchor="t">
            <a:spAutoFit/>
          </a:bodyPr>
          <a:lstStyle/>
          <a:p>
            <a:pPr algn="l">
              <a:lnSpc>
                <a:spcPts val="800"/>
              </a:lnSpc>
            </a:pPr>
            <a:r>
              <a:rPr sz="650">
                <a:solidFill>
                  <a:srgbClr val="4A4A4A"/>
                </a:solidFill>
                <a:latin typeface="Manrope"/>
              </a:rPr>
              <a:t>K&amp;Démi</a:t>
            </a:r>
          </a:p>
        </p:txBody>
      </p:sp>
      <p:sp>
        <p:nvSpPr>
          <p:cNvPr id="35" name="TextBox 34"/>
          <p:cNvSpPr txBox="1"/>
          <p:nvPr/>
        </p:nvSpPr>
        <p:spPr>
          <a:xfrm>
            <a:off x="12600000" y="10404000"/>
            <a:ext cx="2160000" cy="155600"/>
          </a:xfrm>
          <a:prstGeom prst="rect">
            <a:avLst/>
          </a:prstGeom>
          <a:noFill/>
        </p:spPr>
        <p:txBody>
          <a:bodyPr wrap="square" lIns="0" rIns="0" tIns="0" bIns="0" anchor="t">
            <a:spAutoFit/>
          </a:bodyPr>
          <a:lstStyle/>
          <a:p>
            <a:pPr algn="r">
              <a:lnSpc>
                <a:spcPts val="800"/>
              </a:lnSpc>
            </a:pPr>
            <a:r>
              <a:rPr sz="650">
                <a:solidFill>
                  <a:srgbClr val="8C8C8C"/>
                </a:solidFill>
                <a:latin typeface="Archivo"/>
              </a:rPr>
              <a:t>14 · ESQ V5 · Octobre 2026</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r3.jpg"/>
          <p:cNvPicPr>
            <a:picLocks noChangeAspect="1"/>
          </p:cNvPicPr>
          <p:nvPr/>
        </p:nvPicPr>
        <p:blipFill>
          <a:blip r:embed="rId2"/>
          <a:stretch>
            <a:fillRect/>
          </a:stretch>
        </p:blipFill>
        <p:spPr>
          <a:xfrm>
            <a:off x="504000" y="504000"/>
            <a:ext cx="4248000" cy="9396000"/>
          </a:xfrm>
          <a:prstGeom prst="rect">
            <a:avLst/>
          </a:prstGeom>
        </p:spPr>
      </p:pic>
      <p:sp>
        <p:nvSpPr>
          <p:cNvPr id="3" name="TextBox 2"/>
          <p:cNvSpPr txBox="1"/>
          <p:nvPr/>
        </p:nvSpPr>
        <p:spPr>
          <a:xfrm>
            <a:off x="504000" y="10008000"/>
            <a:ext cx="4248000" cy="163220"/>
          </a:xfrm>
          <a:prstGeom prst="rect">
            <a:avLst/>
          </a:prstGeom>
          <a:noFill/>
        </p:spPr>
        <p:txBody>
          <a:bodyPr wrap="square" lIns="0" rIns="0" tIns="0" bIns="0" anchor="t">
            <a:spAutoFit/>
          </a:bodyPr>
          <a:lstStyle/>
          <a:p>
            <a:pPr algn="l">
              <a:lnSpc>
                <a:spcPts val="860"/>
              </a:lnSpc>
            </a:pPr>
            <a:r>
              <a:rPr sz="680">
                <a:solidFill>
                  <a:srgbClr val="8C8C8C"/>
                </a:solidFill>
                <a:latin typeface="Archivo"/>
              </a:rPr>
              <a:t>R3 · L'arbre à livres et l'oculus indigo de 2,80 m, anneau LED 2700 K</a:t>
            </a:r>
          </a:p>
        </p:txBody>
      </p:sp>
      <p:pic>
        <p:nvPicPr>
          <p:cNvPr id="4" name="Picture 3" descr="r3_s0.jpg"/>
          <p:cNvPicPr>
            <a:picLocks noChangeAspect="1"/>
          </p:cNvPicPr>
          <p:nvPr/>
        </p:nvPicPr>
        <p:blipFill>
          <a:blip r:embed="rId3"/>
          <a:stretch>
            <a:fillRect/>
          </a:stretch>
        </p:blipFill>
        <p:spPr>
          <a:xfrm>
            <a:off x="4932000" y="504000"/>
            <a:ext cx="3744000" cy="2340000"/>
          </a:xfrm>
          <a:prstGeom prst="rect">
            <a:avLst/>
          </a:prstGeom>
        </p:spPr>
      </p:pic>
      <p:sp>
        <p:nvSpPr>
          <p:cNvPr id="5" name="TextBox 4"/>
          <p:cNvSpPr txBox="1"/>
          <p:nvPr/>
        </p:nvSpPr>
        <p:spPr>
          <a:xfrm>
            <a:off x="4932000" y="2908800"/>
            <a:ext cx="3744000" cy="163220"/>
          </a:xfrm>
          <a:prstGeom prst="rect">
            <a:avLst/>
          </a:prstGeom>
          <a:noFill/>
        </p:spPr>
        <p:txBody>
          <a:bodyPr wrap="square" lIns="0" rIns="0" tIns="0" bIns="0" anchor="t">
            <a:spAutoFit/>
          </a:bodyPr>
          <a:lstStyle/>
          <a:p>
            <a:pPr algn="l">
              <a:lnSpc>
                <a:spcPts val="860"/>
              </a:lnSpc>
            </a:pPr>
            <a:r>
              <a:rPr sz="680">
                <a:solidFill>
                  <a:srgbClr val="8C8C8C"/>
                </a:solidFill>
                <a:latin typeface="Archivo"/>
              </a:rPr>
              <a:t>Vue source 02, traits</a:t>
            </a:r>
          </a:p>
        </p:txBody>
      </p:sp>
      <p:pic>
        <p:nvPicPr>
          <p:cNvPr id="6" name="Picture 5" descr="r3_s1.jpg"/>
          <p:cNvPicPr>
            <a:picLocks noChangeAspect="1"/>
          </p:cNvPicPr>
          <p:nvPr/>
        </p:nvPicPr>
        <p:blipFill>
          <a:blip r:embed="rId4"/>
          <a:stretch>
            <a:fillRect/>
          </a:stretch>
        </p:blipFill>
        <p:spPr>
          <a:xfrm>
            <a:off x="4932000" y="3240000"/>
            <a:ext cx="3744000" cy="2340000"/>
          </a:xfrm>
          <a:prstGeom prst="rect">
            <a:avLst/>
          </a:prstGeom>
        </p:spPr>
      </p:pic>
      <p:sp>
        <p:nvSpPr>
          <p:cNvPr id="7" name="TextBox 6"/>
          <p:cNvSpPr txBox="1"/>
          <p:nvPr/>
        </p:nvSpPr>
        <p:spPr>
          <a:xfrm>
            <a:off x="4932000" y="5644800"/>
            <a:ext cx="3744000" cy="163220"/>
          </a:xfrm>
          <a:prstGeom prst="rect">
            <a:avLst/>
          </a:prstGeom>
          <a:noFill/>
        </p:spPr>
        <p:txBody>
          <a:bodyPr wrap="square" lIns="0" rIns="0" tIns="0" bIns="0" anchor="t">
            <a:spAutoFit/>
          </a:bodyPr>
          <a:lstStyle/>
          <a:p>
            <a:pPr algn="l">
              <a:lnSpc>
                <a:spcPts val="860"/>
              </a:lnSpc>
            </a:pPr>
            <a:r>
              <a:rPr sz="680">
                <a:solidFill>
                  <a:srgbClr val="8C8C8C"/>
                </a:solidFill>
                <a:latin typeface="Archivo"/>
              </a:rPr>
              <a:t>Vue source 03, traits</a:t>
            </a:r>
          </a:p>
        </p:txBody>
      </p:sp>
      <p:pic>
        <p:nvPicPr>
          <p:cNvPr id="8" name="Picture 7" descr="r3_s2.jpg"/>
          <p:cNvPicPr>
            <a:picLocks noChangeAspect="1"/>
          </p:cNvPicPr>
          <p:nvPr/>
        </p:nvPicPr>
        <p:blipFill>
          <a:blip r:embed="rId5"/>
          <a:stretch>
            <a:fillRect/>
          </a:stretch>
        </p:blipFill>
        <p:spPr>
          <a:xfrm>
            <a:off x="4932000" y="5976000"/>
            <a:ext cx="3744000" cy="2340000"/>
          </a:xfrm>
          <a:prstGeom prst="rect">
            <a:avLst/>
          </a:prstGeom>
        </p:spPr>
      </p:pic>
      <p:sp>
        <p:nvSpPr>
          <p:cNvPr id="9" name="TextBox 8"/>
          <p:cNvSpPr txBox="1"/>
          <p:nvPr/>
        </p:nvSpPr>
        <p:spPr>
          <a:xfrm>
            <a:off x="4932000" y="8380800"/>
            <a:ext cx="3744000" cy="163220"/>
          </a:xfrm>
          <a:prstGeom prst="rect">
            <a:avLst/>
          </a:prstGeom>
          <a:noFill/>
        </p:spPr>
        <p:txBody>
          <a:bodyPr wrap="square" lIns="0" rIns="0" tIns="0" bIns="0" anchor="t">
            <a:spAutoFit/>
          </a:bodyPr>
          <a:lstStyle/>
          <a:p>
            <a:pPr algn="l">
              <a:lnSpc>
                <a:spcPts val="860"/>
              </a:lnSpc>
            </a:pPr>
            <a:r>
              <a:rPr sz="680">
                <a:solidFill>
                  <a:srgbClr val="8C8C8C"/>
                </a:solidFill>
                <a:latin typeface="Archivo"/>
              </a:rPr>
              <a:t>Vue source 04, traits</a:t>
            </a:r>
          </a:p>
        </p:txBody>
      </p:sp>
      <p:sp>
        <p:nvSpPr>
          <p:cNvPr id="10" name="TextBox 9"/>
          <p:cNvSpPr txBox="1"/>
          <p:nvPr/>
        </p:nvSpPr>
        <p:spPr>
          <a:xfrm>
            <a:off x="4932000" y="8856000"/>
            <a:ext cx="3744000" cy="297840"/>
          </a:xfrm>
          <a:prstGeom prst="rect">
            <a:avLst/>
          </a:prstGeom>
          <a:noFill/>
        </p:spPr>
        <p:txBody>
          <a:bodyPr wrap="square" lIns="0" rIns="0" tIns="0" bIns="0" anchor="t">
            <a:spAutoFit/>
          </a:bodyPr>
          <a:lstStyle/>
          <a:p>
            <a:pPr algn="l">
              <a:lnSpc>
                <a:spcPts val="960"/>
              </a:lnSpc>
            </a:pPr>
            <a:r>
              <a:rPr sz="720">
                <a:solidFill>
                  <a:srgbClr val="8C8C8C"/>
                </a:solidFill>
                <a:latin typeface="Archivo"/>
              </a:rPr>
              <a:t>Les vues sources sont recalculées depuis l'IFC par v5/scripts/vues_rendu.py, avec la position, la cible et la focale enregistrées pour chaque caméra.</a:t>
            </a:r>
          </a:p>
        </p:txBody>
      </p:sp>
      <p:cxnSp>
        <p:nvCxnSpPr>
          <p:cNvPr id="11" name="Connector 10"/>
          <p:cNvCxnSpPr/>
          <p:nvPr/>
        </p:nvCxnSpPr>
        <p:spPr>
          <a:xfrm>
            <a:off x="9180000" y="288000"/>
            <a:ext cx="0" cy="10116000"/>
          </a:xfrm>
          <a:prstGeom prst="line">
            <a:avLst/>
          </a:prstGeom>
          <a:ln w="5080">
            <a:solidFill>
              <a:srgbClr val="C8C8C8"/>
            </a:solidFill>
          </a:ln>
        </p:spPr>
        <p:style>
          <a:lnRef idx="2">
            <a:schemeClr val="accent1"/>
          </a:lnRef>
          <a:fillRef idx="0">
            <a:schemeClr val="accent1"/>
          </a:fillRef>
          <a:effectRef idx="1">
            <a:schemeClr val="accent1"/>
          </a:effectRef>
          <a:fontRef idx="minor">
            <a:schemeClr val="tx1"/>
          </a:fontRef>
        </p:style>
      </p:cxnSp>
      <p:pic>
        <p:nvPicPr>
          <p:cNvPr id="12" name="Picture 11" descr="KDemi_v3_A_arche_lockup_mono.png"/>
          <p:cNvPicPr>
            <a:picLocks noChangeAspect="1"/>
          </p:cNvPicPr>
          <p:nvPr/>
        </p:nvPicPr>
        <p:blipFill>
          <a:blip r:embed="rId6"/>
          <a:stretch>
            <a:fillRect/>
          </a:stretch>
        </p:blipFill>
        <p:spPr>
          <a:xfrm>
            <a:off x="9468000" y="432000"/>
            <a:ext cx="1656000" cy="561660"/>
          </a:xfrm>
          <a:prstGeom prst="rect">
            <a:avLst/>
          </a:prstGeom>
        </p:spPr>
      </p:pic>
      <p:sp>
        <p:nvSpPr>
          <p:cNvPr id="13" name="TextBox 12"/>
          <p:cNvSpPr txBox="1"/>
          <p:nvPr/>
        </p:nvSpPr>
        <p:spPr>
          <a:xfrm>
            <a:off x="9468000" y="1440000"/>
            <a:ext cx="5292000" cy="384199"/>
          </a:xfrm>
          <a:prstGeom prst="rect">
            <a:avLst/>
          </a:prstGeom>
          <a:noFill/>
        </p:spPr>
        <p:txBody>
          <a:bodyPr wrap="square" lIns="0" rIns="0" tIns="0" bIns="0" anchor="t">
            <a:spAutoFit/>
          </a:bodyPr>
          <a:lstStyle/>
          <a:p>
            <a:pPr algn="l">
              <a:lnSpc>
                <a:spcPts val="2600"/>
              </a:lnSpc>
            </a:pPr>
            <a:r>
              <a:rPr sz="2300" b="1">
                <a:solidFill>
                  <a:srgbClr val="4A4A4A"/>
                </a:solidFill>
                <a:latin typeface="Archivo"/>
              </a:rPr>
              <a:t>L'arbre à livres</a:t>
            </a:r>
          </a:p>
        </p:txBody>
      </p:sp>
      <p:sp>
        <p:nvSpPr>
          <p:cNvPr id="14" name="TextBox 13"/>
          <p:cNvSpPr txBox="1"/>
          <p:nvPr/>
        </p:nvSpPr>
        <p:spPr>
          <a:xfrm>
            <a:off x="9468000" y="1890000"/>
            <a:ext cx="5292000" cy="231799"/>
          </a:xfrm>
          <a:prstGeom prst="rect">
            <a:avLst/>
          </a:prstGeom>
          <a:noFill/>
        </p:spPr>
        <p:txBody>
          <a:bodyPr wrap="square" lIns="0" rIns="0" tIns="0" bIns="0" anchor="t">
            <a:spAutoFit/>
          </a:bodyPr>
          <a:lstStyle/>
          <a:p>
            <a:pPr algn="l">
              <a:lnSpc>
                <a:spcPts val="1400"/>
              </a:lnSpc>
            </a:pPr>
            <a:r>
              <a:rPr sz="1050">
                <a:solidFill>
                  <a:srgbClr val="4A4A4A"/>
                </a:solidFill>
                <a:latin typeface="Archivo"/>
              </a:rPr>
              <a:t>Le seul objet fort de la salle</a:t>
            </a:r>
          </a:p>
        </p:txBody>
      </p:sp>
      <p:sp>
        <p:nvSpPr>
          <p:cNvPr id="15" name="TextBox 14"/>
          <p:cNvSpPr txBox="1"/>
          <p:nvPr/>
        </p:nvSpPr>
        <p:spPr>
          <a:xfrm>
            <a:off x="9468000" y="2142000"/>
            <a:ext cx="5292000" cy="168300"/>
          </a:xfrm>
          <a:prstGeom prst="rect">
            <a:avLst/>
          </a:prstGeom>
          <a:noFill/>
        </p:spPr>
        <p:txBody>
          <a:bodyPr wrap="square" lIns="0" rIns="0" tIns="0" bIns="0" anchor="t">
            <a:spAutoFit/>
          </a:bodyPr>
          <a:lstStyle/>
          <a:p>
            <a:pPr algn="l">
              <a:lnSpc>
                <a:spcPts val="900"/>
              </a:lnSpc>
            </a:pPr>
            <a:r>
              <a:rPr sz="720">
                <a:solidFill>
                  <a:srgbClr val="8C8C8C"/>
                </a:solidFill>
                <a:latin typeface="Archivo"/>
              </a:rPr>
              <a:t>Rendu tiré de la vue 04 de la maquette</a:t>
            </a:r>
          </a:p>
        </p:txBody>
      </p:sp>
      <p:cxnSp>
        <p:nvCxnSpPr>
          <p:cNvPr id="16" name="Connector 15"/>
          <p:cNvCxnSpPr/>
          <p:nvPr/>
        </p:nvCxnSpPr>
        <p:spPr>
          <a:xfrm>
            <a:off x="9468000" y="2304000"/>
            <a:ext cx="648000" cy="0"/>
          </a:xfrm>
          <a:prstGeom prst="line">
            <a:avLst/>
          </a:prstGeom>
          <a:ln w="11430">
            <a:solidFill>
              <a:srgbClr val="B4583E"/>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0116000" y="2304000"/>
            <a:ext cx="4644000" cy="0"/>
          </a:xfrm>
          <a:prstGeom prst="line">
            <a:avLst/>
          </a:prstGeom>
          <a:ln w="5080">
            <a:solidFill>
              <a:srgbClr val="C8C8C8"/>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9468000" y="2520000"/>
            <a:ext cx="5292000" cy="180999"/>
          </a:xfrm>
          <a:prstGeom prst="rect">
            <a:avLst/>
          </a:prstGeom>
          <a:noFill/>
        </p:spPr>
        <p:txBody>
          <a:bodyPr wrap="square" lIns="0" rIns="0" tIns="0" bIns="0" anchor="t">
            <a:spAutoFit/>
          </a:bodyPr>
          <a:lstStyle/>
          <a:p>
            <a:pPr algn="l">
              <a:lnSpc>
                <a:spcPts val="1000"/>
              </a:lnSpc>
            </a:pPr>
            <a:r>
              <a:rPr sz="740">
                <a:solidFill>
                  <a:srgbClr val="B4583E"/>
                </a:solidFill>
                <a:latin typeface="Archivo"/>
              </a:rPr>
              <a:t>L'OBJET</a:t>
            </a:r>
          </a:p>
        </p:txBody>
      </p:sp>
      <p:sp>
        <p:nvSpPr>
          <p:cNvPr id="19" name="TextBox 18"/>
          <p:cNvSpPr txBox="1"/>
          <p:nvPr/>
        </p:nvSpPr>
        <p:spPr>
          <a:xfrm>
            <a:off x="9468000" y="2707200"/>
            <a:ext cx="5292000" cy="3587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Un fût d'iroko porte des étagères circulaires et s'évase en canopée sous un oculus de 2,80 m. La sous-face de dalle est laquée indigo et un anneau LED indirect dessine le bord de l'oculus.</a:t>
            </a:r>
          </a:p>
        </p:txBody>
      </p:sp>
      <p:sp>
        <p:nvSpPr>
          <p:cNvPr id="20" name="TextBox 19"/>
          <p:cNvSpPr txBox="1"/>
          <p:nvPr/>
        </p:nvSpPr>
        <p:spPr>
          <a:xfrm>
            <a:off x="9468000" y="3174000"/>
            <a:ext cx="5292000" cy="180999"/>
          </a:xfrm>
          <a:prstGeom prst="rect">
            <a:avLst/>
          </a:prstGeom>
          <a:noFill/>
        </p:spPr>
        <p:txBody>
          <a:bodyPr wrap="square" lIns="0" rIns="0" tIns="0" bIns="0" anchor="t">
            <a:spAutoFit/>
          </a:bodyPr>
          <a:lstStyle/>
          <a:p>
            <a:pPr algn="l">
              <a:lnSpc>
                <a:spcPts val="1000"/>
              </a:lnSpc>
            </a:pPr>
            <a:r>
              <a:rPr sz="740">
                <a:solidFill>
                  <a:srgbClr val="B4583E"/>
                </a:solidFill>
                <a:latin typeface="Archivo"/>
              </a:rPr>
              <a:t>DANS LA MAQUETTE</a:t>
            </a:r>
          </a:p>
        </p:txBody>
      </p:sp>
      <p:sp>
        <p:nvSpPr>
          <p:cNvPr id="21" name="TextBox 20"/>
          <p:cNvSpPr txBox="1"/>
          <p:nvPr/>
        </p:nvSpPr>
        <p:spPr>
          <a:xfrm>
            <a:off x="9468000" y="3361200"/>
            <a:ext cx="5292000" cy="511200"/>
          </a:xfrm>
          <a:prstGeom prst="rect">
            <a:avLst/>
          </a:prstGeom>
          <a:noFill/>
        </p:spPr>
        <p:txBody>
          <a:bodyPr wrap="square" lIns="0" rIns="0" tIns="0" bIns="0" anchor="t">
            <a:spAutoFit/>
          </a:bodyPr>
          <a:lstStyle/>
          <a:p>
            <a:pPr algn="l">
              <a:lnSpc>
                <a:spcPts val="1200"/>
              </a:lnSpc>
            </a:pPr>
            <a:r>
              <a:rPr sz="840">
                <a:solidFill>
                  <a:srgbClr val="4A4A4A"/>
                </a:solidFill>
                <a:latin typeface="Archivo"/>
              </a:rPr>
              <a:t>Modélisé en IfcFurniture sculptural au centre de la salle de lecture, avec l'oculus en IfcCovering et l'anneau en IfcLightFixture. Il est fixé sous la dalle sans la traverser : la charge, l'ancrage et la réaction au feu restent à valider par le BET.</a:t>
            </a:r>
          </a:p>
        </p:txBody>
      </p:sp>
      <p:cxnSp>
        <p:nvCxnSpPr>
          <p:cNvPr id="22" name="Connector 21"/>
          <p:cNvCxnSpPr/>
          <p:nvPr/>
        </p:nvCxnSpPr>
        <p:spPr>
          <a:xfrm>
            <a:off x="9468000" y="8856000"/>
            <a:ext cx="5292000" cy="0"/>
          </a:xfrm>
          <a:prstGeom prst="line">
            <a:avLst/>
          </a:prstGeom>
          <a:ln w="3810">
            <a:solidFill>
              <a:srgbClr val="C8C8C8"/>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9468000" y="89820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PROJET</a:t>
            </a:r>
          </a:p>
        </p:txBody>
      </p:sp>
      <p:sp>
        <p:nvSpPr>
          <p:cNvPr id="24" name="TextBox 23"/>
          <p:cNvSpPr txBox="1"/>
          <p:nvPr/>
        </p:nvSpPr>
        <p:spPr>
          <a:xfrm>
            <a:off x="10260000" y="89820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Bibliothèque Decimo · RDC sous logements, Deux Plateaux, Abidjan</a:t>
            </a:r>
          </a:p>
        </p:txBody>
      </p:sp>
      <p:sp>
        <p:nvSpPr>
          <p:cNvPr id="25" name="TextBox 24"/>
          <p:cNvSpPr txBox="1"/>
          <p:nvPr/>
        </p:nvSpPr>
        <p:spPr>
          <a:xfrm>
            <a:off x="9468000" y="91476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PHASE</a:t>
            </a:r>
          </a:p>
        </p:txBody>
      </p:sp>
      <p:sp>
        <p:nvSpPr>
          <p:cNvPr id="26" name="TextBox 25"/>
          <p:cNvSpPr txBox="1"/>
          <p:nvPr/>
        </p:nvSpPr>
        <p:spPr>
          <a:xfrm>
            <a:off x="10260000" y="91476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ESQ V5 · aménagement sur existant V4</a:t>
            </a:r>
          </a:p>
        </p:txBody>
      </p:sp>
      <p:sp>
        <p:nvSpPr>
          <p:cNvPr id="27" name="TextBox 26"/>
          <p:cNvSpPr txBox="1"/>
          <p:nvPr/>
        </p:nvSpPr>
        <p:spPr>
          <a:xfrm>
            <a:off x="9468000" y="93132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PLANCHE</a:t>
            </a:r>
          </a:p>
        </p:txBody>
      </p:sp>
      <p:sp>
        <p:nvSpPr>
          <p:cNvPr id="28" name="TextBox 27"/>
          <p:cNvSpPr txBox="1"/>
          <p:nvPr/>
        </p:nvSpPr>
        <p:spPr>
          <a:xfrm>
            <a:off x="10260000" y="93132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15 · R3 L'arbre à livres</a:t>
            </a:r>
          </a:p>
        </p:txBody>
      </p:sp>
      <p:sp>
        <p:nvSpPr>
          <p:cNvPr id="29" name="TextBox 28"/>
          <p:cNvSpPr txBox="1"/>
          <p:nvPr/>
        </p:nvSpPr>
        <p:spPr>
          <a:xfrm>
            <a:off x="9468000" y="94788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ÉCHELLE</a:t>
            </a:r>
          </a:p>
        </p:txBody>
      </p:sp>
      <p:sp>
        <p:nvSpPr>
          <p:cNvPr id="30" name="TextBox 29"/>
          <p:cNvSpPr txBox="1"/>
          <p:nvPr/>
        </p:nvSpPr>
        <p:spPr>
          <a:xfrm>
            <a:off x="10260000" y="94788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sans échelle · format A3 paysage</a:t>
            </a:r>
          </a:p>
        </p:txBody>
      </p:sp>
      <p:sp>
        <p:nvSpPr>
          <p:cNvPr id="31" name="TextBox 30"/>
          <p:cNvSpPr txBox="1"/>
          <p:nvPr/>
        </p:nvSpPr>
        <p:spPr>
          <a:xfrm>
            <a:off x="9468000" y="96444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MAQUETTE</a:t>
            </a:r>
          </a:p>
        </p:txBody>
      </p:sp>
      <p:sp>
        <p:nvSpPr>
          <p:cNvPr id="32" name="TextBox 31"/>
          <p:cNvSpPr txBox="1"/>
          <p:nvPr/>
        </p:nvSpPr>
        <p:spPr>
          <a:xfrm>
            <a:off x="10260000" y="96444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v5/DECIMO_ESQ_V5.ifc (IFC4)</a:t>
            </a:r>
          </a:p>
        </p:txBody>
      </p:sp>
      <p:sp>
        <p:nvSpPr>
          <p:cNvPr id="33" name="TextBox 32"/>
          <p:cNvSpPr txBox="1"/>
          <p:nvPr/>
        </p:nvSpPr>
        <p:spPr>
          <a:xfrm>
            <a:off x="9468000" y="98100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DATE</a:t>
            </a:r>
          </a:p>
        </p:txBody>
      </p:sp>
      <p:sp>
        <p:nvSpPr>
          <p:cNvPr id="34" name="TextBox 33"/>
          <p:cNvSpPr txBox="1"/>
          <p:nvPr/>
        </p:nvSpPr>
        <p:spPr>
          <a:xfrm>
            <a:off x="10260000" y="98100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15 octobre 2026 · indice C</a:t>
            </a:r>
          </a:p>
        </p:txBody>
      </p:sp>
      <p:sp>
        <p:nvSpPr>
          <p:cNvPr id="35" name="TextBox 34"/>
          <p:cNvSpPr txBox="1"/>
          <p:nvPr/>
        </p:nvSpPr>
        <p:spPr>
          <a:xfrm>
            <a:off x="9468000" y="10404000"/>
            <a:ext cx="1440000" cy="155600"/>
          </a:xfrm>
          <a:prstGeom prst="rect">
            <a:avLst/>
          </a:prstGeom>
          <a:noFill/>
        </p:spPr>
        <p:txBody>
          <a:bodyPr wrap="square" lIns="0" rIns="0" tIns="0" bIns="0" anchor="t">
            <a:spAutoFit/>
          </a:bodyPr>
          <a:lstStyle/>
          <a:p>
            <a:pPr algn="l">
              <a:lnSpc>
                <a:spcPts val="800"/>
              </a:lnSpc>
            </a:pPr>
            <a:r>
              <a:rPr sz="650">
                <a:solidFill>
                  <a:srgbClr val="4A4A4A"/>
                </a:solidFill>
                <a:latin typeface="Manrope"/>
              </a:rPr>
              <a:t>K&amp;Démi</a:t>
            </a:r>
          </a:p>
        </p:txBody>
      </p:sp>
      <p:sp>
        <p:nvSpPr>
          <p:cNvPr id="36" name="TextBox 35"/>
          <p:cNvSpPr txBox="1"/>
          <p:nvPr/>
        </p:nvSpPr>
        <p:spPr>
          <a:xfrm>
            <a:off x="12600000" y="10404000"/>
            <a:ext cx="2160000" cy="155600"/>
          </a:xfrm>
          <a:prstGeom prst="rect">
            <a:avLst/>
          </a:prstGeom>
          <a:noFill/>
        </p:spPr>
        <p:txBody>
          <a:bodyPr wrap="square" lIns="0" rIns="0" tIns="0" bIns="0" anchor="t">
            <a:spAutoFit/>
          </a:bodyPr>
          <a:lstStyle/>
          <a:p>
            <a:pPr algn="r">
              <a:lnSpc>
                <a:spcPts val="800"/>
              </a:lnSpc>
            </a:pPr>
            <a:r>
              <a:rPr sz="650">
                <a:solidFill>
                  <a:srgbClr val="8C8C8C"/>
                </a:solidFill>
                <a:latin typeface="Archivo"/>
              </a:rPr>
              <a:t>15 · ESQ V5 · Octobre 2026</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T01_plan_electricite_courants_forts.png"/>
          <p:cNvPicPr>
            <a:picLocks noChangeAspect="1"/>
          </p:cNvPicPr>
          <p:nvPr/>
        </p:nvPicPr>
        <p:blipFill>
          <a:blip r:embed="rId2"/>
          <a:stretch>
            <a:fillRect/>
          </a:stretch>
        </p:blipFill>
        <p:spPr>
          <a:xfrm>
            <a:off x="0" y="0"/>
            <a:ext cx="15120000" cy="1069200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T02_plan_courants_faibles_eclairage.png"/>
          <p:cNvPicPr>
            <a:picLocks noChangeAspect="1"/>
          </p:cNvPicPr>
          <p:nvPr/>
        </p:nvPicPr>
        <p:blipFill>
          <a:blip r:embed="rId2"/>
          <a:stretch>
            <a:fillRect/>
          </a:stretch>
        </p:blipFill>
        <p:spPr>
          <a:xfrm>
            <a:off x="0" y="0"/>
            <a:ext cx="15120000" cy="1069200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T03_plan_AEP_EU_EV.png"/>
          <p:cNvPicPr>
            <a:picLocks noChangeAspect="1"/>
          </p:cNvPicPr>
          <p:nvPr/>
        </p:nvPicPr>
        <p:blipFill>
          <a:blip r:embed="rId2"/>
          <a:stretch>
            <a:fillRect/>
          </a:stretch>
        </p:blipFill>
        <p:spPr>
          <a:xfrm>
            <a:off x="0" y="0"/>
            <a:ext cx="15120000" cy="1069200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T04_details_techniques.png"/>
          <p:cNvPicPr>
            <a:picLocks noChangeAspect="1"/>
          </p:cNvPicPr>
          <p:nvPr/>
        </p:nvPicPr>
        <p:blipFill>
          <a:blip r:embed="rId2"/>
          <a:stretch>
            <a:fillRect/>
          </a:stretch>
        </p:blipFill>
        <p:spPr>
          <a:xfrm>
            <a:off x="0" y="0"/>
            <a:ext cx="15120000" cy="1069200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T05_schema_unifilaire_bilan.png"/>
          <p:cNvPicPr>
            <a:picLocks noChangeAspect="1"/>
          </p:cNvPicPr>
          <p:nvPr/>
        </p:nvPicPr>
        <p:blipFill>
          <a:blip r:embed="rId2"/>
          <a:stretch>
            <a:fillRect/>
          </a:stretch>
        </p:blipFill>
        <p:spPr>
          <a:xfrm>
            <a:off x="0" y="0"/>
            <a:ext cx="15120000" cy="10692000"/>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4000" y="504000"/>
            <a:ext cx="2016000" cy="155600"/>
          </a:xfrm>
          <a:prstGeom prst="rect">
            <a:avLst/>
          </a:prstGeom>
          <a:noFill/>
        </p:spPr>
        <p:txBody>
          <a:bodyPr wrap="square" lIns="0" rIns="0" tIns="0" bIns="0" anchor="t">
            <a:spAutoFit/>
          </a:bodyPr>
          <a:lstStyle/>
          <a:p>
            <a:pPr algn="l">
              <a:lnSpc>
                <a:spcPts val="800"/>
              </a:lnSpc>
            </a:pPr>
            <a:r>
              <a:rPr sz="660">
                <a:solidFill>
                  <a:srgbClr val="B4583E"/>
                </a:solidFill>
                <a:latin typeface="Archivo"/>
              </a:rPr>
              <a:t>ÉLÉMENT</a:t>
            </a:r>
          </a:p>
        </p:txBody>
      </p:sp>
      <p:sp>
        <p:nvSpPr>
          <p:cNvPr id="3" name="TextBox 2"/>
          <p:cNvSpPr txBox="1"/>
          <p:nvPr/>
        </p:nvSpPr>
        <p:spPr>
          <a:xfrm>
            <a:off x="2682000" y="504000"/>
            <a:ext cx="864000" cy="155600"/>
          </a:xfrm>
          <a:prstGeom prst="rect">
            <a:avLst/>
          </a:prstGeom>
          <a:noFill/>
        </p:spPr>
        <p:txBody>
          <a:bodyPr wrap="square" lIns="0" rIns="0" tIns="0" bIns="0" anchor="t">
            <a:spAutoFit/>
          </a:bodyPr>
          <a:lstStyle/>
          <a:p>
            <a:pPr algn="l">
              <a:lnSpc>
                <a:spcPts val="800"/>
              </a:lnSpc>
            </a:pPr>
            <a:r>
              <a:rPr sz="660">
                <a:solidFill>
                  <a:srgbClr val="B4583E"/>
                </a:solidFill>
                <a:latin typeface="Archivo"/>
              </a:rPr>
              <a:t>D.A</a:t>
            </a:r>
          </a:p>
        </p:txBody>
      </p:sp>
      <p:sp>
        <p:nvSpPr>
          <p:cNvPr id="4" name="TextBox 3"/>
          <p:cNvSpPr txBox="1"/>
          <p:nvPr/>
        </p:nvSpPr>
        <p:spPr>
          <a:xfrm>
            <a:off x="3708000" y="504000"/>
            <a:ext cx="2304000" cy="155600"/>
          </a:xfrm>
          <a:prstGeom prst="rect">
            <a:avLst/>
          </a:prstGeom>
          <a:noFill/>
        </p:spPr>
        <p:txBody>
          <a:bodyPr wrap="square" lIns="0" rIns="0" tIns="0" bIns="0" anchor="t">
            <a:spAutoFit/>
          </a:bodyPr>
          <a:lstStyle/>
          <a:p>
            <a:pPr algn="l">
              <a:lnSpc>
                <a:spcPts val="800"/>
              </a:lnSpc>
            </a:pPr>
            <a:r>
              <a:rPr sz="660">
                <a:solidFill>
                  <a:srgbClr val="B4583E"/>
                </a:solidFill>
                <a:latin typeface="Archivo"/>
              </a:rPr>
              <a:t>MAQUETTE IFC V5</a:t>
            </a:r>
          </a:p>
        </p:txBody>
      </p:sp>
      <p:sp>
        <p:nvSpPr>
          <p:cNvPr id="5" name="TextBox 4"/>
          <p:cNvSpPr txBox="1"/>
          <p:nvPr/>
        </p:nvSpPr>
        <p:spPr>
          <a:xfrm>
            <a:off x="6174000" y="504000"/>
            <a:ext cx="1512000" cy="155600"/>
          </a:xfrm>
          <a:prstGeom prst="rect">
            <a:avLst/>
          </a:prstGeom>
          <a:noFill/>
        </p:spPr>
        <p:txBody>
          <a:bodyPr wrap="square" lIns="0" rIns="0" tIns="0" bIns="0" anchor="t">
            <a:spAutoFit/>
          </a:bodyPr>
          <a:lstStyle/>
          <a:p>
            <a:pPr algn="l">
              <a:lnSpc>
                <a:spcPts val="800"/>
              </a:lnSpc>
            </a:pPr>
            <a:r>
              <a:rPr sz="660">
                <a:solidFill>
                  <a:srgbClr val="B4583E"/>
                </a:solidFill>
                <a:latin typeface="Archivo"/>
              </a:rPr>
              <a:t>PLANS</a:t>
            </a:r>
          </a:p>
        </p:txBody>
      </p:sp>
      <p:sp>
        <p:nvSpPr>
          <p:cNvPr id="6" name="TextBox 5"/>
          <p:cNvSpPr txBox="1"/>
          <p:nvPr/>
        </p:nvSpPr>
        <p:spPr>
          <a:xfrm>
            <a:off x="7848000" y="504000"/>
            <a:ext cx="756000" cy="155600"/>
          </a:xfrm>
          <a:prstGeom prst="rect">
            <a:avLst/>
          </a:prstGeom>
          <a:noFill/>
        </p:spPr>
        <p:txBody>
          <a:bodyPr wrap="square" lIns="0" rIns="0" tIns="0" bIns="0" anchor="t">
            <a:spAutoFit/>
          </a:bodyPr>
          <a:lstStyle/>
          <a:p>
            <a:pPr algn="l">
              <a:lnSpc>
                <a:spcPts val="800"/>
              </a:lnSpc>
            </a:pPr>
            <a:r>
              <a:rPr sz="660">
                <a:solidFill>
                  <a:srgbClr val="B4583E"/>
                </a:solidFill>
                <a:latin typeface="Archivo"/>
              </a:rPr>
              <a:t>RENDUS</a:t>
            </a:r>
          </a:p>
        </p:txBody>
      </p:sp>
      <p:cxnSp>
        <p:nvCxnSpPr>
          <p:cNvPr id="7" name="Connector 6"/>
          <p:cNvCxnSpPr/>
          <p:nvPr/>
        </p:nvCxnSpPr>
        <p:spPr>
          <a:xfrm>
            <a:off x="504000" y="684000"/>
            <a:ext cx="8172000" cy="0"/>
          </a:xfrm>
          <a:prstGeom prst="line">
            <a:avLst/>
          </a:prstGeom>
          <a:ln w="5080">
            <a:solidFill>
              <a:srgbClr val="4A4A4A"/>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04000" y="763200"/>
            <a:ext cx="2016000" cy="3587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Devanture : 4 baies V4, vitrine en arche, portail terre cuite, claustra Adinkra</a:t>
            </a:r>
          </a:p>
        </p:txBody>
      </p:sp>
      <p:sp>
        <p:nvSpPr>
          <p:cNvPr id="9" name="TextBox 8"/>
          <p:cNvSpPr txBox="1"/>
          <p:nvPr/>
        </p:nvSpPr>
        <p:spPr>
          <a:xfrm>
            <a:off x="2682000" y="763200"/>
            <a:ext cx="864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p. 04</a:t>
            </a:r>
          </a:p>
        </p:txBody>
      </p:sp>
      <p:sp>
        <p:nvSpPr>
          <p:cNvPr id="10" name="TextBox 9"/>
          <p:cNvSpPr txBox="1"/>
          <p:nvPr/>
        </p:nvSpPr>
        <p:spPr>
          <a:xfrm>
            <a:off x="3708000" y="763200"/>
            <a:ext cx="2304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IfcWindow, IfcDoor, IfcMember dans les baies V4</a:t>
            </a:r>
          </a:p>
        </p:txBody>
      </p:sp>
      <p:sp>
        <p:nvSpPr>
          <p:cNvPr id="11" name="TextBox 10"/>
          <p:cNvSpPr txBox="1"/>
          <p:nvPr/>
        </p:nvSpPr>
        <p:spPr>
          <a:xfrm>
            <a:off x="6174000" y="763200"/>
            <a:ext cx="1512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A01, A04</a:t>
            </a:r>
          </a:p>
        </p:txBody>
      </p:sp>
      <p:sp>
        <p:nvSpPr>
          <p:cNvPr id="12" name="TextBox 11"/>
          <p:cNvSpPr txBox="1"/>
          <p:nvPr/>
        </p:nvSpPr>
        <p:spPr>
          <a:xfrm>
            <a:off x="7848000" y="763200"/>
            <a:ext cx="756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R1</a:t>
            </a:r>
          </a:p>
        </p:txBody>
      </p:sp>
      <p:cxnSp>
        <p:nvCxnSpPr>
          <p:cNvPr id="13" name="Connector 12"/>
          <p:cNvCxnSpPr/>
          <p:nvPr/>
        </p:nvCxnSpPr>
        <p:spPr>
          <a:xfrm>
            <a:off x="504000" y="1125600"/>
            <a:ext cx="8172000" cy="0"/>
          </a:xfrm>
          <a:prstGeom prst="line">
            <a:avLst/>
          </a:prstGeom>
          <a:ln w="3175">
            <a:solidFill>
              <a:srgbClr val="C8C8C8"/>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504000" y="1197600"/>
            <a:ext cx="2016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Arbre à livres et oculus indigo Ø 2,80</a:t>
            </a:r>
          </a:p>
        </p:txBody>
      </p:sp>
      <p:sp>
        <p:nvSpPr>
          <p:cNvPr id="15" name="TextBox 14"/>
          <p:cNvSpPr txBox="1"/>
          <p:nvPr/>
        </p:nvSpPr>
        <p:spPr>
          <a:xfrm>
            <a:off x="2682000" y="1197600"/>
            <a:ext cx="864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p. 04</a:t>
            </a:r>
          </a:p>
        </p:txBody>
      </p:sp>
      <p:sp>
        <p:nvSpPr>
          <p:cNvPr id="16" name="TextBox 15"/>
          <p:cNvSpPr txBox="1"/>
          <p:nvPr/>
        </p:nvSpPr>
        <p:spPr>
          <a:xfrm>
            <a:off x="3708000" y="1197600"/>
            <a:ext cx="2304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IfcFurniture, IfcCovering, anneau IfcLightFixture</a:t>
            </a:r>
          </a:p>
        </p:txBody>
      </p:sp>
      <p:sp>
        <p:nvSpPr>
          <p:cNvPr id="17" name="TextBox 16"/>
          <p:cNvSpPr txBox="1"/>
          <p:nvPr/>
        </p:nvSpPr>
        <p:spPr>
          <a:xfrm>
            <a:off x="6174000" y="1197600"/>
            <a:ext cx="1512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A01, A02, A03</a:t>
            </a:r>
          </a:p>
        </p:txBody>
      </p:sp>
      <p:sp>
        <p:nvSpPr>
          <p:cNvPr id="18" name="TextBox 17"/>
          <p:cNvSpPr txBox="1"/>
          <p:nvPr/>
        </p:nvSpPr>
        <p:spPr>
          <a:xfrm>
            <a:off x="7848000" y="1197600"/>
            <a:ext cx="756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R2, R3</a:t>
            </a:r>
          </a:p>
        </p:txBody>
      </p:sp>
      <p:cxnSp>
        <p:nvCxnSpPr>
          <p:cNvPr id="19" name="Connector 18"/>
          <p:cNvCxnSpPr/>
          <p:nvPr/>
        </p:nvCxnSpPr>
        <p:spPr>
          <a:xfrm>
            <a:off x="504000" y="1407599"/>
            <a:ext cx="8172000" cy="0"/>
          </a:xfrm>
          <a:prstGeom prst="line">
            <a:avLst/>
          </a:prstGeom>
          <a:ln w="3175">
            <a:solidFill>
              <a:srgbClr val="C8C8C8"/>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504000" y="1479599"/>
            <a:ext cx="2016000" cy="3587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Matériaux : terrazzo, iroko, enduit terre, chaux, acier noir</a:t>
            </a:r>
          </a:p>
        </p:txBody>
      </p:sp>
      <p:sp>
        <p:nvSpPr>
          <p:cNvPr id="21" name="TextBox 20"/>
          <p:cNvSpPr txBox="1"/>
          <p:nvPr/>
        </p:nvSpPr>
        <p:spPr>
          <a:xfrm>
            <a:off x="2682000" y="1479599"/>
            <a:ext cx="864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p. 04</a:t>
            </a:r>
          </a:p>
        </p:txBody>
      </p:sp>
      <p:sp>
        <p:nvSpPr>
          <p:cNvPr id="22" name="TextBox 21"/>
          <p:cNvSpPr txBox="1"/>
          <p:nvPr/>
        </p:nvSpPr>
        <p:spPr>
          <a:xfrm>
            <a:off x="3708000" y="1479599"/>
            <a:ext cx="2304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IfcMaterial et styles de surface D.A</a:t>
            </a:r>
          </a:p>
        </p:txBody>
      </p:sp>
      <p:sp>
        <p:nvSpPr>
          <p:cNvPr id="23" name="TextBox 22"/>
          <p:cNvSpPr txBox="1"/>
          <p:nvPr/>
        </p:nvSpPr>
        <p:spPr>
          <a:xfrm>
            <a:off x="6174000" y="1479599"/>
            <a:ext cx="1512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A05, A06</a:t>
            </a:r>
          </a:p>
        </p:txBody>
      </p:sp>
      <p:sp>
        <p:nvSpPr>
          <p:cNvPr id="24" name="TextBox 23"/>
          <p:cNvSpPr txBox="1"/>
          <p:nvPr/>
        </p:nvSpPr>
        <p:spPr>
          <a:xfrm>
            <a:off x="7848000" y="1479599"/>
            <a:ext cx="756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R1 à R3</a:t>
            </a:r>
          </a:p>
        </p:txBody>
      </p:sp>
      <p:cxnSp>
        <p:nvCxnSpPr>
          <p:cNvPr id="25" name="Connector 24"/>
          <p:cNvCxnSpPr/>
          <p:nvPr/>
        </p:nvCxnSpPr>
        <p:spPr>
          <a:xfrm>
            <a:off x="504000" y="1841999"/>
            <a:ext cx="8172000" cy="0"/>
          </a:xfrm>
          <a:prstGeom prst="line">
            <a:avLst/>
          </a:prstGeom>
          <a:ln w="3175">
            <a:solidFill>
              <a:srgbClr val="C8C8C8"/>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504000" y="1913999"/>
            <a:ext cx="2016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Lumière 2700 K</a:t>
            </a:r>
          </a:p>
        </p:txBody>
      </p:sp>
      <p:sp>
        <p:nvSpPr>
          <p:cNvPr id="27" name="TextBox 26"/>
          <p:cNvSpPr txBox="1"/>
          <p:nvPr/>
        </p:nvSpPr>
        <p:spPr>
          <a:xfrm>
            <a:off x="2682000" y="1913999"/>
            <a:ext cx="864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p. 04</a:t>
            </a:r>
          </a:p>
        </p:txBody>
      </p:sp>
      <p:sp>
        <p:nvSpPr>
          <p:cNvPr id="28" name="TextBox 27"/>
          <p:cNvSpPr txBox="1"/>
          <p:nvPr/>
        </p:nvSpPr>
        <p:spPr>
          <a:xfrm>
            <a:off x="3708000" y="1913999"/>
            <a:ext cx="2304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27 IfcLightFixture</a:t>
            </a:r>
          </a:p>
        </p:txBody>
      </p:sp>
      <p:sp>
        <p:nvSpPr>
          <p:cNvPr id="29" name="TextBox 28"/>
          <p:cNvSpPr txBox="1"/>
          <p:nvPr/>
        </p:nvSpPr>
        <p:spPr>
          <a:xfrm>
            <a:off x="6174000" y="1913999"/>
            <a:ext cx="1512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A02</a:t>
            </a:r>
          </a:p>
        </p:txBody>
      </p:sp>
      <p:sp>
        <p:nvSpPr>
          <p:cNvPr id="30" name="TextBox 29"/>
          <p:cNvSpPr txBox="1"/>
          <p:nvPr/>
        </p:nvSpPr>
        <p:spPr>
          <a:xfrm>
            <a:off x="7848000" y="1913999"/>
            <a:ext cx="756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R2, R3</a:t>
            </a:r>
          </a:p>
        </p:txBody>
      </p:sp>
      <p:cxnSp>
        <p:nvCxnSpPr>
          <p:cNvPr id="31" name="Connector 30"/>
          <p:cNvCxnSpPr/>
          <p:nvPr/>
        </p:nvCxnSpPr>
        <p:spPr>
          <a:xfrm>
            <a:off x="504000" y="2123999"/>
            <a:ext cx="8172000" cy="0"/>
          </a:xfrm>
          <a:prstGeom prst="line">
            <a:avLst/>
          </a:prstGeom>
          <a:ln w="3175">
            <a:solidFill>
              <a:srgbClr val="C8C8C8"/>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504000" y="2195999"/>
            <a:ext cx="2016000" cy="3587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Programme du 14/10 : un seul WC, salle de réunion</a:t>
            </a:r>
          </a:p>
        </p:txBody>
      </p:sp>
      <p:sp>
        <p:nvSpPr>
          <p:cNvPr id="33" name="TextBox 32"/>
          <p:cNvSpPr txBox="1"/>
          <p:nvPr/>
        </p:nvSpPr>
        <p:spPr>
          <a:xfrm>
            <a:off x="2682000" y="2195999"/>
            <a:ext cx="864000" cy="206399"/>
          </a:xfrm>
          <a:prstGeom prst="rect">
            <a:avLst/>
          </a:prstGeom>
          <a:noFill/>
        </p:spPr>
        <p:txBody>
          <a:bodyPr wrap="square" lIns="0" rIns="0" tIns="0" bIns="0" anchor="t">
            <a:spAutoFit/>
          </a:bodyPr>
          <a:lstStyle/>
          <a:p>
            <a:pPr algn="l">
              <a:lnSpc>
                <a:spcPts val="1200"/>
              </a:lnSpc>
            </a:pPr>
            <a:r>
              <a:rPr sz="840">
                <a:solidFill>
                  <a:srgbClr val="8C8C8C"/>
                </a:solidFill>
                <a:latin typeface="Archivo"/>
              </a:rPr>
              <a:t>·</a:t>
            </a:r>
          </a:p>
        </p:txBody>
      </p:sp>
      <p:sp>
        <p:nvSpPr>
          <p:cNvPr id="34" name="TextBox 33"/>
          <p:cNvSpPr txBox="1"/>
          <p:nvPr/>
        </p:nvSpPr>
        <p:spPr>
          <a:xfrm>
            <a:off x="3708000" y="2195999"/>
            <a:ext cx="2304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IfcSpace 03 et 07</a:t>
            </a:r>
          </a:p>
        </p:txBody>
      </p:sp>
      <p:sp>
        <p:nvSpPr>
          <p:cNvPr id="35" name="TextBox 34"/>
          <p:cNvSpPr txBox="1"/>
          <p:nvPr/>
        </p:nvSpPr>
        <p:spPr>
          <a:xfrm>
            <a:off x="6174000" y="2195999"/>
            <a:ext cx="1512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A01</a:t>
            </a:r>
          </a:p>
        </p:txBody>
      </p:sp>
      <p:sp>
        <p:nvSpPr>
          <p:cNvPr id="36" name="TextBox 35"/>
          <p:cNvSpPr txBox="1"/>
          <p:nvPr/>
        </p:nvSpPr>
        <p:spPr>
          <a:xfrm>
            <a:off x="7848000" y="2195999"/>
            <a:ext cx="756000" cy="206399"/>
          </a:xfrm>
          <a:prstGeom prst="rect">
            <a:avLst/>
          </a:prstGeom>
          <a:noFill/>
        </p:spPr>
        <p:txBody>
          <a:bodyPr wrap="square" lIns="0" rIns="0" tIns="0" bIns="0" anchor="t">
            <a:spAutoFit/>
          </a:bodyPr>
          <a:lstStyle/>
          <a:p>
            <a:pPr algn="l">
              <a:lnSpc>
                <a:spcPts val="1200"/>
              </a:lnSpc>
            </a:pPr>
            <a:r>
              <a:rPr sz="840">
                <a:solidFill>
                  <a:srgbClr val="8C8C8C"/>
                </a:solidFill>
                <a:latin typeface="Archivo"/>
              </a:rPr>
              <a:t>·</a:t>
            </a:r>
          </a:p>
        </p:txBody>
      </p:sp>
      <p:cxnSp>
        <p:nvCxnSpPr>
          <p:cNvPr id="37" name="Connector 36"/>
          <p:cNvCxnSpPr/>
          <p:nvPr/>
        </p:nvCxnSpPr>
        <p:spPr>
          <a:xfrm>
            <a:off x="504000" y="2558399"/>
            <a:ext cx="8172000" cy="0"/>
          </a:xfrm>
          <a:prstGeom prst="line">
            <a:avLst/>
          </a:prstGeom>
          <a:ln w="3175">
            <a:solidFill>
              <a:srgbClr val="C8C8C8"/>
            </a:solidFill>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504000" y="2630399"/>
            <a:ext cx="2016000" cy="3587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Climatisation : 2 splits 9 000 BTU/h sur murs pleins, hors tables</a:t>
            </a:r>
          </a:p>
        </p:txBody>
      </p:sp>
      <p:sp>
        <p:nvSpPr>
          <p:cNvPr id="39" name="TextBox 38"/>
          <p:cNvSpPr txBox="1"/>
          <p:nvPr/>
        </p:nvSpPr>
        <p:spPr>
          <a:xfrm>
            <a:off x="2682000" y="2630399"/>
            <a:ext cx="864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p. 04</a:t>
            </a:r>
          </a:p>
        </p:txBody>
      </p:sp>
      <p:sp>
        <p:nvSpPr>
          <p:cNvPr id="40" name="TextBox 39"/>
          <p:cNvSpPr txBox="1"/>
          <p:nvPr/>
        </p:nvSpPr>
        <p:spPr>
          <a:xfrm>
            <a:off x="3708000" y="2630399"/>
            <a:ext cx="2304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2 IfcUnitaryEquipment, 2 mini-pompes</a:t>
            </a:r>
          </a:p>
        </p:txBody>
      </p:sp>
      <p:sp>
        <p:nvSpPr>
          <p:cNvPr id="41" name="TextBox 40"/>
          <p:cNvSpPr txBox="1"/>
          <p:nvPr/>
        </p:nvSpPr>
        <p:spPr>
          <a:xfrm>
            <a:off x="6174000" y="2630399"/>
            <a:ext cx="1512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A02</a:t>
            </a:r>
          </a:p>
        </p:txBody>
      </p:sp>
      <p:sp>
        <p:nvSpPr>
          <p:cNvPr id="42" name="TextBox 41"/>
          <p:cNvSpPr txBox="1"/>
          <p:nvPr/>
        </p:nvSpPr>
        <p:spPr>
          <a:xfrm>
            <a:off x="7848000" y="2630399"/>
            <a:ext cx="756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R2</a:t>
            </a:r>
          </a:p>
        </p:txBody>
      </p:sp>
      <p:cxnSp>
        <p:nvCxnSpPr>
          <p:cNvPr id="43" name="Connector 42"/>
          <p:cNvCxnSpPr/>
          <p:nvPr/>
        </p:nvCxnSpPr>
        <p:spPr>
          <a:xfrm>
            <a:off x="504000" y="2992799"/>
            <a:ext cx="8172000" cy="0"/>
          </a:xfrm>
          <a:prstGeom prst="line">
            <a:avLst/>
          </a:prstGeom>
          <a:ln w="3175">
            <a:solidFill>
              <a:srgbClr val="C8C8C8"/>
            </a:solidFill>
          </a:ln>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504000" y="3064799"/>
            <a:ext cx="2016000" cy="3587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Tableau divisionnaire, 1,00 m dégagé, loin de l'eau</a:t>
            </a:r>
          </a:p>
        </p:txBody>
      </p:sp>
      <p:sp>
        <p:nvSpPr>
          <p:cNvPr id="45" name="TextBox 44"/>
          <p:cNvSpPr txBox="1"/>
          <p:nvPr/>
        </p:nvSpPr>
        <p:spPr>
          <a:xfrm>
            <a:off x="2682000" y="3064799"/>
            <a:ext cx="864000" cy="206399"/>
          </a:xfrm>
          <a:prstGeom prst="rect">
            <a:avLst/>
          </a:prstGeom>
          <a:noFill/>
        </p:spPr>
        <p:txBody>
          <a:bodyPr wrap="square" lIns="0" rIns="0" tIns="0" bIns="0" anchor="t">
            <a:spAutoFit/>
          </a:bodyPr>
          <a:lstStyle/>
          <a:p>
            <a:pPr algn="l">
              <a:lnSpc>
                <a:spcPts val="1200"/>
              </a:lnSpc>
            </a:pPr>
            <a:r>
              <a:rPr sz="840">
                <a:solidFill>
                  <a:srgbClr val="8C8C8C"/>
                </a:solidFill>
                <a:latin typeface="Archivo"/>
              </a:rPr>
              <a:t>·</a:t>
            </a:r>
          </a:p>
        </p:txBody>
      </p:sp>
      <p:sp>
        <p:nvSpPr>
          <p:cNvPr id="46" name="TextBox 45"/>
          <p:cNvSpPr txBox="1"/>
          <p:nvPr/>
        </p:nvSpPr>
        <p:spPr>
          <a:xfrm>
            <a:off x="3708000" y="3064799"/>
            <a:ext cx="2304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IfcElectricDistributionBoard</a:t>
            </a:r>
          </a:p>
        </p:txBody>
      </p:sp>
      <p:sp>
        <p:nvSpPr>
          <p:cNvPr id="47" name="TextBox 46"/>
          <p:cNvSpPr txBox="1"/>
          <p:nvPr/>
        </p:nvSpPr>
        <p:spPr>
          <a:xfrm>
            <a:off x="6174000" y="3064799"/>
            <a:ext cx="1512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A01, A02</a:t>
            </a:r>
          </a:p>
        </p:txBody>
      </p:sp>
      <p:sp>
        <p:nvSpPr>
          <p:cNvPr id="48" name="TextBox 47"/>
          <p:cNvSpPr txBox="1"/>
          <p:nvPr/>
        </p:nvSpPr>
        <p:spPr>
          <a:xfrm>
            <a:off x="7848000" y="3064799"/>
            <a:ext cx="756000" cy="206399"/>
          </a:xfrm>
          <a:prstGeom prst="rect">
            <a:avLst/>
          </a:prstGeom>
          <a:noFill/>
        </p:spPr>
        <p:txBody>
          <a:bodyPr wrap="square" lIns="0" rIns="0" tIns="0" bIns="0" anchor="t">
            <a:spAutoFit/>
          </a:bodyPr>
          <a:lstStyle/>
          <a:p>
            <a:pPr algn="l">
              <a:lnSpc>
                <a:spcPts val="1200"/>
              </a:lnSpc>
            </a:pPr>
            <a:r>
              <a:rPr sz="840">
                <a:solidFill>
                  <a:srgbClr val="8C8C8C"/>
                </a:solidFill>
                <a:latin typeface="Archivo"/>
              </a:rPr>
              <a:t>·</a:t>
            </a:r>
          </a:p>
        </p:txBody>
      </p:sp>
      <p:cxnSp>
        <p:nvCxnSpPr>
          <p:cNvPr id="49" name="Connector 48"/>
          <p:cNvCxnSpPr/>
          <p:nvPr/>
        </p:nvCxnSpPr>
        <p:spPr>
          <a:xfrm>
            <a:off x="504000" y="3427199"/>
            <a:ext cx="8172000" cy="0"/>
          </a:xfrm>
          <a:prstGeom prst="line">
            <a:avLst/>
          </a:prstGeom>
          <a:ln w="3175">
            <a:solidFill>
              <a:srgbClr val="C8C8C8"/>
            </a:solidFill>
          </a:ln>
        </p:spPr>
        <p:style>
          <a:lnRef idx="2">
            <a:schemeClr val="accent1"/>
          </a:lnRef>
          <a:fillRef idx="0">
            <a:schemeClr val="accent1"/>
          </a:fillRef>
          <a:effectRef idx="1">
            <a:schemeClr val="accent1"/>
          </a:effectRef>
          <a:fontRef idx="minor">
            <a:schemeClr val="tx1"/>
          </a:fontRef>
        </p:style>
      </p:cxnSp>
      <p:sp>
        <p:nvSpPr>
          <p:cNvPr id="50" name="TextBox 49"/>
          <p:cNvSpPr txBox="1"/>
          <p:nvPr/>
        </p:nvSpPr>
        <p:spPr>
          <a:xfrm>
            <a:off x="504000" y="3499199"/>
            <a:ext cx="2016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Placard technique 0,60 × 0,40, porte pleine</a:t>
            </a:r>
          </a:p>
        </p:txBody>
      </p:sp>
      <p:sp>
        <p:nvSpPr>
          <p:cNvPr id="51" name="TextBox 50"/>
          <p:cNvSpPr txBox="1"/>
          <p:nvPr/>
        </p:nvSpPr>
        <p:spPr>
          <a:xfrm>
            <a:off x="2682000" y="3499199"/>
            <a:ext cx="864000" cy="206399"/>
          </a:xfrm>
          <a:prstGeom prst="rect">
            <a:avLst/>
          </a:prstGeom>
          <a:noFill/>
        </p:spPr>
        <p:txBody>
          <a:bodyPr wrap="square" lIns="0" rIns="0" tIns="0" bIns="0" anchor="t">
            <a:spAutoFit/>
          </a:bodyPr>
          <a:lstStyle/>
          <a:p>
            <a:pPr algn="l">
              <a:lnSpc>
                <a:spcPts val="1200"/>
              </a:lnSpc>
            </a:pPr>
            <a:r>
              <a:rPr sz="840">
                <a:solidFill>
                  <a:srgbClr val="8C8C8C"/>
                </a:solidFill>
                <a:latin typeface="Archivo"/>
              </a:rPr>
              <a:t>·</a:t>
            </a:r>
          </a:p>
        </p:txBody>
      </p:sp>
      <p:sp>
        <p:nvSpPr>
          <p:cNvPr id="52" name="TextBox 51"/>
          <p:cNvSpPr txBox="1"/>
          <p:nvPr/>
        </p:nvSpPr>
        <p:spPr>
          <a:xfrm>
            <a:off x="3708000" y="3499199"/>
            <a:ext cx="2304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IfcSpace 05 et IfcDoor</a:t>
            </a:r>
          </a:p>
        </p:txBody>
      </p:sp>
      <p:sp>
        <p:nvSpPr>
          <p:cNvPr id="53" name="TextBox 52"/>
          <p:cNvSpPr txBox="1"/>
          <p:nvPr/>
        </p:nvSpPr>
        <p:spPr>
          <a:xfrm>
            <a:off x="6174000" y="3499199"/>
            <a:ext cx="1512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A01, A02</a:t>
            </a:r>
          </a:p>
        </p:txBody>
      </p:sp>
      <p:sp>
        <p:nvSpPr>
          <p:cNvPr id="54" name="TextBox 53"/>
          <p:cNvSpPr txBox="1"/>
          <p:nvPr/>
        </p:nvSpPr>
        <p:spPr>
          <a:xfrm>
            <a:off x="7848000" y="3499199"/>
            <a:ext cx="756000" cy="206399"/>
          </a:xfrm>
          <a:prstGeom prst="rect">
            <a:avLst/>
          </a:prstGeom>
          <a:noFill/>
        </p:spPr>
        <p:txBody>
          <a:bodyPr wrap="square" lIns="0" rIns="0" tIns="0" bIns="0" anchor="t">
            <a:spAutoFit/>
          </a:bodyPr>
          <a:lstStyle/>
          <a:p>
            <a:pPr algn="l">
              <a:lnSpc>
                <a:spcPts val="1200"/>
              </a:lnSpc>
            </a:pPr>
            <a:r>
              <a:rPr sz="840">
                <a:solidFill>
                  <a:srgbClr val="8C8C8C"/>
                </a:solidFill>
                <a:latin typeface="Archivo"/>
              </a:rPr>
              <a:t>·</a:t>
            </a:r>
          </a:p>
        </p:txBody>
      </p:sp>
      <p:cxnSp>
        <p:nvCxnSpPr>
          <p:cNvPr id="55" name="Connector 54"/>
          <p:cNvCxnSpPr/>
          <p:nvPr/>
        </p:nvCxnSpPr>
        <p:spPr>
          <a:xfrm>
            <a:off x="504000" y="3709199"/>
            <a:ext cx="8172000" cy="0"/>
          </a:xfrm>
          <a:prstGeom prst="line">
            <a:avLst/>
          </a:prstGeom>
          <a:ln w="3175">
            <a:solidFill>
              <a:srgbClr val="C8C8C8"/>
            </a:solidFill>
          </a:ln>
        </p:spPr>
        <p:style>
          <a:lnRef idx="2">
            <a:schemeClr val="accent1"/>
          </a:lnRef>
          <a:fillRef idx="0">
            <a:schemeClr val="accent1"/>
          </a:fillRef>
          <a:effectRef idx="1">
            <a:schemeClr val="accent1"/>
          </a:effectRef>
          <a:fontRef idx="minor">
            <a:schemeClr val="tx1"/>
          </a:fontRef>
        </p:style>
      </p:cxnSp>
      <p:sp>
        <p:nvSpPr>
          <p:cNvPr id="56" name="TextBox 55"/>
          <p:cNvSpPr txBox="1"/>
          <p:nvPr/>
        </p:nvSpPr>
        <p:spPr>
          <a:xfrm>
            <a:off x="504000" y="3781199"/>
            <a:ext cx="2016000" cy="3587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Descentes EU/EV de l'immeuble en coffrage 0,30 × 0,30</a:t>
            </a:r>
          </a:p>
        </p:txBody>
      </p:sp>
      <p:sp>
        <p:nvSpPr>
          <p:cNvPr id="57" name="TextBox 56"/>
          <p:cNvSpPr txBox="1"/>
          <p:nvPr/>
        </p:nvSpPr>
        <p:spPr>
          <a:xfrm>
            <a:off x="2682000" y="3781199"/>
            <a:ext cx="864000" cy="206399"/>
          </a:xfrm>
          <a:prstGeom prst="rect">
            <a:avLst/>
          </a:prstGeom>
          <a:noFill/>
        </p:spPr>
        <p:txBody>
          <a:bodyPr wrap="square" lIns="0" rIns="0" tIns="0" bIns="0" anchor="t">
            <a:spAutoFit/>
          </a:bodyPr>
          <a:lstStyle/>
          <a:p>
            <a:pPr algn="l">
              <a:lnSpc>
                <a:spcPts val="1200"/>
              </a:lnSpc>
            </a:pPr>
            <a:r>
              <a:rPr sz="840">
                <a:solidFill>
                  <a:srgbClr val="8C8C8C"/>
                </a:solidFill>
                <a:latin typeface="Archivo"/>
              </a:rPr>
              <a:t>·</a:t>
            </a:r>
          </a:p>
        </p:txBody>
      </p:sp>
      <p:sp>
        <p:nvSpPr>
          <p:cNvPr id="58" name="TextBox 57"/>
          <p:cNvSpPr txBox="1"/>
          <p:nvPr/>
        </p:nvSpPr>
        <p:spPr>
          <a:xfrm>
            <a:off x="3708000" y="3781199"/>
            <a:ext cx="2304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Coffrages « à relever sur site »</a:t>
            </a:r>
          </a:p>
        </p:txBody>
      </p:sp>
      <p:sp>
        <p:nvSpPr>
          <p:cNvPr id="59" name="TextBox 58"/>
          <p:cNvSpPr txBox="1"/>
          <p:nvPr/>
        </p:nvSpPr>
        <p:spPr>
          <a:xfrm>
            <a:off x="6174000" y="3781199"/>
            <a:ext cx="1512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A02</a:t>
            </a:r>
          </a:p>
        </p:txBody>
      </p:sp>
      <p:sp>
        <p:nvSpPr>
          <p:cNvPr id="60" name="TextBox 59"/>
          <p:cNvSpPr txBox="1"/>
          <p:nvPr/>
        </p:nvSpPr>
        <p:spPr>
          <a:xfrm>
            <a:off x="7848000" y="3781199"/>
            <a:ext cx="756000" cy="206399"/>
          </a:xfrm>
          <a:prstGeom prst="rect">
            <a:avLst/>
          </a:prstGeom>
          <a:noFill/>
        </p:spPr>
        <p:txBody>
          <a:bodyPr wrap="square" lIns="0" rIns="0" tIns="0" bIns="0" anchor="t">
            <a:spAutoFit/>
          </a:bodyPr>
          <a:lstStyle/>
          <a:p>
            <a:pPr algn="l">
              <a:lnSpc>
                <a:spcPts val="1200"/>
              </a:lnSpc>
            </a:pPr>
            <a:r>
              <a:rPr sz="840">
                <a:solidFill>
                  <a:srgbClr val="8C8C8C"/>
                </a:solidFill>
                <a:latin typeface="Archivo"/>
              </a:rPr>
              <a:t>·</a:t>
            </a:r>
          </a:p>
        </p:txBody>
      </p:sp>
      <p:cxnSp>
        <p:nvCxnSpPr>
          <p:cNvPr id="61" name="Connector 60"/>
          <p:cNvCxnSpPr/>
          <p:nvPr/>
        </p:nvCxnSpPr>
        <p:spPr>
          <a:xfrm>
            <a:off x="504000" y="4143599"/>
            <a:ext cx="8172000" cy="0"/>
          </a:xfrm>
          <a:prstGeom prst="line">
            <a:avLst/>
          </a:prstGeom>
          <a:ln w="3175">
            <a:solidFill>
              <a:srgbClr val="C8C8C8"/>
            </a:solidFill>
          </a:ln>
        </p:spPr>
        <p:style>
          <a:lnRef idx="2">
            <a:schemeClr val="accent1"/>
          </a:lnRef>
          <a:fillRef idx="0">
            <a:schemeClr val="accent1"/>
          </a:fillRef>
          <a:effectRef idx="1">
            <a:schemeClr val="accent1"/>
          </a:effectRef>
          <a:fontRef idx="minor">
            <a:schemeClr val="tx1"/>
          </a:fontRef>
        </p:style>
      </p:cxnSp>
      <p:sp>
        <p:nvSpPr>
          <p:cNvPr id="62" name="TextBox 61"/>
          <p:cNvSpPr txBox="1"/>
          <p:nvPr/>
        </p:nvSpPr>
        <p:spPr>
          <a:xfrm>
            <a:off x="504000" y="4215599"/>
            <a:ext cx="2016000" cy="3587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Existant V4 : murs, poteau, ouvertures, emprise 6,78 × 7,68</a:t>
            </a:r>
          </a:p>
        </p:txBody>
      </p:sp>
      <p:sp>
        <p:nvSpPr>
          <p:cNvPr id="63" name="TextBox 62"/>
          <p:cNvSpPr txBox="1"/>
          <p:nvPr/>
        </p:nvSpPr>
        <p:spPr>
          <a:xfrm>
            <a:off x="2682000" y="4215599"/>
            <a:ext cx="864000" cy="206399"/>
          </a:xfrm>
          <a:prstGeom prst="rect">
            <a:avLst/>
          </a:prstGeom>
          <a:noFill/>
        </p:spPr>
        <p:txBody>
          <a:bodyPr wrap="square" lIns="0" rIns="0" tIns="0" bIns="0" anchor="t">
            <a:spAutoFit/>
          </a:bodyPr>
          <a:lstStyle/>
          <a:p>
            <a:pPr algn="l">
              <a:lnSpc>
                <a:spcPts val="1200"/>
              </a:lnSpc>
            </a:pPr>
            <a:r>
              <a:rPr sz="840">
                <a:solidFill>
                  <a:srgbClr val="8C8C8C"/>
                </a:solidFill>
                <a:latin typeface="Archivo"/>
              </a:rPr>
              <a:t>·</a:t>
            </a:r>
          </a:p>
        </p:txBody>
      </p:sp>
      <p:sp>
        <p:nvSpPr>
          <p:cNvPr id="64" name="TextBox 63"/>
          <p:cNvSpPr txBox="1"/>
          <p:nvPr/>
        </p:nvSpPr>
        <p:spPr>
          <a:xfrm>
            <a:off x="3708000" y="4215599"/>
            <a:ext cx="2304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141 / 141 identiques, 0 pénétration</a:t>
            </a:r>
          </a:p>
        </p:txBody>
      </p:sp>
      <p:sp>
        <p:nvSpPr>
          <p:cNvPr id="65" name="TextBox 64"/>
          <p:cNvSpPr txBox="1"/>
          <p:nvPr/>
        </p:nvSpPr>
        <p:spPr>
          <a:xfrm>
            <a:off x="6174000" y="4215599"/>
            <a:ext cx="1512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toutes</a:t>
            </a:r>
          </a:p>
        </p:txBody>
      </p:sp>
      <p:sp>
        <p:nvSpPr>
          <p:cNvPr id="66" name="TextBox 65"/>
          <p:cNvSpPr txBox="1"/>
          <p:nvPr/>
        </p:nvSpPr>
        <p:spPr>
          <a:xfrm>
            <a:off x="7848000" y="4215599"/>
            <a:ext cx="756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toutes</a:t>
            </a:r>
          </a:p>
        </p:txBody>
      </p:sp>
      <p:cxnSp>
        <p:nvCxnSpPr>
          <p:cNvPr id="67" name="Connector 66"/>
          <p:cNvCxnSpPr/>
          <p:nvPr/>
        </p:nvCxnSpPr>
        <p:spPr>
          <a:xfrm>
            <a:off x="504000" y="4577999"/>
            <a:ext cx="8172000" cy="0"/>
          </a:xfrm>
          <a:prstGeom prst="line">
            <a:avLst/>
          </a:prstGeom>
          <a:ln w="3175">
            <a:solidFill>
              <a:srgbClr val="C8C8C8"/>
            </a:solidFill>
          </a:ln>
        </p:spPr>
        <p:style>
          <a:lnRef idx="2">
            <a:schemeClr val="accent1"/>
          </a:lnRef>
          <a:fillRef idx="0">
            <a:schemeClr val="accent1"/>
          </a:fillRef>
          <a:effectRef idx="1">
            <a:schemeClr val="accent1"/>
          </a:effectRef>
          <a:fontRef idx="minor">
            <a:schemeClr val="tx1"/>
          </a:fontRef>
        </p:style>
      </p:cxnSp>
      <p:sp>
        <p:nvSpPr>
          <p:cNvPr id="68" name="TextBox 67"/>
          <p:cNvSpPr txBox="1"/>
          <p:nvPr/>
        </p:nvSpPr>
        <p:spPr>
          <a:xfrm>
            <a:off x="504000" y="4649999"/>
            <a:ext cx="2016000" cy="3587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Lots techniques : électricité, CFA, AEP, EU, EV, détails</a:t>
            </a:r>
          </a:p>
        </p:txBody>
      </p:sp>
      <p:sp>
        <p:nvSpPr>
          <p:cNvPr id="69" name="TextBox 68"/>
          <p:cNvSpPr txBox="1"/>
          <p:nvPr/>
        </p:nvSpPr>
        <p:spPr>
          <a:xfrm>
            <a:off x="2682000" y="4649999"/>
            <a:ext cx="864000" cy="206399"/>
          </a:xfrm>
          <a:prstGeom prst="rect">
            <a:avLst/>
          </a:prstGeom>
          <a:noFill/>
        </p:spPr>
        <p:txBody>
          <a:bodyPr wrap="square" lIns="0" rIns="0" tIns="0" bIns="0" anchor="t">
            <a:spAutoFit/>
          </a:bodyPr>
          <a:lstStyle/>
          <a:p>
            <a:pPr algn="l">
              <a:lnSpc>
                <a:spcPts val="1200"/>
              </a:lnSpc>
            </a:pPr>
            <a:r>
              <a:rPr sz="840">
                <a:solidFill>
                  <a:srgbClr val="8C8C8C"/>
                </a:solidFill>
                <a:latin typeface="Archivo"/>
              </a:rPr>
              <a:t>·</a:t>
            </a:r>
          </a:p>
        </p:txBody>
      </p:sp>
      <p:sp>
        <p:nvSpPr>
          <p:cNvPr id="70" name="TextBox 69"/>
          <p:cNvSpPr txBox="1"/>
          <p:nvPr/>
        </p:nvSpPr>
        <p:spPr>
          <a:xfrm>
            <a:off x="3708000" y="4649999"/>
            <a:ext cx="2304000" cy="3587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DECIMO_ESQ_V5_tech.ifc : 141/141 V4, 231/231 V5, 0 pénétration</a:t>
            </a:r>
          </a:p>
        </p:txBody>
      </p:sp>
      <p:sp>
        <p:nvSpPr>
          <p:cNvPr id="71" name="TextBox 70"/>
          <p:cNvSpPr txBox="1"/>
          <p:nvPr/>
        </p:nvSpPr>
        <p:spPr>
          <a:xfrm>
            <a:off x="6174000" y="4649999"/>
            <a:ext cx="1512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T01 à T05</a:t>
            </a:r>
          </a:p>
        </p:txBody>
      </p:sp>
      <p:sp>
        <p:nvSpPr>
          <p:cNvPr id="72" name="TextBox 71"/>
          <p:cNvSpPr txBox="1"/>
          <p:nvPr/>
        </p:nvSpPr>
        <p:spPr>
          <a:xfrm>
            <a:off x="7848000" y="4649999"/>
            <a:ext cx="756000" cy="206399"/>
          </a:xfrm>
          <a:prstGeom prst="rect">
            <a:avLst/>
          </a:prstGeom>
          <a:noFill/>
        </p:spPr>
        <p:txBody>
          <a:bodyPr wrap="square" lIns="0" rIns="0" tIns="0" bIns="0" anchor="t">
            <a:spAutoFit/>
          </a:bodyPr>
          <a:lstStyle/>
          <a:p>
            <a:pPr algn="l">
              <a:lnSpc>
                <a:spcPts val="1200"/>
              </a:lnSpc>
            </a:pPr>
            <a:r>
              <a:rPr sz="840">
                <a:solidFill>
                  <a:srgbClr val="8C8C8C"/>
                </a:solidFill>
                <a:latin typeface="Archivo"/>
              </a:rPr>
              <a:t>·</a:t>
            </a:r>
          </a:p>
        </p:txBody>
      </p:sp>
      <p:cxnSp>
        <p:nvCxnSpPr>
          <p:cNvPr id="73" name="Connector 72"/>
          <p:cNvCxnSpPr/>
          <p:nvPr/>
        </p:nvCxnSpPr>
        <p:spPr>
          <a:xfrm>
            <a:off x="504000" y="5012399"/>
            <a:ext cx="8172000" cy="0"/>
          </a:xfrm>
          <a:prstGeom prst="line">
            <a:avLst/>
          </a:prstGeom>
          <a:ln w="3175">
            <a:solidFill>
              <a:srgbClr val="C8C8C8"/>
            </a:solidFill>
          </a:ln>
        </p:spPr>
        <p:style>
          <a:lnRef idx="2">
            <a:schemeClr val="accent1"/>
          </a:lnRef>
          <a:fillRef idx="0">
            <a:schemeClr val="accent1"/>
          </a:fillRef>
          <a:effectRef idx="1">
            <a:schemeClr val="accent1"/>
          </a:effectRef>
          <a:fontRef idx="minor">
            <a:schemeClr val="tx1"/>
          </a:fontRef>
        </p:style>
      </p:cxnSp>
      <p:sp>
        <p:nvSpPr>
          <p:cNvPr id="74" name="TextBox 73"/>
          <p:cNvSpPr txBox="1"/>
          <p:nvPr/>
        </p:nvSpPr>
        <p:spPr>
          <a:xfrm>
            <a:off x="504000" y="5264399"/>
            <a:ext cx="8172000" cy="257199"/>
          </a:xfrm>
          <a:prstGeom prst="rect">
            <a:avLst/>
          </a:prstGeom>
          <a:noFill/>
        </p:spPr>
        <p:txBody>
          <a:bodyPr wrap="square" lIns="0" rIns="0" tIns="0" bIns="0" anchor="t">
            <a:spAutoFit/>
          </a:bodyPr>
          <a:lstStyle/>
          <a:p>
            <a:pPr algn="l">
              <a:lnSpc>
                <a:spcPts val="1600"/>
              </a:lnSpc>
            </a:pPr>
            <a:r>
              <a:rPr sz="1300" b="1">
                <a:solidFill>
                  <a:srgbClr val="4A4A4A"/>
                </a:solidFill>
                <a:latin typeface="Archivo"/>
              </a:rPr>
              <a:t>Points ouverts, à lever en APS</a:t>
            </a:r>
          </a:p>
        </p:txBody>
      </p:sp>
      <p:sp>
        <p:nvSpPr>
          <p:cNvPr id="75" name="TextBox 74"/>
          <p:cNvSpPr txBox="1"/>
          <p:nvPr/>
        </p:nvSpPr>
        <p:spPr>
          <a:xfrm>
            <a:off x="504000" y="5552399"/>
            <a:ext cx="216000" cy="206399"/>
          </a:xfrm>
          <a:prstGeom prst="rect">
            <a:avLst/>
          </a:prstGeom>
          <a:noFill/>
        </p:spPr>
        <p:txBody>
          <a:bodyPr wrap="square" lIns="0" rIns="0" tIns="0" bIns="0" anchor="t">
            <a:spAutoFit/>
          </a:bodyPr>
          <a:lstStyle/>
          <a:p>
            <a:pPr algn="l">
              <a:lnSpc>
                <a:spcPts val="1200"/>
              </a:lnSpc>
            </a:pPr>
            <a:r>
              <a:rPr sz="840">
                <a:solidFill>
                  <a:srgbClr val="B4583E"/>
                </a:solidFill>
                <a:latin typeface="Archivo"/>
              </a:rPr>
              <a:t>01</a:t>
            </a:r>
          </a:p>
        </p:txBody>
      </p:sp>
      <p:sp>
        <p:nvSpPr>
          <p:cNvPr id="76" name="TextBox 75"/>
          <p:cNvSpPr txBox="1"/>
          <p:nvPr/>
        </p:nvSpPr>
        <p:spPr>
          <a:xfrm>
            <a:off x="756000" y="5552399"/>
            <a:ext cx="3744000" cy="3587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Relevé de l'existant : dalle haute (épaisseur 0,20 et sous-face +3,30 en hypothèse), descentes EU/EV, arrivée électrique de l'immeuble.</a:t>
            </a:r>
          </a:p>
        </p:txBody>
      </p:sp>
      <p:sp>
        <p:nvSpPr>
          <p:cNvPr id="77" name="TextBox 76"/>
          <p:cNvSpPr txBox="1"/>
          <p:nvPr/>
        </p:nvSpPr>
        <p:spPr>
          <a:xfrm>
            <a:off x="504000" y="5929199"/>
            <a:ext cx="216000" cy="206399"/>
          </a:xfrm>
          <a:prstGeom prst="rect">
            <a:avLst/>
          </a:prstGeom>
          <a:noFill/>
        </p:spPr>
        <p:txBody>
          <a:bodyPr wrap="square" lIns="0" rIns="0" tIns="0" bIns="0" anchor="t">
            <a:spAutoFit/>
          </a:bodyPr>
          <a:lstStyle/>
          <a:p>
            <a:pPr algn="l">
              <a:lnSpc>
                <a:spcPts val="1200"/>
              </a:lnSpc>
            </a:pPr>
            <a:r>
              <a:rPr sz="840">
                <a:solidFill>
                  <a:srgbClr val="B4583E"/>
                </a:solidFill>
                <a:latin typeface="Archivo"/>
              </a:rPr>
              <a:t>02</a:t>
            </a:r>
          </a:p>
        </p:txBody>
      </p:sp>
      <p:sp>
        <p:nvSpPr>
          <p:cNvPr id="78" name="TextBox 77"/>
          <p:cNvSpPr txBox="1"/>
          <p:nvPr/>
        </p:nvSpPr>
        <p:spPr>
          <a:xfrm>
            <a:off x="756000" y="5929199"/>
            <a:ext cx="3744000" cy="3587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BET : statut porteur des refends en agglos, fixations non traversantes sous dalle, charge et ancrage de l'arbre à livres et de l'oculus.</a:t>
            </a:r>
          </a:p>
        </p:txBody>
      </p:sp>
      <p:sp>
        <p:nvSpPr>
          <p:cNvPr id="79" name="TextBox 78"/>
          <p:cNvSpPr txBox="1"/>
          <p:nvPr/>
        </p:nvSpPr>
        <p:spPr>
          <a:xfrm>
            <a:off x="504000" y="6305999"/>
            <a:ext cx="216000" cy="206399"/>
          </a:xfrm>
          <a:prstGeom prst="rect">
            <a:avLst/>
          </a:prstGeom>
          <a:noFill/>
        </p:spPr>
        <p:txBody>
          <a:bodyPr wrap="square" lIns="0" rIns="0" tIns="0" bIns="0" anchor="t">
            <a:spAutoFit/>
          </a:bodyPr>
          <a:lstStyle/>
          <a:p>
            <a:pPr algn="l">
              <a:lnSpc>
                <a:spcPts val="1200"/>
              </a:lnSpc>
            </a:pPr>
            <a:r>
              <a:rPr sz="840">
                <a:solidFill>
                  <a:srgbClr val="B4583E"/>
                </a:solidFill>
                <a:latin typeface="Archivo"/>
              </a:rPr>
              <a:t>03</a:t>
            </a:r>
          </a:p>
        </p:txBody>
      </p:sp>
      <p:sp>
        <p:nvSpPr>
          <p:cNvPr id="80" name="TextBox 79"/>
          <p:cNvSpPr txBox="1"/>
          <p:nvPr/>
        </p:nvSpPr>
        <p:spPr>
          <a:xfrm>
            <a:off x="756000" y="6305999"/>
            <a:ext cx="3744000" cy="3587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Copropriété : sortie des liaisons de clim et des unités extérieures en courette, adaptation de l'imposte de la baie arrière.</a:t>
            </a:r>
          </a:p>
        </p:txBody>
      </p:sp>
      <p:sp>
        <p:nvSpPr>
          <p:cNvPr id="81" name="TextBox 80"/>
          <p:cNvSpPr txBox="1"/>
          <p:nvPr/>
        </p:nvSpPr>
        <p:spPr>
          <a:xfrm>
            <a:off x="504000" y="6682799"/>
            <a:ext cx="216000" cy="206399"/>
          </a:xfrm>
          <a:prstGeom prst="rect">
            <a:avLst/>
          </a:prstGeom>
          <a:noFill/>
        </p:spPr>
        <p:txBody>
          <a:bodyPr wrap="square" lIns="0" rIns="0" tIns="0" bIns="0" anchor="t">
            <a:spAutoFit/>
          </a:bodyPr>
          <a:lstStyle/>
          <a:p>
            <a:pPr algn="l">
              <a:lnSpc>
                <a:spcPts val="1200"/>
              </a:lnSpc>
            </a:pPr>
            <a:r>
              <a:rPr sz="840">
                <a:solidFill>
                  <a:srgbClr val="B4583E"/>
                </a:solidFill>
                <a:latin typeface="Archivo"/>
              </a:rPr>
              <a:t>04</a:t>
            </a:r>
          </a:p>
        </p:txBody>
      </p:sp>
      <p:sp>
        <p:nvSpPr>
          <p:cNvPr id="82" name="TextBox 81"/>
          <p:cNvSpPr txBox="1"/>
          <p:nvPr/>
        </p:nvSpPr>
        <p:spPr>
          <a:xfrm>
            <a:off x="756000" y="6682799"/>
            <a:ext cx="3744000" cy="3587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MOA : maintien des claustras V4 devant la vitrine de la baie A, fabrication des inserts Adinkra avec l'artisan.</a:t>
            </a:r>
          </a:p>
        </p:txBody>
      </p:sp>
      <p:sp>
        <p:nvSpPr>
          <p:cNvPr id="83" name="TextBox 82"/>
          <p:cNvSpPr txBox="1"/>
          <p:nvPr/>
        </p:nvSpPr>
        <p:spPr>
          <a:xfrm>
            <a:off x="4680000" y="5552399"/>
            <a:ext cx="216000" cy="206399"/>
          </a:xfrm>
          <a:prstGeom prst="rect">
            <a:avLst/>
          </a:prstGeom>
          <a:noFill/>
        </p:spPr>
        <p:txBody>
          <a:bodyPr wrap="square" lIns="0" rIns="0" tIns="0" bIns="0" anchor="t">
            <a:spAutoFit/>
          </a:bodyPr>
          <a:lstStyle/>
          <a:p>
            <a:pPr algn="l">
              <a:lnSpc>
                <a:spcPts val="1200"/>
              </a:lnSpc>
            </a:pPr>
            <a:r>
              <a:rPr sz="840">
                <a:solidFill>
                  <a:srgbClr val="B4583E"/>
                </a:solidFill>
                <a:latin typeface="Archivo"/>
              </a:rPr>
              <a:t>05</a:t>
            </a:r>
          </a:p>
        </p:txBody>
      </p:sp>
      <p:sp>
        <p:nvSpPr>
          <p:cNvPr id="84" name="TextBox 83"/>
          <p:cNvSpPr txBox="1"/>
          <p:nvPr/>
        </p:nvSpPr>
        <p:spPr>
          <a:xfrm>
            <a:off x="4932000" y="5552399"/>
            <a:ext cx="3744000" cy="3587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APS : reprise des rails et suspensions V4 qui tombent dans le plénum, condensats relevés par mini-pompes faute de pente gravitaire.</a:t>
            </a:r>
          </a:p>
        </p:txBody>
      </p:sp>
      <p:sp>
        <p:nvSpPr>
          <p:cNvPr id="85" name="TextBox 84"/>
          <p:cNvSpPr txBox="1"/>
          <p:nvPr/>
        </p:nvSpPr>
        <p:spPr>
          <a:xfrm>
            <a:off x="4680000" y="5929199"/>
            <a:ext cx="216000" cy="206399"/>
          </a:xfrm>
          <a:prstGeom prst="rect">
            <a:avLst/>
          </a:prstGeom>
          <a:noFill/>
        </p:spPr>
        <p:txBody>
          <a:bodyPr wrap="square" lIns="0" rIns="0" tIns="0" bIns="0" anchor="t">
            <a:spAutoFit/>
          </a:bodyPr>
          <a:lstStyle/>
          <a:p>
            <a:pPr algn="l">
              <a:lnSpc>
                <a:spcPts val="1200"/>
              </a:lnSpc>
            </a:pPr>
            <a:r>
              <a:rPr sz="840">
                <a:solidFill>
                  <a:srgbClr val="B4583E"/>
                </a:solidFill>
                <a:latin typeface="Archivo"/>
              </a:rPr>
              <a:t>06</a:t>
            </a:r>
          </a:p>
        </p:txBody>
      </p:sp>
      <p:sp>
        <p:nvSpPr>
          <p:cNvPr id="86" name="TextBox 85"/>
          <p:cNvSpPr txBox="1"/>
          <p:nvPr/>
        </p:nvSpPr>
        <p:spPr>
          <a:xfrm>
            <a:off x="4932000" y="5929199"/>
            <a:ext cx="3744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Accessibilité PMR du WC et réaction au feu des éléments en bois à vérifier.</a:t>
            </a:r>
          </a:p>
        </p:txBody>
      </p:sp>
      <p:sp>
        <p:nvSpPr>
          <p:cNvPr id="87" name="TextBox 86"/>
          <p:cNvSpPr txBox="1"/>
          <p:nvPr/>
        </p:nvSpPr>
        <p:spPr>
          <a:xfrm>
            <a:off x="4680000" y="6153599"/>
            <a:ext cx="216000" cy="206399"/>
          </a:xfrm>
          <a:prstGeom prst="rect">
            <a:avLst/>
          </a:prstGeom>
          <a:noFill/>
        </p:spPr>
        <p:txBody>
          <a:bodyPr wrap="square" lIns="0" rIns="0" tIns="0" bIns="0" anchor="t">
            <a:spAutoFit/>
          </a:bodyPr>
          <a:lstStyle/>
          <a:p>
            <a:pPr algn="l">
              <a:lnSpc>
                <a:spcPts val="1200"/>
              </a:lnSpc>
            </a:pPr>
            <a:r>
              <a:rPr sz="840">
                <a:solidFill>
                  <a:srgbClr val="B4583E"/>
                </a:solidFill>
                <a:latin typeface="Archivo"/>
              </a:rPr>
              <a:t>07</a:t>
            </a:r>
          </a:p>
        </p:txBody>
      </p:sp>
      <p:sp>
        <p:nvSpPr>
          <p:cNvPr id="88" name="TextBox 87"/>
          <p:cNvSpPr txBox="1"/>
          <p:nvPr/>
        </p:nvSpPr>
        <p:spPr>
          <a:xfrm>
            <a:off x="4932000" y="6153599"/>
            <a:ext cx="3744000" cy="6635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Lots techniques (note d'Ahoua) : arrivée électrique de l'immeuble, position réelle des descentes EU/EV et de la colonne AEP, ventilation du WC aveugle, fourreau R6 dans la cloison placo V4 à valider ou remplacer par une goulotte, abonnement 6 kVA à confirmer.</a:t>
            </a:r>
          </a:p>
        </p:txBody>
      </p:sp>
      <p:sp>
        <p:nvSpPr>
          <p:cNvPr id="89" name="TextBox 88"/>
          <p:cNvSpPr txBox="1"/>
          <p:nvPr/>
        </p:nvSpPr>
        <p:spPr>
          <a:xfrm>
            <a:off x="4680000" y="6835199"/>
            <a:ext cx="216000" cy="206399"/>
          </a:xfrm>
          <a:prstGeom prst="rect">
            <a:avLst/>
          </a:prstGeom>
          <a:noFill/>
        </p:spPr>
        <p:txBody>
          <a:bodyPr wrap="square" lIns="0" rIns="0" tIns="0" bIns="0" anchor="t">
            <a:spAutoFit/>
          </a:bodyPr>
          <a:lstStyle/>
          <a:p>
            <a:pPr algn="l">
              <a:lnSpc>
                <a:spcPts val="1200"/>
              </a:lnSpc>
            </a:pPr>
            <a:r>
              <a:rPr sz="840">
                <a:solidFill>
                  <a:srgbClr val="B4583E"/>
                </a:solidFill>
                <a:latin typeface="Archivo"/>
              </a:rPr>
              <a:t>08</a:t>
            </a:r>
          </a:p>
        </p:txBody>
      </p:sp>
      <p:sp>
        <p:nvSpPr>
          <p:cNvPr id="90" name="TextBox 89"/>
          <p:cNvSpPr txBox="1"/>
          <p:nvPr/>
        </p:nvSpPr>
        <p:spPr>
          <a:xfrm>
            <a:off x="4932000" y="6835199"/>
            <a:ext cx="3744000" cy="3587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Rendu R1 : jardinières de la terrasse rendues en banquettes, à reprendre pour coller à la maquette.</a:t>
            </a:r>
          </a:p>
        </p:txBody>
      </p:sp>
      <p:cxnSp>
        <p:nvCxnSpPr>
          <p:cNvPr id="91" name="Connector 90"/>
          <p:cNvCxnSpPr/>
          <p:nvPr/>
        </p:nvCxnSpPr>
        <p:spPr>
          <a:xfrm>
            <a:off x="504000" y="9000000"/>
            <a:ext cx="1908000" cy="0"/>
          </a:xfrm>
          <a:prstGeom prst="line">
            <a:avLst/>
          </a:prstGeom>
          <a:ln w="3810">
            <a:solidFill>
              <a:srgbClr val="C8C8C8"/>
            </a:solidFill>
          </a:ln>
        </p:spPr>
        <p:style>
          <a:lnRef idx="2">
            <a:schemeClr val="accent1"/>
          </a:lnRef>
          <a:fillRef idx="0">
            <a:schemeClr val="accent1"/>
          </a:fillRef>
          <a:effectRef idx="1">
            <a:schemeClr val="accent1"/>
          </a:effectRef>
          <a:fontRef idx="minor">
            <a:schemeClr val="tx1"/>
          </a:fontRef>
        </p:style>
      </p:cxnSp>
      <p:sp>
        <p:nvSpPr>
          <p:cNvPr id="92" name="TextBox 91"/>
          <p:cNvSpPr txBox="1"/>
          <p:nvPr/>
        </p:nvSpPr>
        <p:spPr>
          <a:xfrm>
            <a:off x="504000" y="9144000"/>
            <a:ext cx="1908000" cy="396899"/>
          </a:xfrm>
          <a:prstGeom prst="rect">
            <a:avLst/>
          </a:prstGeom>
          <a:noFill/>
        </p:spPr>
        <p:txBody>
          <a:bodyPr wrap="square" lIns="0" rIns="0" tIns="0" bIns="0" anchor="t">
            <a:spAutoFit/>
          </a:bodyPr>
          <a:lstStyle/>
          <a:p>
            <a:pPr algn="l">
              <a:lnSpc>
                <a:spcPts val="2700"/>
              </a:lnSpc>
            </a:pPr>
            <a:r>
              <a:rPr sz="2400" b="1">
                <a:solidFill>
                  <a:srgbClr val="4A4A4A"/>
                </a:solidFill>
                <a:latin typeface="Archivo"/>
              </a:rPr>
              <a:t>0 erreur</a:t>
            </a:r>
          </a:p>
        </p:txBody>
      </p:sp>
      <p:sp>
        <p:nvSpPr>
          <p:cNvPr id="93" name="TextBox 92"/>
          <p:cNvSpPr txBox="1"/>
          <p:nvPr/>
        </p:nvSpPr>
        <p:spPr>
          <a:xfrm>
            <a:off x="504000" y="9576000"/>
            <a:ext cx="1908000" cy="173380"/>
          </a:xfrm>
          <a:prstGeom prst="rect">
            <a:avLst/>
          </a:prstGeom>
          <a:noFill/>
        </p:spPr>
        <p:txBody>
          <a:bodyPr wrap="square" lIns="0" rIns="0" tIns="0" bIns="0" anchor="t">
            <a:spAutoFit/>
          </a:bodyPr>
          <a:lstStyle/>
          <a:p>
            <a:pPr algn="l">
              <a:lnSpc>
                <a:spcPts val="940"/>
              </a:lnSpc>
            </a:pPr>
            <a:r>
              <a:rPr sz="740">
                <a:solidFill>
                  <a:srgbClr val="8C8C8C"/>
                </a:solidFill>
                <a:latin typeface="Archivo"/>
              </a:rPr>
              <a:t>validation IFC4, natif et variante Revit</a:t>
            </a:r>
          </a:p>
        </p:txBody>
      </p:sp>
      <p:cxnSp>
        <p:nvCxnSpPr>
          <p:cNvPr id="94" name="Connector 93"/>
          <p:cNvCxnSpPr/>
          <p:nvPr/>
        </p:nvCxnSpPr>
        <p:spPr>
          <a:xfrm>
            <a:off x="2592000" y="9000000"/>
            <a:ext cx="1908000" cy="0"/>
          </a:xfrm>
          <a:prstGeom prst="line">
            <a:avLst/>
          </a:prstGeom>
          <a:ln w="3810">
            <a:solidFill>
              <a:srgbClr val="C8C8C8"/>
            </a:solidFill>
          </a:ln>
        </p:spPr>
        <p:style>
          <a:lnRef idx="2">
            <a:schemeClr val="accent1"/>
          </a:lnRef>
          <a:fillRef idx="0">
            <a:schemeClr val="accent1"/>
          </a:fillRef>
          <a:effectRef idx="1">
            <a:schemeClr val="accent1"/>
          </a:effectRef>
          <a:fontRef idx="minor">
            <a:schemeClr val="tx1"/>
          </a:fontRef>
        </p:style>
      </p:cxnSp>
      <p:sp>
        <p:nvSpPr>
          <p:cNvPr id="95" name="TextBox 94"/>
          <p:cNvSpPr txBox="1"/>
          <p:nvPr/>
        </p:nvSpPr>
        <p:spPr>
          <a:xfrm>
            <a:off x="2592000" y="9144000"/>
            <a:ext cx="1908000" cy="396899"/>
          </a:xfrm>
          <a:prstGeom prst="rect">
            <a:avLst/>
          </a:prstGeom>
          <a:noFill/>
        </p:spPr>
        <p:txBody>
          <a:bodyPr wrap="square" lIns="0" rIns="0" tIns="0" bIns="0" anchor="t">
            <a:spAutoFit/>
          </a:bodyPr>
          <a:lstStyle/>
          <a:p>
            <a:pPr algn="l">
              <a:lnSpc>
                <a:spcPts val="2700"/>
              </a:lnSpc>
            </a:pPr>
            <a:r>
              <a:rPr sz="2400" b="1">
                <a:solidFill>
                  <a:srgbClr val="4A4A4A"/>
                </a:solidFill>
                <a:latin typeface="Archivo"/>
              </a:rPr>
              <a:t>141 / 141</a:t>
            </a:r>
          </a:p>
        </p:txBody>
      </p:sp>
      <p:sp>
        <p:nvSpPr>
          <p:cNvPr id="96" name="TextBox 95"/>
          <p:cNvSpPr txBox="1"/>
          <p:nvPr/>
        </p:nvSpPr>
        <p:spPr>
          <a:xfrm>
            <a:off x="2592000" y="9576000"/>
            <a:ext cx="1908000" cy="173380"/>
          </a:xfrm>
          <a:prstGeom prst="rect">
            <a:avLst/>
          </a:prstGeom>
          <a:noFill/>
        </p:spPr>
        <p:txBody>
          <a:bodyPr wrap="square" lIns="0" rIns="0" tIns="0" bIns="0" anchor="t">
            <a:spAutoFit/>
          </a:bodyPr>
          <a:lstStyle/>
          <a:p>
            <a:pPr algn="l">
              <a:lnSpc>
                <a:spcPts val="940"/>
              </a:lnSpc>
            </a:pPr>
            <a:r>
              <a:rPr sz="740">
                <a:solidFill>
                  <a:srgbClr val="8C8C8C"/>
                </a:solidFill>
                <a:latin typeface="Archivo"/>
              </a:rPr>
              <a:t>produits V4 identiques en V5</a:t>
            </a:r>
          </a:p>
        </p:txBody>
      </p:sp>
      <p:cxnSp>
        <p:nvCxnSpPr>
          <p:cNvPr id="97" name="Connector 96"/>
          <p:cNvCxnSpPr/>
          <p:nvPr/>
        </p:nvCxnSpPr>
        <p:spPr>
          <a:xfrm>
            <a:off x="4680000" y="9000000"/>
            <a:ext cx="1908000" cy="0"/>
          </a:xfrm>
          <a:prstGeom prst="line">
            <a:avLst/>
          </a:prstGeom>
          <a:ln w="3810">
            <a:solidFill>
              <a:srgbClr val="C8C8C8"/>
            </a:solidFill>
          </a:ln>
        </p:spPr>
        <p:style>
          <a:lnRef idx="2">
            <a:schemeClr val="accent1"/>
          </a:lnRef>
          <a:fillRef idx="0">
            <a:schemeClr val="accent1"/>
          </a:fillRef>
          <a:effectRef idx="1">
            <a:schemeClr val="accent1"/>
          </a:effectRef>
          <a:fontRef idx="minor">
            <a:schemeClr val="tx1"/>
          </a:fontRef>
        </p:style>
      </p:cxnSp>
      <p:sp>
        <p:nvSpPr>
          <p:cNvPr id="98" name="TextBox 97"/>
          <p:cNvSpPr txBox="1"/>
          <p:nvPr/>
        </p:nvSpPr>
        <p:spPr>
          <a:xfrm>
            <a:off x="4680000" y="9144000"/>
            <a:ext cx="1908000" cy="396899"/>
          </a:xfrm>
          <a:prstGeom prst="rect">
            <a:avLst/>
          </a:prstGeom>
          <a:noFill/>
        </p:spPr>
        <p:txBody>
          <a:bodyPr wrap="square" lIns="0" rIns="0" tIns="0" bIns="0" anchor="t">
            <a:spAutoFit/>
          </a:bodyPr>
          <a:lstStyle/>
          <a:p>
            <a:pPr algn="l">
              <a:lnSpc>
                <a:spcPts val="2700"/>
              </a:lnSpc>
            </a:pPr>
            <a:r>
              <a:rPr sz="2400" b="1">
                <a:solidFill>
                  <a:srgbClr val="4A4A4A"/>
                </a:solidFill>
                <a:latin typeface="Archivo"/>
              </a:rPr>
              <a:t>0</a:t>
            </a:r>
          </a:p>
        </p:txBody>
      </p:sp>
      <p:sp>
        <p:nvSpPr>
          <p:cNvPr id="99" name="TextBox 98"/>
          <p:cNvSpPr txBox="1"/>
          <p:nvPr/>
        </p:nvSpPr>
        <p:spPr>
          <a:xfrm>
            <a:off x="4680000" y="9576000"/>
            <a:ext cx="1908000" cy="173380"/>
          </a:xfrm>
          <a:prstGeom prst="rect">
            <a:avLst/>
          </a:prstGeom>
          <a:noFill/>
        </p:spPr>
        <p:txBody>
          <a:bodyPr wrap="square" lIns="0" rIns="0" tIns="0" bIns="0" anchor="t">
            <a:spAutoFit/>
          </a:bodyPr>
          <a:lstStyle/>
          <a:p>
            <a:pPr algn="l">
              <a:lnSpc>
                <a:spcPts val="940"/>
              </a:lnSpc>
            </a:pPr>
            <a:r>
              <a:rPr sz="740">
                <a:solidFill>
                  <a:srgbClr val="8C8C8C"/>
                </a:solidFill>
                <a:latin typeface="Archivo"/>
              </a:rPr>
              <a:t>pénétration d'un ajout dans la structure</a:t>
            </a:r>
          </a:p>
        </p:txBody>
      </p:sp>
      <p:cxnSp>
        <p:nvCxnSpPr>
          <p:cNvPr id="100" name="Connector 99"/>
          <p:cNvCxnSpPr/>
          <p:nvPr/>
        </p:nvCxnSpPr>
        <p:spPr>
          <a:xfrm>
            <a:off x="6768000" y="9000000"/>
            <a:ext cx="1908000" cy="0"/>
          </a:xfrm>
          <a:prstGeom prst="line">
            <a:avLst/>
          </a:prstGeom>
          <a:ln w="3810">
            <a:solidFill>
              <a:srgbClr val="C8C8C8"/>
            </a:solidFill>
          </a:ln>
        </p:spPr>
        <p:style>
          <a:lnRef idx="2">
            <a:schemeClr val="accent1"/>
          </a:lnRef>
          <a:fillRef idx="0">
            <a:schemeClr val="accent1"/>
          </a:fillRef>
          <a:effectRef idx="1">
            <a:schemeClr val="accent1"/>
          </a:effectRef>
          <a:fontRef idx="minor">
            <a:schemeClr val="tx1"/>
          </a:fontRef>
        </p:style>
      </p:cxnSp>
      <p:sp>
        <p:nvSpPr>
          <p:cNvPr id="101" name="TextBox 100"/>
          <p:cNvSpPr txBox="1"/>
          <p:nvPr/>
        </p:nvSpPr>
        <p:spPr>
          <a:xfrm>
            <a:off x="6768000" y="9144000"/>
            <a:ext cx="1908000" cy="396899"/>
          </a:xfrm>
          <a:prstGeom prst="rect">
            <a:avLst/>
          </a:prstGeom>
          <a:noFill/>
        </p:spPr>
        <p:txBody>
          <a:bodyPr wrap="square" lIns="0" rIns="0" tIns="0" bIns="0" anchor="t">
            <a:spAutoFit/>
          </a:bodyPr>
          <a:lstStyle/>
          <a:p>
            <a:pPr algn="l">
              <a:lnSpc>
                <a:spcPts val="2700"/>
              </a:lnSpc>
            </a:pPr>
            <a:r>
              <a:rPr sz="2400" b="1">
                <a:solidFill>
                  <a:srgbClr val="4A4A4A"/>
                </a:solidFill>
                <a:latin typeface="Archivo"/>
              </a:rPr>
              <a:t>8</a:t>
            </a:r>
          </a:p>
        </p:txBody>
      </p:sp>
      <p:sp>
        <p:nvSpPr>
          <p:cNvPr id="102" name="TextBox 101"/>
          <p:cNvSpPr txBox="1"/>
          <p:nvPr/>
        </p:nvSpPr>
        <p:spPr>
          <a:xfrm>
            <a:off x="6768000" y="9576000"/>
            <a:ext cx="1908000" cy="173380"/>
          </a:xfrm>
          <a:prstGeom prst="rect">
            <a:avLst/>
          </a:prstGeom>
          <a:noFill/>
        </p:spPr>
        <p:txBody>
          <a:bodyPr wrap="square" lIns="0" rIns="0" tIns="0" bIns="0" anchor="t">
            <a:spAutoFit/>
          </a:bodyPr>
          <a:lstStyle/>
          <a:p>
            <a:pPr algn="l">
              <a:lnSpc>
                <a:spcPts val="940"/>
              </a:lnSpc>
            </a:pPr>
            <a:r>
              <a:rPr sz="740">
                <a:solidFill>
                  <a:srgbClr val="8C8C8C"/>
                </a:solidFill>
                <a:latin typeface="Archivo"/>
              </a:rPr>
              <a:t>espaces IfcSpace nommés et métrés</a:t>
            </a:r>
          </a:p>
        </p:txBody>
      </p:sp>
      <p:cxnSp>
        <p:nvCxnSpPr>
          <p:cNvPr id="103" name="Connector 102"/>
          <p:cNvCxnSpPr/>
          <p:nvPr/>
        </p:nvCxnSpPr>
        <p:spPr>
          <a:xfrm>
            <a:off x="9180000" y="288000"/>
            <a:ext cx="0" cy="10116000"/>
          </a:xfrm>
          <a:prstGeom prst="line">
            <a:avLst/>
          </a:prstGeom>
          <a:ln w="5080">
            <a:solidFill>
              <a:srgbClr val="C8C8C8"/>
            </a:solidFill>
          </a:ln>
        </p:spPr>
        <p:style>
          <a:lnRef idx="2">
            <a:schemeClr val="accent1"/>
          </a:lnRef>
          <a:fillRef idx="0">
            <a:schemeClr val="accent1"/>
          </a:fillRef>
          <a:effectRef idx="1">
            <a:schemeClr val="accent1"/>
          </a:effectRef>
          <a:fontRef idx="minor">
            <a:schemeClr val="tx1"/>
          </a:fontRef>
        </p:style>
      </p:cxnSp>
      <p:pic>
        <p:nvPicPr>
          <p:cNvPr id="104" name="Picture 103" descr="KDemi_v3_A_arche_lockup_mono.png"/>
          <p:cNvPicPr>
            <a:picLocks noChangeAspect="1"/>
          </p:cNvPicPr>
          <p:nvPr/>
        </p:nvPicPr>
        <p:blipFill>
          <a:blip r:embed="rId2"/>
          <a:stretch>
            <a:fillRect/>
          </a:stretch>
        </p:blipFill>
        <p:spPr>
          <a:xfrm>
            <a:off x="9468000" y="432000"/>
            <a:ext cx="1656000" cy="561660"/>
          </a:xfrm>
          <a:prstGeom prst="rect">
            <a:avLst/>
          </a:prstGeom>
        </p:spPr>
      </p:pic>
      <p:sp>
        <p:nvSpPr>
          <p:cNvPr id="105" name="TextBox 104"/>
          <p:cNvSpPr txBox="1"/>
          <p:nvPr/>
        </p:nvSpPr>
        <p:spPr>
          <a:xfrm>
            <a:off x="9468000" y="1440000"/>
            <a:ext cx="5292000" cy="384199"/>
          </a:xfrm>
          <a:prstGeom prst="rect">
            <a:avLst/>
          </a:prstGeom>
          <a:noFill/>
        </p:spPr>
        <p:txBody>
          <a:bodyPr wrap="square" lIns="0" rIns="0" tIns="0" bIns="0" anchor="t">
            <a:spAutoFit/>
          </a:bodyPr>
          <a:lstStyle/>
          <a:p>
            <a:pPr algn="l">
              <a:lnSpc>
                <a:spcPts val="2600"/>
              </a:lnSpc>
            </a:pPr>
            <a:r>
              <a:rPr sz="2300" b="1">
                <a:solidFill>
                  <a:srgbClr val="4A4A4A"/>
                </a:solidFill>
                <a:latin typeface="Archivo"/>
              </a:rPr>
              <a:t>Cohérence</a:t>
            </a:r>
          </a:p>
        </p:txBody>
      </p:sp>
      <p:sp>
        <p:nvSpPr>
          <p:cNvPr id="106" name="TextBox 105"/>
          <p:cNvSpPr txBox="1"/>
          <p:nvPr/>
        </p:nvSpPr>
        <p:spPr>
          <a:xfrm>
            <a:off x="9468000" y="1890000"/>
            <a:ext cx="5292000" cy="231799"/>
          </a:xfrm>
          <a:prstGeom prst="rect">
            <a:avLst/>
          </a:prstGeom>
          <a:noFill/>
        </p:spPr>
        <p:txBody>
          <a:bodyPr wrap="square" lIns="0" rIns="0" tIns="0" bIns="0" anchor="t">
            <a:spAutoFit/>
          </a:bodyPr>
          <a:lstStyle/>
          <a:p>
            <a:pPr algn="l">
              <a:lnSpc>
                <a:spcPts val="1400"/>
              </a:lnSpc>
            </a:pPr>
            <a:r>
              <a:rPr sz="1050">
                <a:solidFill>
                  <a:srgbClr val="4A4A4A"/>
                </a:solidFill>
                <a:latin typeface="Archivo"/>
              </a:rPr>
              <a:t>D.A, maquette, plans et technique</a:t>
            </a:r>
          </a:p>
        </p:txBody>
      </p:sp>
      <p:sp>
        <p:nvSpPr>
          <p:cNvPr id="107" name="TextBox 106"/>
          <p:cNvSpPr txBox="1"/>
          <p:nvPr/>
        </p:nvSpPr>
        <p:spPr>
          <a:xfrm>
            <a:off x="9468000" y="2142000"/>
            <a:ext cx="5292000" cy="168300"/>
          </a:xfrm>
          <a:prstGeom prst="rect">
            <a:avLst/>
          </a:prstGeom>
          <a:noFill/>
        </p:spPr>
        <p:txBody>
          <a:bodyPr wrap="square" lIns="0" rIns="0" tIns="0" bIns="0" anchor="t">
            <a:spAutoFit/>
          </a:bodyPr>
          <a:lstStyle/>
          <a:p>
            <a:pPr algn="l">
              <a:lnSpc>
                <a:spcPts val="900"/>
              </a:lnSpc>
            </a:pPr>
            <a:r>
              <a:rPr sz="720">
                <a:solidFill>
                  <a:srgbClr val="8C8C8C"/>
                </a:solidFill>
                <a:latin typeface="Archivo"/>
              </a:rPr>
              <a:t>Contrôle croisé du 15 octobre 2026</a:t>
            </a:r>
          </a:p>
        </p:txBody>
      </p:sp>
      <p:cxnSp>
        <p:nvCxnSpPr>
          <p:cNvPr id="108" name="Connector 107"/>
          <p:cNvCxnSpPr/>
          <p:nvPr/>
        </p:nvCxnSpPr>
        <p:spPr>
          <a:xfrm>
            <a:off x="9468000" y="2304000"/>
            <a:ext cx="648000" cy="0"/>
          </a:xfrm>
          <a:prstGeom prst="line">
            <a:avLst/>
          </a:prstGeom>
          <a:ln w="11430">
            <a:solidFill>
              <a:srgbClr val="B4583E"/>
            </a:solidFill>
          </a:ln>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a:off x="10116000" y="2304000"/>
            <a:ext cx="4644000" cy="0"/>
          </a:xfrm>
          <a:prstGeom prst="line">
            <a:avLst/>
          </a:prstGeom>
          <a:ln w="5080">
            <a:solidFill>
              <a:srgbClr val="C8C8C8"/>
            </a:solidFill>
          </a:ln>
        </p:spPr>
        <p:style>
          <a:lnRef idx="2">
            <a:schemeClr val="accent1"/>
          </a:lnRef>
          <a:fillRef idx="0">
            <a:schemeClr val="accent1"/>
          </a:fillRef>
          <a:effectRef idx="1">
            <a:schemeClr val="accent1"/>
          </a:effectRef>
          <a:fontRef idx="minor">
            <a:schemeClr val="tx1"/>
          </a:fontRef>
        </p:style>
      </p:cxnSp>
      <p:sp>
        <p:nvSpPr>
          <p:cNvPr id="110" name="TextBox 109"/>
          <p:cNvSpPr txBox="1"/>
          <p:nvPr/>
        </p:nvSpPr>
        <p:spPr>
          <a:xfrm>
            <a:off x="9468000" y="2520000"/>
            <a:ext cx="5292000" cy="180999"/>
          </a:xfrm>
          <a:prstGeom prst="rect">
            <a:avLst/>
          </a:prstGeom>
          <a:noFill/>
        </p:spPr>
        <p:txBody>
          <a:bodyPr wrap="square" lIns="0" rIns="0" tIns="0" bIns="0" anchor="t">
            <a:spAutoFit/>
          </a:bodyPr>
          <a:lstStyle/>
          <a:p>
            <a:pPr algn="l">
              <a:lnSpc>
                <a:spcPts val="1000"/>
              </a:lnSpc>
            </a:pPr>
            <a:r>
              <a:rPr sz="740">
                <a:solidFill>
                  <a:srgbClr val="B4583E"/>
                </a:solidFill>
                <a:latin typeface="Archivo"/>
              </a:rPr>
              <a:t>VALIDATIONS</a:t>
            </a:r>
          </a:p>
        </p:txBody>
      </p:sp>
      <p:sp>
        <p:nvSpPr>
          <p:cNvPr id="111" name="TextBox 110"/>
          <p:cNvSpPr txBox="1"/>
          <p:nvPr/>
        </p:nvSpPr>
        <p:spPr>
          <a:xfrm>
            <a:off x="9468000" y="2707200"/>
            <a:ext cx="5292000" cy="6635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IFC4 natif et variante maillée pour Revit : 0 erreur au validateur ifcopenshell 0.9.0, schéma et règles EXPRESS. Contre-vérification indépendante sur main : les 141 produits V4 sont retrouvés par GlobalId, placements et géométries identiques (écart 0), emprise 6,78 × 7,68 m, WC 4350629 et lave-mains 4350630/4350631 conservés.</a:t>
            </a:r>
          </a:p>
        </p:txBody>
      </p:sp>
      <p:sp>
        <p:nvSpPr>
          <p:cNvPr id="112" name="TextBox 111"/>
          <p:cNvSpPr txBox="1"/>
          <p:nvPr/>
        </p:nvSpPr>
        <p:spPr>
          <a:xfrm>
            <a:off x="9468000" y="3478799"/>
            <a:ext cx="5292000" cy="180999"/>
          </a:xfrm>
          <a:prstGeom prst="rect">
            <a:avLst/>
          </a:prstGeom>
          <a:noFill/>
        </p:spPr>
        <p:txBody>
          <a:bodyPr wrap="square" lIns="0" rIns="0" tIns="0" bIns="0" anchor="t">
            <a:spAutoFit/>
          </a:bodyPr>
          <a:lstStyle/>
          <a:p>
            <a:pPr algn="l">
              <a:lnSpc>
                <a:spcPts val="1000"/>
              </a:lnSpc>
            </a:pPr>
            <a:r>
              <a:rPr sz="740">
                <a:solidFill>
                  <a:srgbClr val="B4583E"/>
                </a:solidFill>
                <a:latin typeface="Archivo"/>
              </a:rPr>
              <a:t>LIVRABLES</a:t>
            </a:r>
          </a:p>
        </p:txBody>
      </p:sp>
      <p:sp>
        <p:nvSpPr>
          <p:cNvPr id="113" name="TextBox 112"/>
          <p:cNvSpPr txBox="1"/>
          <p:nvPr/>
        </p:nvSpPr>
        <p:spPr>
          <a:xfrm>
            <a:off x="9468000" y="3666000"/>
            <a:ext cx="5292000" cy="511200"/>
          </a:xfrm>
          <a:prstGeom prst="rect">
            <a:avLst/>
          </a:prstGeom>
          <a:noFill/>
        </p:spPr>
        <p:txBody>
          <a:bodyPr wrap="square" lIns="0" rIns="0" tIns="0" bIns="0" anchor="t">
            <a:spAutoFit/>
          </a:bodyPr>
          <a:lstStyle/>
          <a:p>
            <a:pPr algn="l">
              <a:lnSpc>
                <a:spcPts val="1200"/>
              </a:lnSpc>
            </a:pPr>
            <a:r>
              <a:rPr sz="840">
                <a:solidFill>
                  <a:srgbClr val="4A4A4A"/>
                </a:solidFill>
                <a:latin typeface="Archivo"/>
              </a:rPr>
              <a:t>Maquettes v5/DECIMO_ESQ_V5.ifc, DECIMO_ESQ_V5_tech.ifc et variante maillée pour Revit, planches A01 à A08 et T01 à T05 en PDF, PNG et SVG, note technique, vues de rendu avec leurs caméras, rapports de vérification. Tout est sur la branche main du dépôt jeemake/bibliothequeNandjuiS.Simon.</a:t>
            </a:r>
          </a:p>
        </p:txBody>
      </p:sp>
      <p:sp>
        <p:nvSpPr>
          <p:cNvPr id="114" name="TextBox 113"/>
          <p:cNvSpPr txBox="1"/>
          <p:nvPr/>
        </p:nvSpPr>
        <p:spPr>
          <a:xfrm>
            <a:off x="9468000" y="4285200"/>
            <a:ext cx="5292000" cy="180999"/>
          </a:xfrm>
          <a:prstGeom prst="rect">
            <a:avLst/>
          </a:prstGeom>
          <a:noFill/>
        </p:spPr>
        <p:txBody>
          <a:bodyPr wrap="square" lIns="0" rIns="0" tIns="0" bIns="0" anchor="t">
            <a:spAutoFit/>
          </a:bodyPr>
          <a:lstStyle/>
          <a:p>
            <a:pPr algn="l">
              <a:lnSpc>
                <a:spcPts val="1000"/>
              </a:lnSpc>
            </a:pPr>
            <a:r>
              <a:rPr sz="740">
                <a:solidFill>
                  <a:srgbClr val="B4583E"/>
                </a:solidFill>
                <a:latin typeface="Archivo"/>
              </a:rPr>
              <a:t>LECTURE</a:t>
            </a:r>
          </a:p>
        </p:txBody>
      </p:sp>
      <p:sp>
        <p:nvSpPr>
          <p:cNvPr id="115" name="TextBox 114"/>
          <p:cNvSpPr txBox="1"/>
          <p:nvPr/>
        </p:nvSpPr>
        <p:spPr>
          <a:xfrm>
            <a:off x="9468000" y="4472400"/>
            <a:ext cx="5292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Les cotes et surfaces sont indicatives au stade de l'esquisse. L'existant V4 reste à relever sur site avant l'APS.</a:t>
            </a:r>
          </a:p>
        </p:txBody>
      </p:sp>
      <p:cxnSp>
        <p:nvCxnSpPr>
          <p:cNvPr id="116" name="Connector 115"/>
          <p:cNvCxnSpPr/>
          <p:nvPr/>
        </p:nvCxnSpPr>
        <p:spPr>
          <a:xfrm>
            <a:off x="9468000" y="8856000"/>
            <a:ext cx="5292000" cy="0"/>
          </a:xfrm>
          <a:prstGeom prst="line">
            <a:avLst/>
          </a:prstGeom>
          <a:ln w="3810">
            <a:solidFill>
              <a:srgbClr val="C8C8C8"/>
            </a:solidFill>
          </a:ln>
        </p:spPr>
        <p:style>
          <a:lnRef idx="2">
            <a:schemeClr val="accent1"/>
          </a:lnRef>
          <a:fillRef idx="0">
            <a:schemeClr val="accent1"/>
          </a:fillRef>
          <a:effectRef idx="1">
            <a:schemeClr val="accent1"/>
          </a:effectRef>
          <a:fontRef idx="minor">
            <a:schemeClr val="tx1"/>
          </a:fontRef>
        </p:style>
      </p:cxnSp>
      <p:sp>
        <p:nvSpPr>
          <p:cNvPr id="117" name="TextBox 116"/>
          <p:cNvSpPr txBox="1"/>
          <p:nvPr/>
        </p:nvSpPr>
        <p:spPr>
          <a:xfrm>
            <a:off x="9468000" y="89820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PROJET</a:t>
            </a:r>
          </a:p>
        </p:txBody>
      </p:sp>
      <p:sp>
        <p:nvSpPr>
          <p:cNvPr id="118" name="TextBox 117"/>
          <p:cNvSpPr txBox="1"/>
          <p:nvPr/>
        </p:nvSpPr>
        <p:spPr>
          <a:xfrm>
            <a:off x="10260000" y="89820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Bibliothèque Decimo · RDC sous logements, Deux Plateaux, Abidjan</a:t>
            </a:r>
          </a:p>
        </p:txBody>
      </p:sp>
      <p:sp>
        <p:nvSpPr>
          <p:cNvPr id="119" name="TextBox 118"/>
          <p:cNvSpPr txBox="1"/>
          <p:nvPr/>
        </p:nvSpPr>
        <p:spPr>
          <a:xfrm>
            <a:off x="9468000" y="91476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PHASE</a:t>
            </a:r>
          </a:p>
        </p:txBody>
      </p:sp>
      <p:sp>
        <p:nvSpPr>
          <p:cNvPr id="120" name="TextBox 119"/>
          <p:cNvSpPr txBox="1"/>
          <p:nvPr/>
        </p:nvSpPr>
        <p:spPr>
          <a:xfrm>
            <a:off x="10260000" y="91476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ESQ V5 · aménagement sur existant V4</a:t>
            </a:r>
          </a:p>
        </p:txBody>
      </p:sp>
      <p:sp>
        <p:nvSpPr>
          <p:cNvPr id="121" name="TextBox 120"/>
          <p:cNvSpPr txBox="1"/>
          <p:nvPr/>
        </p:nvSpPr>
        <p:spPr>
          <a:xfrm>
            <a:off x="9468000" y="93132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PLANCHE</a:t>
            </a:r>
          </a:p>
        </p:txBody>
      </p:sp>
      <p:sp>
        <p:nvSpPr>
          <p:cNvPr id="122" name="TextBox 121"/>
          <p:cNvSpPr txBox="1"/>
          <p:nvPr/>
        </p:nvSpPr>
        <p:spPr>
          <a:xfrm>
            <a:off x="10260000" y="93132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21 · Cohérence et points ouverts</a:t>
            </a:r>
          </a:p>
        </p:txBody>
      </p:sp>
      <p:sp>
        <p:nvSpPr>
          <p:cNvPr id="123" name="TextBox 122"/>
          <p:cNvSpPr txBox="1"/>
          <p:nvPr/>
        </p:nvSpPr>
        <p:spPr>
          <a:xfrm>
            <a:off x="9468000" y="94788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ÉCHELLE</a:t>
            </a:r>
          </a:p>
        </p:txBody>
      </p:sp>
      <p:sp>
        <p:nvSpPr>
          <p:cNvPr id="124" name="TextBox 123"/>
          <p:cNvSpPr txBox="1"/>
          <p:nvPr/>
        </p:nvSpPr>
        <p:spPr>
          <a:xfrm>
            <a:off x="10260000" y="94788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sans échelle · format A3 paysage</a:t>
            </a:r>
          </a:p>
        </p:txBody>
      </p:sp>
      <p:sp>
        <p:nvSpPr>
          <p:cNvPr id="125" name="TextBox 124"/>
          <p:cNvSpPr txBox="1"/>
          <p:nvPr/>
        </p:nvSpPr>
        <p:spPr>
          <a:xfrm>
            <a:off x="9468000" y="96444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MAQUETTE</a:t>
            </a:r>
          </a:p>
        </p:txBody>
      </p:sp>
      <p:sp>
        <p:nvSpPr>
          <p:cNvPr id="126" name="TextBox 125"/>
          <p:cNvSpPr txBox="1"/>
          <p:nvPr/>
        </p:nvSpPr>
        <p:spPr>
          <a:xfrm>
            <a:off x="10260000" y="96444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v5/DECIMO_ESQ_V5.ifc (IFC4)</a:t>
            </a:r>
          </a:p>
        </p:txBody>
      </p:sp>
      <p:sp>
        <p:nvSpPr>
          <p:cNvPr id="127" name="TextBox 126"/>
          <p:cNvSpPr txBox="1"/>
          <p:nvPr/>
        </p:nvSpPr>
        <p:spPr>
          <a:xfrm>
            <a:off x="9468000" y="98100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DATE</a:t>
            </a:r>
          </a:p>
        </p:txBody>
      </p:sp>
      <p:sp>
        <p:nvSpPr>
          <p:cNvPr id="128" name="TextBox 127"/>
          <p:cNvSpPr txBox="1"/>
          <p:nvPr/>
        </p:nvSpPr>
        <p:spPr>
          <a:xfrm>
            <a:off x="10260000" y="98100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15 octobre 2026 · indice C</a:t>
            </a:r>
          </a:p>
        </p:txBody>
      </p:sp>
      <p:sp>
        <p:nvSpPr>
          <p:cNvPr id="129" name="TextBox 128"/>
          <p:cNvSpPr txBox="1"/>
          <p:nvPr/>
        </p:nvSpPr>
        <p:spPr>
          <a:xfrm>
            <a:off x="9468000" y="10404000"/>
            <a:ext cx="1440000" cy="155600"/>
          </a:xfrm>
          <a:prstGeom prst="rect">
            <a:avLst/>
          </a:prstGeom>
          <a:noFill/>
        </p:spPr>
        <p:txBody>
          <a:bodyPr wrap="square" lIns="0" rIns="0" tIns="0" bIns="0" anchor="t">
            <a:spAutoFit/>
          </a:bodyPr>
          <a:lstStyle/>
          <a:p>
            <a:pPr algn="l">
              <a:lnSpc>
                <a:spcPts val="800"/>
              </a:lnSpc>
            </a:pPr>
            <a:r>
              <a:rPr sz="650">
                <a:solidFill>
                  <a:srgbClr val="4A4A4A"/>
                </a:solidFill>
                <a:latin typeface="Manrope"/>
              </a:rPr>
              <a:t>K&amp;Démi</a:t>
            </a:r>
          </a:p>
        </p:txBody>
      </p:sp>
      <p:sp>
        <p:nvSpPr>
          <p:cNvPr id="130" name="TextBox 129"/>
          <p:cNvSpPr txBox="1"/>
          <p:nvPr/>
        </p:nvSpPr>
        <p:spPr>
          <a:xfrm>
            <a:off x="12600000" y="10404000"/>
            <a:ext cx="2160000" cy="155600"/>
          </a:xfrm>
          <a:prstGeom prst="rect">
            <a:avLst/>
          </a:prstGeom>
          <a:noFill/>
        </p:spPr>
        <p:txBody>
          <a:bodyPr wrap="square" lIns="0" rIns="0" tIns="0" bIns="0" anchor="t">
            <a:spAutoFit/>
          </a:bodyPr>
          <a:lstStyle/>
          <a:p>
            <a:pPr algn="r">
              <a:lnSpc>
                <a:spcPts val="800"/>
              </a:lnSpc>
            </a:pPr>
            <a:r>
              <a:rPr sz="650">
                <a:solidFill>
                  <a:srgbClr val="8C8C8C"/>
                </a:solidFill>
                <a:latin typeface="Archivo"/>
              </a:rPr>
              <a:t>21 · ESQ V5 · Octobre 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