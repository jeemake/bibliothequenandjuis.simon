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512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sp>
        <p:nvSpPr>
          <p:cNvPr id="2" name="Rectangle 1"/>
          <p:cNvSpPr/>
          <p:nvPr/>
        </p:nvSpPr>
        <p:spPr>
          <a:xfrm>
            <a:off x="0" y="0"/>
            <a:ext cx="15120000" cy="10692000"/>
          </a:xfrm>
          <a:prstGeom prst="rect">
            <a:avLst/>
          </a:prstGeom>
          <a:solidFill>
            <a:srgbClr val="2B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jpg"/>
          <p:cNvPicPr>
            <a:picLocks noChangeAspect="1"/>
          </p:cNvPicPr>
          <p:nvPr/>
        </p:nvPicPr>
        <p:blipFill>
          <a:blip r:embed="rId2"/>
          <a:stretch>
            <a:fillRect/>
          </a:stretch>
        </p:blipFill>
        <p:spPr>
          <a:xfrm>
            <a:off x="0" y="0"/>
            <a:ext cx="9180000" cy="10692000"/>
          </a:xfrm>
          <a:prstGeom prst="rect">
            <a:avLst/>
          </a:prstGeom>
        </p:spPr>
      </p:pic>
      <p:sp>
        <p:nvSpPr>
          <p:cNvPr id="4" name="Rectangle 3"/>
          <p:cNvSpPr/>
          <p:nvPr/>
        </p:nvSpPr>
        <p:spPr>
          <a:xfrm>
            <a:off x="9180000" y="0"/>
            <a:ext cx="5940000" cy="10692000"/>
          </a:xfrm>
          <a:prstGeom prst="rect">
            <a:avLst/>
          </a:prstGeom>
          <a:solidFill>
            <a:srgbClr val="2B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Demi_v3_A_arche_lockup_inverse.png"/>
          <p:cNvPicPr>
            <a:picLocks noChangeAspect="1"/>
          </p:cNvPicPr>
          <p:nvPr/>
        </p:nvPicPr>
        <p:blipFill>
          <a:blip r:embed="rId3"/>
          <a:stretch>
            <a:fillRect/>
          </a:stretch>
        </p:blipFill>
        <p:spPr>
          <a:xfrm>
            <a:off x="9468000" y="504000"/>
            <a:ext cx="1872000" cy="634920"/>
          </a:xfrm>
          <a:prstGeom prst="rect">
            <a:avLst/>
          </a:prstGeom>
        </p:spPr>
      </p:pic>
      <p:sp>
        <p:nvSpPr>
          <p:cNvPr id="6" name="TextBox 5"/>
          <p:cNvSpPr txBox="1"/>
          <p:nvPr/>
        </p:nvSpPr>
        <p:spPr>
          <a:xfrm>
            <a:off x="9468000" y="3744000"/>
            <a:ext cx="5292000" cy="1374799"/>
          </a:xfrm>
          <a:prstGeom prst="rect">
            <a:avLst/>
          </a:prstGeom>
          <a:noFill/>
        </p:spPr>
        <p:txBody>
          <a:bodyPr wrap="square" lIns="0" rIns="0" tIns="0" bIns="0" anchor="t">
            <a:spAutoFit/>
          </a:bodyPr>
          <a:lstStyle/>
          <a:p>
            <a:pPr algn="l">
              <a:lnSpc>
                <a:spcPts val="5200"/>
              </a:lnSpc>
            </a:pPr>
            <a:r>
              <a:rPr sz="5000">
                <a:solidFill>
                  <a:srgbClr val="FBF8F3"/>
                </a:solidFill>
                <a:latin typeface="DM Serif Display"/>
              </a:rPr>
              <a:t>Bibliothèque</a:t>
            </a:r>
          </a:p>
          <a:p>
            <a:pPr algn="l">
              <a:lnSpc>
                <a:spcPts val="5200"/>
              </a:lnSpc>
            </a:pPr>
            <a:r>
              <a:rPr sz="5000">
                <a:solidFill>
                  <a:srgbClr val="FBF8F3"/>
                </a:solidFill>
                <a:latin typeface="DM Serif Display"/>
              </a:rPr>
              <a:t>Decimo</a:t>
            </a:r>
          </a:p>
        </p:txBody>
      </p:sp>
      <p:cxnSp>
        <p:nvCxnSpPr>
          <p:cNvPr id="7" name="Connector 6"/>
          <p:cNvCxnSpPr/>
          <p:nvPr/>
        </p:nvCxnSpPr>
        <p:spPr>
          <a:xfrm>
            <a:off x="9468000" y="5256000"/>
            <a:ext cx="1080000" cy="0"/>
          </a:xfrm>
          <a:prstGeom prst="line">
            <a:avLst/>
          </a:prstGeom>
          <a:ln w="15240">
            <a:solidFill>
              <a:srgbClr val="B4583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468000" y="5472000"/>
            <a:ext cx="5292000" cy="257199"/>
          </a:xfrm>
          <a:prstGeom prst="rect">
            <a:avLst/>
          </a:prstGeom>
          <a:noFill/>
        </p:spPr>
        <p:txBody>
          <a:bodyPr wrap="square" lIns="0" rIns="0" tIns="0" bIns="0" anchor="t">
            <a:spAutoFit/>
          </a:bodyPr>
          <a:lstStyle/>
          <a:p>
            <a:pPr algn="l">
              <a:lnSpc>
                <a:spcPts val="1600"/>
              </a:lnSpc>
            </a:pPr>
            <a:r>
              <a:rPr sz="1250">
                <a:solidFill>
                  <a:srgbClr val="D9876C"/>
                </a:solidFill>
                <a:latin typeface="Jost"/>
              </a:rPr>
              <a:t>Esquisse V5 · aménagement intérieur et devanture</a:t>
            </a:r>
          </a:p>
        </p:txBody>
      </p:sp>
      <p:sp>
        <p:nvSpPr>
          <p:cNvPr id="9" name="TextBox 8"/>
          <p:cNvSpPr txBox="1"/>
          <p:nvPr/>
        </p:nvSpPr>
        <p:spPr>
          <a:xfrm>
            <a:off x="9468000" y="5832000"/>
            <a:ext cx="5292000" cy="422299"/>
          </a:xfrm>
          <a:prstGeom prst="rect">
            <a:avLst/>
          </a:prstGeom>
          <a:noFill/>
        </p:spPr>
        <p:txBody>
          <a:bodyPr wrap="square" lIns="0" rIns="0" tIns="0" bIns="0" anchor="t">
            <a:spAutoFit/>
          </a:bodyPr>
          <a:lstStyle/>
          <a:p>
            <a:pPr algn="l">
              <a:lnSpc>
                <a:spcPts val="1450"/>
              </a:lnSpc>
            </a:pPr>
            <a:r>
              <a:rPr sz="1050">
                <a:solidFill>
                  <a:srgbClr val="E6D6BF"/>
                </a:solidFill>
                <a:latin typeface="Jost"/>
              </a:rPr>
              <a:t>Local en rez-de-chaussée sous logements</a:t>
            </a:r>
          </a:p>
          <a:p>
            <a:pPr algn="l">
              <a:lnSpc>
                <a:spcPts val="1450"/>
              </a:lnSpc>
            </a:pPr>
            <a:r>
              <a:rPr sz="1050">
                <a:solidFill>
                  <a:srgbClr val="E6D6BF"/>
                </a:solidFill>
                <a:latin typeface="Jost"/>
              </a:rPr>
              <a:t>Deux Plateaux, Abidjan</a:t>
            </a:r>
          </a:p>
        </p:txBody>
      </p:sp>
      <p:sp>
        <p:nvSpPr>
          <p:cNvPr id="10" name="TextBox 9"/>
          <p:cNvSpPr txBox="1"/>
          <p:nvPr/>
        </p:nvSpPr>
        <p:spPr>
          <a:xfrm>
            <a:off x="9468000" y="8856000"/>
            <a:ext cx="5292000" cy="155600"/>
          </a:xfrm>
          <a:prstGeom prst="rect">
            <a:avLst/>
          </a:prstGeom>
          <a:noFill/>
        </p:spPr>
        <p:txBody>
          <a:bodyPr wrap="square" lIns="0" rIns="0" tIns="0" bIns="0" anchor="t">
            <a:spAutoFit/>
          </a:bodyPr>
          <a:lstStyle/>
          <a:p>
            <a:pPr algn="l">
              <a:lnSpc>
                <a:spcPts val="800"/>
              </a:lnSpc>
            </a:pPr>
            <a:r>
              <a:rPr sz="680">
                <a:solidFill>
                  <a:srgbClr val="D9876C"/>
                </a:solidFill>
                <a:latin typeface="Jost"/>
              </a:rPr>
              <a:t>DOSSIER DE PRÉSENTATION</a:t>
            </a:r>
          </a:p>
        </p:txBody>
      </p:sp>
      <p:sp>
        <p:nvSpPr>
          <p:cNvPr id="11" name="TextBox 10"/>
          <p:cNvSpPr txBox="1"/>
          <p:nvPr/>
        </p:nvSpPr>
        <p:spPr>
          <a:xfrm>
            <a:off x="9468000" y="9036000"/>
            <a:ext cx="5292000" cy="175920"/>
          </a:xfrm>
          <a:prstGeom prst="rect">
            <a:avLst/>
          </a:prstGeom>
          <a:noFill/>
        </p:spPr>
        <p:txBody>
          <a:bodyPr wrap="square" lIns="0" rIns="0" tIns="0" bIns="0" anchor="t">
            <a:spAutoFit/>
          </a:bodyPr>
          <a:lstStyle/>
          <a:p>
            <a:pPr algn="l">
              <a:lnSpc>
                <a:spcPts val="960"/>
              </a:lnSpc>
            </a:pPr>
            <a:r>
              <a:rPr sz="720">
                <a:solidFill>
                  <a:srgbClr val="E6D6BF"/>
                </a:solidFill>
                <a:latin typeface="Jost"/>
              </a:rPr>
              <a:t>D.A · plans · coupe · élévations · vues 3D · axonométries · électricité · plomberie · détails techniques</a:t>
            </a:r>
          </a:p>
        </p:txBody>
      </p:sp>
      <p:sp>
        <p:nvSpPr>
          <p:cNvPr id="12" name="TextBox 11"/>
          <p:cNvSpPr txBox="1"/>
          <p:nvPr/>
        </p:nvSpPr>
        <p:spPr>
          <a:xfrm>
            <a:off x="9468000" y="9576000"/>
            <a:ext cx="5292000" cy="175920"/>
          </a:xfrm>
          <a:prstGeom prst="rect">
            <a:avLst/>
          </a:prstGeom>
          <a:noFill/>
        </p:spPr>
        <p:txBody>
          <a:bodyPr wrap="square" lIns="0" rIns="0" tIns="0" bIns="0" anchor="t">
            <a:spAutoFit/>
          </a:bodyPr>
          <a:lstStyle/>
          <a:p>
            <a:pPr algn="l">
              <a:lnSpc>
                <a:spcPts val="960"/>
              </a:lnSpc>
            </a:pPr>
            <a:r>
              <a:rPr sz="720">
                <a:solidFill>
                  <a:srgbClr val="E6D6BF"/>
                </a:solidFill>
                <a:latin typeface="Jost"/>
              </a:rPr>
              <a:t>15 octobre 2026 · indice A</a:t>
            </a:r>
          </a:p>
        </p:txBody>
      </p:sp>
      <p:sp>
        <p:nvSpPr>
          <p:cNvPr id="13" name="TextBox 12"/>
          <p:cNvSpPr txBox="1"/>
          <p:nvPr/>
        </p:nvSpPr>
        <p:spPr>
          <a:xfrm>
            <a:off x="9468000" y="10404000"/>
            <a:ext cx="2160000" cy="155600"/>
          </a:xfrm>
          <a:prstGeom prst="rect">
            <a:avLst/>
          </a:prstGeom>
          <a:noFill/>
        </p:spPr>
        <p:txBody>
          <a:bodyPr wrap="square" lIns="0" rIns="0" tIns="0" bIns="0" anchor="t">
            <a:spAutoFit/>
          </a:bodyPr>
          <a:lstStyle/>
          <a:p>
            <a:pPr algn="l">
              <a:lnSpc>
                <a:spcPts val="800"/>
              </a:lnSpc>
            </a:pPr>
            <a:r>
              <a:rPr sz="650">
                <a:solidFill>
                  <a:srgbClr val="FBF8F3"/>
                </a:solidFill>
                <a:latin typeface="Manrope"/>
              </a:rPr>
              <a:t>K&amp;Démi · architecture · intérieur</a:t>
            </a:r>
          </a:p>
        </p:txBody>
      </p:sp>
      <p:sp>
        <p:nvSpPr>
          <p:cNvPr id="14" name="TextBox 1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01</a:t>
            </a:r>
          </a:p>
        </p:txBody>
      </p:sp>
      <p:sp>
        <p:nvSpPr>
          <p:cNvPr id="15" name="TextBox 14"/>
          <p:cNvSpPr txBox="1"/>
          <p:nvPr/>
        </p:nvSpPr>
        <p:spPr>
          <a:xfrm>
            <a:off x="9468000" y="9936000"/>
            <a:ext cx="529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En couverture : l'arbre à livres sous l'oculus indigo, rendu tiré de la vue 04 de la maquette IFC V5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p02_dev.jpg"/>
          <p:cNvPicPr>
            <a:picLocks noChangeAspect="1"/>
          </p:cNvPicPr>
          <p:nvPr/>
        </p:nvPicPr>
        <p:blipFill>
          <a:blip r:embed="rId2"/>
          <a:stretch>
            <a:fillRect/>
          </a:stretch>
        </p:blipFill>
        <p:spPr>
          <a:xfrm>
            <a:off x="504000" y="504000"/>
            <a:ext cx="8172000" cy="5400000"/>
          </a:xfrm>
          <a:prstGeom prst="rect">
            <a:avLst/>
          </a:prstGeom>
        </p:spPr>
      </p:pic>
      <p:sp>
        <p:nvSpPr>
          <p:cNvPr id="3" name="TextBox 2"/>
          <p:cNvSpPr txBox="1"/>
          <p:nvPr/>
        </p:nvSpPr>
        <p:spPr>
          <a:xfrm>
            <a:off x="504000" y="5976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La devanture sous la pergola conservée de la V4, rendu tiré de la vue 01 de la maquette</a:t>
            </a:r>
          </a:p>
        </p:txBody>
      </p:sp>
      <p:cxnSp>
        <p:nvCxnSpPr>
          <p:cNvPr id="4" name="Connector 3"/>
          <p:cNvCxnSpPr/>
          <p:nvPr/>
        </p:nvCxnSpPr>
        <p:spPr>
          <a:xfrm>
            <a:off x="504000" y="6336000"/>
            <a:ext cx="2604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4000" y="6480000"/>
            <a:ext cx="2604000" cy="269900"/>
          </a:xfrm>
          <a:prstGeom prst="rect">
            <a:avLst/>
          </a:prstGeom>
          <a:noFill/>
        </p:spPr>
        <p:txBody>
          <a:bodyPr wrap="square" lIns="0" rIns="0" tIns="0" bIns="0" anchor="t">
            <a:spAutoFit/>
          </a:bodyPr>
          <a:lstStyle/>
          <a:p>
            <a:pPr algn="l">
              <a:lnSpc>
                <a:spcPts val="1700"/>
              </a:lnSpc>
            </a:pPr>
            <a:r>
              <a:rPr sz="1400">
                <a:solidFill>
                  <a:srgbClr val="2B2420"/>
                </a:solidFill>
                <a:latin typeface="DM Serif Display"/>
              </a:rPr>
              <a:t>Le lieu</a:t>
            </a:r>
          </a:p>
        </p:txBody>
      </p:sp>
      <p:sp>
        <p:nvSpPr>
          <p:cNvPr id="6" name="TextBox 5"/>
          <p:cNvSpPr txBox="1"/>
          <p:nvPr/>
        </p:nvSpPr>
        <p:spPr>
          <a:xfrm>
            <a:off x="504000" y="6768000"/>
            <a:ext cx="2604000" cy="879499"/>
          </a:xfrm>
          <a:prstGeom prst="rect">
            <a:avLst/>
          </a:prstGeom>
          <a:noFill/>
        </p:spPr>
        <p:txBody>
          <a:bodyPr wrap="square" lIns="0" rIns="0" tIns="0" bIns="0" anchor="t">
            <a:spAutoFit/>
          </a:bodyPr>
          <a:lstStyle/>
          <a:p>
            <a:pPr algn="l">
              <a:lnSpc>
                <a:spcPts val="1300"/>
              </a:lnSpc>
            </a:pPr>
            <a:r>
              <a:rPr sz="900">
                <a:solidFill>
                  <a:srgbClr val="2B2420"/>
                </a:solidFill>
                <a:latin typeface="Jost"/>
              </a:rPr>
              <a:t>Un local commercial de 6,78 × 7,68 m au rez-de-chaussée d'un immeuble de logements, à Deux Plateaux. Poteaux, voiles et dalle haute appartiennent à l'immeuble et restent intacts : le projet est un aménagement, pas une construction.</a:t>
            </a:r>
          </a:p>
        </p:txBody>
      </p:sp>
      <p:cxnSp>
        <p:nvCxnSpPr>
          <p:cNvPr id="7" name="Connector 6"/>
          <p:cNvCxnSpPr/>
          <p:nvPr/>
        </p:nvCxnSpPr>
        <p:spPr>
          <a:xfrm>
            <a:off x="3288000" y="6336000"/>
            <a:ext cx="2604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288000" y="6480000"/>
            <a:ext cx="2604000" cy="269900"/>
          </a:xfrm>
          <a:prstGeom prst="rect">
            <a:avLst/>
          </a:prstGeom>
          <a:noFill/>
        </p:spPr>
        <p:txBody>
          <a:bodyPr wrap="square" lIns="0" rIns="0" tIns="0" bIns="0" anchor="t">
            <a:spAutoFit/>
          </a:bodyPr>
          <a:lstStyle/>
          <a:p>
            <a:pPr algn="l">
              <a:lnSpc>
                <a:spcPts val="1700"/>
              </a:lnSpc>
            </a:pPr>
            <a:r>
              <a:rPr sz="1400">
                <a:solidFill>
                  <a:srgbClr val="2B2420"/>
                </a:solidFill>
                <a:latin typeface="DM Serif Display"/>
              </a:rPr>
              <a:t>Le programme</a:t>
            </a:r>
          </a:p>
        </p:txBody>
      </p:sp>
      <p:sp>
        <p:nvSpPr>
          <p:cNvPr id="9" name="TextBox 8"/>
          <p:cNvSpPr txBox="1"/>
          <p:nvPr/>
        </p:nvSpPr>
        <p:spPr>
          <a:xfrm>
            <a:off x="3288000" y="6768000"/>
            <a:ext cx="2604000" cy="879499"/>
          </a:xfrm>
          <a:prstGeom prst="rect">
            <a:avLst/>
          </a:prstGeom>
          <a:noFill/>
        </p:spPr>
        <p:txBody>
          <a:bodyPr wrap="square" lIns="0" rIns="0" tIns="0" bIns="0" anchor="t">
            <a:spAutoFit/>
          </a:bodyPr>
          <a:lstStyle/>
          <a:p>
            <a:pPr algn="l">
              <a:lnSpc>
                <a:spcPts val="1300"/>
              </a:lnSpc>
            </a:pPr>
            <a:r>
              <a:rPr sz="900">
                <a:solidFill>
                  <a:srgbClr val="2B2420"/>
                </a:solidFill>
                <a:latin typeface="Jost"/>
              </a:rPr>
              <a:t>Une bibliothèque de quartier : une salle de lecture autour de l'arbre à livres, un coin lecture en vitrine, une salle de réunion, un seul WC, un rangement et un placard technique. La terrasse couverte prolonge la lecture sur la rue.</a:t>
            </a:r>
          </a:p>
        </p:txBody>
      </p:sp>
      <p:cxnSp>
        <p:nvCxnSpPr>
          <p:cNvPr id="10" name="Connector 9"/>
          <p:cNvCxnSpPr/>
          <p:nvPr/>
        </p:nvCxnSpPr>
        <p:spPr>
          <a:xfrm>
            <a:off x="6072000" y="6336000"/>
            <a:ext cx="2604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72000" y="6480000"/>
            <a:ext cx="2604000" cy="269900"/>
          </a:xfrm>
          <a:prstGeom prst="rect">
            <a:avLst/>
          </a:prstGeom>
          <a:noFill/>
        </p:spPr>
        <p:txBody>
          <a:bodyPr wrap="square" lIns="0" rIns="0" tIns="0" bIns="0" anchor="t">
            <a:spAutoFit/>
          </a:bodyPr>
          <a:lstStyle/>
          <a:p>
            <a:pPr algn="l">
              <a:lnSpc>
                <a:spcPts val="1700"/>
              </a:lnSpc>
            </a:pPr>
            <a:r>
              <a:rPr sz="1400">
                <a:solidFill>
                  <a:srgbClr val="2B2420"/>
                </a:solidFill>
                <a:latin typeface="DM Serif Display"/>
              </a:rPr>
              <a:t>Le parti</a:t>
            </a:r>
          </a:p>
        </p:txBody>
      </p:sp>
      <p:sp>
        <p:nvSpPr>
          <p:cNvPr id="12" name="TextBox 11"/>
          <p:cNvSpPr txBox="1"/>
          <p:nvPr/>
        </p:nvSpPr>
        <p:spPr>
          <a:xfrm>
            <a:off x="6072000" y="6768000"/>
            <a:ext cx="2604000" cy="714399"/>
          </a:xfrm>
          <a:prstGeom prst="rect">
            <a:avLst/>
          </a:prstGeom>
          <a:noFill/>
        </p:spPr>
        <p:txBody>
          <a:bodyPr wrap="square" lIns="0" rIns="0" tIns="0" bIns="0" anchor="t">
            <a:spAutoFit/>
          </a:bodyPr>
          <a:lstStyle/>
          <a:p>
            <a:pPr algn="l">
              <a:lnSpc>
                <a:spcPts val="1300"/>
              </a:lnSpc>
            </a:pPr>
            <a:r>
              <a:rPr sz="900">
                <a:solidFill>
                  <a:srgbClr val="2B2420"/>
                </a:solidFill>
                <a:latin typeface="Jost"/>
              </a:rPr>
              <a:t>Terre, ombre et bois. La claustra en terre cuite filtre le soleil, l'iroko habille tout ce qui se touche et la chaux tout ce qui se voit. L'arbre à livres et son oculus indigo sont le seul objet fort de la salle.</a:t>
            </a:r>
          </a:p>
        </p:txBody>
      </p:sp>
      <p:cxnSp>
        <p:nvCxnSpPr>
          <p:cNvPr id="13" name="Connector 12"/>
          <p:cNvCxnSpPr/>
          <p:nvPr/>
        </p:nvCxnSpPr>
        <p:spPr>
          <a:xfrm>
            <a:off x="504000" y="8784000"/>
            <a:ext cx="1908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8928000"/>
            <a:ext cx="1908000" cy="409599"/>
          </a:xfrm>
          <a:prstGeom prst="rect">
            <a:avLst/>
          </a:prstGeom>
          <a:noFill/>
        </p:spPr>
        <p:txBody>
          <a:bodyPr wrap="square" lIns="0" rIns="0" tIns="0" bIns="0" anchor="t">
            <a:spAutoFit/>
          </a:bodyPr>
          <a:lstStyle/>
          <a:p>
            <a:pPr algn="l">
              <a:lnSpc>
                <a:spcPts val="2800"/>
              </a:lnSpc>
            </a:pPr>
            <a:r>
              <a:rPr sz="2600">
                <a:solidFill>
                  <a:srgbClr val="B4583E"/>
                </a:solidFill>
                <a:latin typeface="DM Serif Display"/>
              </a:rPr>
              <a:t>43,55 m²</a:t>
            </a:r>
          </a:p>
        </p:txBody>
      </p:sp>
      <p:sp>
        <p:nvSpPr>
          <p:cNvPr id="15" name="TextBox 14"/>
          <p:cNvSpPr txBox="1"/>
          <p:nvPr/>
        </p:nvSpPr>
        <p:spPr>
          <a:xfrm>
            <a:off x="504000" y="9360000"/>
            <a:ext cx="1908000" cy="173380"/>
          </a:xfrm>
          <a:prstGeom prst="rect">
            <a:avLst/>
          </a:prstGeom>
          <a:noFill/>
        </p:spPr>
        <p:txBody>
          <a:bodyPr wrap="square" lIns="0" rIns="0" tIns="0" bIns="0" anchor="t">
            <a:spAutoFit/>
          </a:bodyPr>
          <a:lstStyle/>
          <a:p>
            <a:pPr algn="l">
              <a:lnSpc>
                <a:spcPts val="940"/>
              </a:lnSpc>
            </a:pPr>
            <a:r>
              <a:rPr sz="740">
                <a:solidFill>
                  <a:srgbClr val="7D7168"/>
                </a:solidFill>
                <a:latin typeface="Jost"/>
              </a:rPr>
              <a:t>surface intérieure, 7 espaces</a:t>
            </a:r>
          </a:p>
        </p:txBody>
      </p:sp>
      <p:cxnSp>
        <p:nvCxnSpPr>
          <p:cNvPr id="16" name="Connector 15"/>
          <p:cNvCxnSpPr/>
          <p:nvPr/>
        </p:nvCxnSpPr>
        <p:spPr>
          <a:xfrm>
            <a:off x="2592000" y="8784000"/>
            <a:ext cx="1908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92000" y="8928000"/>
            <a:ext cx="1908000" cy="409599"/>
          </a:xfrm>
          <a:prstGeom prst="rect">
            <a:avLst/>
          </a:prstGeom>
          <a:noFill/>
        </p:spPr>
        <p:txBody>
          <a:bodyPr wrap="square" lIns="0" rIns="0" tIns="0" bIns="0" anchor="t">
            <a:spAutoFit/>
          </a:bodyPr>
          <a:lstStyle/>
          <a:p>
            <a:pPr algn="l">
              <a:lnSpc>
                <a:spcPts val="2800"/>
              </a:lnSpc>
            </a:pPr>
            <a:r>
              <a:rPr sz="2600">
                <a:solidFill>
                  <a:srgbClr val="B4583E"/>
                </a:solidFill>
                <a:latin typeface="DM Serif Display"/>
              </a:rPr>
              <a:t>15,74 m²</a:t>
            </a:r>
          </a:p>
        </p:txBody>
      </p:sp>
      <p:sp>
        <p:nvSpPr>
          <p:cNvPr id="18" name="TextBox 17"/>
          <p:cNvSpPr txBox="1"/>
          <p:nvPr/>
        </p:nvSpPr>
        <p:spPr>
          <a:xfrm>
            <a:off x="2592000" y="9360000"/>
            <a:ext cx="1908000" cy="173380"/>
          </a:xfrm>
          <a:prstGeom prst="rect">
            <a:avLst/>
          </a:prstGeom>
          <a:noFill/>
        </p:spPr>
        <p:txBody>
          <a:bodyPr wrap="square" lIns="0" rIns="0" tIns="0" bIns="0" anchor="t">
            <a:spAutoFit/>
          </a:bodyPr>
          <a:lstStyle/>
          <a:p>
            <a:pPr algn="l">
              <a:lnSpc>
                <a:spcPts val="940"/>
              </a:lnSpc>
            </a:pPr>
            <a:r>
              <a:rPr sz="740">
                <a:solidFill>
                  <a:srgbClr val="7D7168"/>
                </a:solidFill>
                <a:latin typeface="Jost"/>
              </a:rPr>
              <a:t>terrasse couverte sous pergola</a:t>
            </a:r>
          </a:p>
        </p:txBody>
      </p:sp>
      <p:cxnSp>
        <p:nvCxnSpPr>
          <p:cNvPr id="19" name="Connector 18"/>
          <p:cNvCxnSpPr/>
          <p:nvPr/>
        </p:nvCxnSpPr>
        <p:spPr>
          <a:xfrm>
            <a:off x="4680000" y="8784000"/>
            <a:ext cx="1908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0000" y="8928000"/>
            <a:ext cx="1908000" cy="409599"/>
          </a:xfrm>
          <a:prstGeom prst="rect">
            <a:avLst/>
          </a:prstGeom>
          <a:noFill/>
        </p:spPr>
        <p:txBody>
          <a:bodyPr wrap="square" lIns="0" rIns="0" tIns="0" bIns="0" anchor="t">
            <a:spAutoFit/>
          </a:bodyPr>
          <a:lstStyle/>
          <a:p>
            <a:pPr algn="l">
              <a:lnSpc>
                <a:spcPts val="2800"/>
              </a:lnSpc>
            </a:pPr>
            <a:r>
              <a:rPr sz="2600">
                <a:solidFill>
                  <a:srgbClr val="B4583E"/>
                </a:solidFill>
                <a:latin typeface="DM Serif Display"/>
              </a:rPr>
              <a:t>3,00 m</a:t>
            </a:r>
          </a:p>
        </p:txBody>
      </p:sp>
      <p:sp>
        <p:nvSpPr>
          <p:cNvPr id="21" name="TextBox 20"/>
          <p:cNvSpPr txBox="1"/>
          <p:nvPr/>
        </p:nvSpPr>
        <p:spPr>
          <a:xfrm>
            <a:off x="4680000" y="9360000"/>
            <a:ext cx="1908000" cy="173380"/>
          </a:xfrm>
          <a:prstGeom prst="rect">
            <a:avLst/>
          </a:prstGeom>
          <a:noFill/>
        </p:spPr>
        <p:txBody>
          <a:bodyPr wrap="square" lIns="0" rIns="0" tIns="0" bIns="0" anchor="t">
            <a:spAutoFit/>
          </a:bodyPr>
          <a:lstStyle/>
          <a:p>
            <a:pPr algn="l">
              <a:lnSpc>
                <a:spcPts val="940"/>
              </a:lnSpc>
            </a:pPr>
            <a:r>
              <a:rPr sz="740">
                <a:solidFill>
                  <a:srgbClr val="7D7168"/>
                </a:solidFill>
                <a:latin typeface="Jost"/>
              </a:rPr>
              <a:t>hauteur sous faux-plafond</a:t>
            </a:r>
          </a:p>
        </p:txBody>
      </p:sp>
      <p:cxnSp>
        <p:nvCxnSpPr>
          <p:cNvPr id="22" name="Connector 21"/>
          <p:cNvCxnSpPr/>
          <p:nvPr/>
        </p:nvCxnSpPr>
        <p:spPr>
          <a:xfrm>
            <a:off x="6768000" y="8784000"/>
            <a:ext cx="1908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68000" y="8928000"/>
            <a:ext cx="1908000" cy="409599"/>
          </a:xfrm>
          <a:prstGeom prst="rect">
            <a:avLst/>
          </a:prstGeom>
          <a:noFill/>
        </p:spPr>
        <p:txBody>
          <a:bodyPr wrap="square" lIns="0" rIns="0" tIns="0" bIns="0" anchor="t">
            <a:spAutoFit/>
          </a:bodyPr>
          <a:lstStyle/>
          <a:p>
            <a:pPr algn="l">
              <a:lnSpc>
                <a:spcPts val="2800"/>
              </a:lnSpc>
            </a:pPr>
            <a:r>
              <a:rPr sz="2600">
                <a:solidFill>
                  <a:srgbClr val="B4583E"/>
                </a:solidFill>
                <a:latin typeface="DM Serif Display"/>
              </a:rPr>
              <a:t>141 / 141</a:t>
            </a:r>
          </a:p>
        </p:txBody>
      </p:sp>
      <p:sp>
        <p:nvSpPr>
          <p:cNvPr id="24" name="TextBox 23"/>
          <p:cNvSpPr txBox="1"/>
          <p:nvPr/>
        </p:nvSpPr>
        <p:spPr>
          <a:xfrm>
            <a:off x="6768000" y="9360000"/>
            <a:ext cx="1908000" cy="173380"/>
          </a:xfrm>
          <a:prstGeom prst="rect">
            <a:avLst/>
          </a:prstGeom>
          <a:noFill/>
        </p:spPr>
        <p:txBody>
          <a:bodyPr wrap="square" lIns="0" rIns="0" tIns="0" bIns="0" anchor="t">
            <a:spAutoFit/>
          </a:bodyPr>
          <a:lstStyle/>
          <a:p>
            <a:pPr algn="l">
              <a:lnSpc>
                <a:spcPts val="940"/>
              </a:lnSpc>
            </a:pPr>
            <a:r>
              <a:rPr sz="740">
                <a:solidFill>
                  <a:srgbClr val="7D7168"/>
                </a:solidFill>
                <a:latin typeface="Jost"/>
              </a:rPr>
              <a:t>éléments existants V4 conservés à l'identique</a:t>
            </a:r>
          </a:p>
        </p:txBody>
      </p:sp>
      <p:sp>
        <p:nvSpPr>
          <p:cNvPr id="25" name="Rectangle 24"/>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7" name="TextBox 26"/>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Le projet</a:t>
            </a:r>
          </a:p>
        </p:txBody>
      </p:sp>
      <p:sp>
        <p:nvSpPr>
          <p:cNvPr id="28" name="TextBox 27"/>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Une salle de lecture fraîche en pied d'immeuble</a:t>
            </a:r>
          </a:p>
        </p:txBody>
      </p:sp>
      <p:sp>
        <p:nvSpPr>
          <p:cNvPr id="29" name="TextBox 28"/>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Esquisse V5 · existant V4 inchangé</a:t>
            </a:r>
          </a:p>
        </p:txBody>
      </p:sp>
      <p:cxnSp>
        <p:nvCxnSpPr>
          <p:cNvPr id="30" name="Connector 29"/>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SOMMAIRE</a:t>
            </a:r>
          </a:p>
        </p:txBody>
      </p:sp>
      <p:sp>
        <p:nvSpPr>
          <p:cNvPr id="32" name="TextBox 31"/>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Couverture</a:t>
            </a:r>
          </a:p>
        </p:txBody>
      </p:sp>
      <p:sp>
        <p:nvSpPr>
          <p:cNvPr id="33" name="TextBox 32"/>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01</a:t>
            </a:r>
          </a:p>
        </p:txBody>
      </p:sp>
      <p:sp>
        <p:nvSpPr>
          <p:cNvPr id="34" name="TextBox 33"/>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Le projet</a:t>
            </a:r>
          </a:p>
        </p:txBody>
      </p:sp>
      <p:sp>
        <p:nvSpPr>
          <p:cNvPr id="35" name="TextBox 34"/>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02</a:t>
            </a:r>
          </a:p>
        </p:txBody>
      </p:sp>
      <p:sp>
        <p:nvSpPr>
          <p:cNvPr id="36" name="TextBox 35"/>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Identité K&amp;Démi</a:t>
            </a:r>
          </a:p>
        </p:txBody>
      </p:sp>
      <p:sp>
        <p:nvSpPr>
          <p:cNvPr id="37" name="TextBox 36"/>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03</a:t>
            </a:r>
          </a:p>
        </p:txBody>
      </p:sp>
      <p:sp>
        <p:nvSpPr>
          <p:cNvPr id="38" name="TextBox 37"/>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D.A de la bibliothèque</a:t>
            </a:r>
          </a:p>
        </p:txBody>
      </p:sp>
      <p:sp>
        <p:nvSpPr>
          <p:cNvPr id="39" name="TextBox 38"/>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04</a:t>
            </a:r>
          </a:p>
        </p:txBody>
      </p:sp>
      <p:sp>
        <p:nvSpPr>
          <p:cNvPr id="40" name="TextBox 39"/>
          <p:cNvSpPr txBox="1"/>
          <p:nvPr/>
        </p:nvSpPr>
        <p:spPr>
          <a:xfrm>
            <a:off x="9468000" y="33263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A01 Plan du RDC, aménagement</a:t>
            </a:r>
          </a:p>
        </p:txBody>
      </p:sp>
      <p:sp>
        <p:nvSpPr>
          <p:cNvPr id="41" name="TextBox 40"/>
          <p:cNvSpPr txBox="1"/>
          <p:nvPr/>
        </p:nvSpPr>
        <p:spPr>
          <a:xfrm>
            <a:off x="13680000" y="33263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05</a:t>
            </a:r>
          </a:p>
        </p:txBody>
      </p:sp>
      <p:sp>
        <p:nvSpPr>
          <p:cNvPr id="42" name="TextBox 41"/>
          <p:cNvSpPr txBox="1"/>
          <p:nvPr/>
        </p:nvSpPr>
        <p:spPr>
          <a:xfrm>
            <a:off x="9468000" y="34811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A02 Faux-plafond et réseaux</a:t>
            </a:r>
          </a:p>
        </p:txBody>
      </p:sp>
      <p:sp>
        <p:nvSpPr>
          <p:cNvPr id="43" name="TextBox 42"/>
          <p:cNvSpPr txBox="1"/>
          <p:nvPr/>
        </p:nvSpPr>
        <p:spPr>
          <a:xfrm>
            <a:off x="13680000" y="34811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06</a:t>
            </a:r>
          </a:p>
        </p:txBody>
      </p:sp>
      <p:sp>
        <p:nvSpPr>
          <p:cNvPr id="44" name="TextBox 43"/>
          <p:cNvSpPr txBox="1"/>
          <p:nvPr/>
        </p:nvSpPr>
        <p:spPr>
          <a:xfrm>
            <a:off x="9468000" y="36359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A03 Coupe AA</a:t>
            </a:r>
          </a:p>
        </p:txBody>
      </p:sp>
      <p:sp>
        <p:nvSpPr>
          <p:cNvPr id="45" name="TextBox 44"/>
          <p:cNvSpPr txBox="1"/>
          <p:nvPr/>
        </p:nvSpPr>
        <p:spPr>
          <a:xfrm>
            <a:off x="13680000" y="36359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07</a:t>
            </a:r>
          </a:p>
        </p:txBody>
      </p:sp>
      <p:sp>
        <p:nvSpPr>
          <p:cNvPr id="46" name="TextBox 45"/>
          <p:cNvSpPr txBox="1"/>
          <p:nvPr/>
        </p:nvSpPr>
        <p:spPr>
          <a:xfrm>
            <a:off x="9468000" y="37907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A04 Élévation de la devanture</a:t>
            </a:r>
          </a:p>
        </p:txBody>
      </p:sp>
      <p:sp>
        <p:nvSpPr>
          <p:cNvPr id="47" name="TextBox 46"/>
          <p:cNvSpPr txBox="1"/>
          <p:nvPr/>
        </p:nvSpPr>
        <p:spPr>
          <a:xfrm>
            <a:off x="13680000" y="37907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08</a:t>
            </a:r>
          </a:p>
        </p:txBody>
      </p:sp>
      <p:sp>
        <p:nvSpPr>
          <p:cNvPr id="48" name="TextBox 47"/>
          <p:cNvSpPr txBox="1"/>
          <p:nvPr/>
        </p:nvSpPr>
        <p:spPr>
          <a:xfrm>
            <a:off x="9468000" y="39455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A05 Élévations intérieures Est, Nord</a:t>
            </a:r>
          </a:p>
        </p:txBody>
      </p:sp>
      <p:sp>
        <p:nvSpPr>
          <p:cNvPr id="49" name="TextBox 48"/>
          <p:cNvSpPr txBox="1"/>
          <p:nvPr/>
        </p:nvSpPr>
        <p:spPr>
          <a:xfrm>
            <a:off x="13680000" y="39455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09</a:t>
            </a:r>
          </a:p>
        </p:txBody>
      </p:sp>
      <p:sp>
        <p:nvSpPr>
          <p:cNvPr id="50" name="TextBox 49"/>
          <p:cNvSpPr txBox="1"/>
          <p:nvPr/>
        </p:nvSpPr>
        <p:spPr>
          <a:xfrm>
            <a:off x="9468000" y="41003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A06 Élévations intérieures Sud, Ouest</a:t>
            </a:r>
          </a:p>
        </p:txBody>
      </p:sp>
      <p:sp>
        <p:nvSpPr>
          <p:cNvPr id="51" name="TextBox 50"/>
          <p:cNvSpPr txBox="1"/>
          <p:nvPr/>
        </p:nvSpPr>
        <p:spPr>
          <a:xfrm>
            <a:off x="13680000" y="41003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10</a:t>
            </a:r>
          </a:p>
        </p:txBody>
      </p:sp>
      <p:sp>
        <p:nvSpPr>
          <p:cNvPr id="52" name="TextBox 51"/>
          <p:cNvSpPr txBox="1"/>
          <p:nvPr/>
        </p:nvSpPr>
        <p:spPr>
          <a:xfrm>
            <a:off x="9468000" y="42551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A07 Vues 3D de la maquette</a:t>
            </a:r>
          </a:p>
        </p:txBody>
      </p:sp>
      <p:sp>
        <p:nvSpPr>
          <p:cNvPr id="53" name="TextBox 52"/>
          <p:cNvSpPr txBox="1"/>
          <p:nvPr/>
        </p:nvSpPr>
        <p:spPr>
          <a:xfrm>
            <a:off x="13680000" y="42551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11</a:t>
            </a:r>
          </a:p>
        </p:txBody>
      </p:sp>
      <p:sp>
        <p:nvSpPr>
          <p:cNvPr id="54" name="TextBox 53"/>
          <p:cNvSpPr txBox="1"/>
          <p:nvPr/>
        </p:nvSpPr>
        <p:spPr>
          <a:xfrm>
            <a:off x="9468000" y="44099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A08 Axonométries</a:t>
            </a:r>
          </a:p>
        </p:txBody>
      </p:sp>
      <p:sp>
        <p:nvSpPr>
          <p:cNvPr id="55" name="TextBox 54"/>
          <p:cNvSpPr txBox="1"/>
          <p:nvPr/>
        </p:nvSpPr>
        <p:spPr>
          <a:xfrm>
            <a:off x="13680000" y="44099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12</a:t>
            </a:r>
          </a:p>
        </p:txBody>
      </p:sp>
      <p:sp>
        <p:nvSpPr>
          <p:cNvPr id="56" name="TextBox 55"/>
          <p:cNvSpPr txBox="1"/>
          <p:nvPr/>
        </p:nvSpPr>
        <p:spPr>
          <a:xfrm>
            <a:off x="9468000" y="45647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R1 Rendu de la devanture</a:t>
            </a:r>
          </a:p>
        </p:txBody>
      </p:sp>
      <p:sp>
        <p:nvSpPr>
          <p:cNvPr id="57" name="TextBox 56"/>
          <p:cNvSpPr txBox="1"/>
          <p:nvPr/>
        </p:nvSpPr>
        <p:spPr>
          <a:xfrm>
            <a:off x="13680000" y="45647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13</a:t>
            </a:r>
          </a:p>
        </p:txBody>
      </p:sp>
      <p:sp>
        <p:nvSpPr>
          <p:cNvPr id="58" name="TextBox 57"/>
          <p:cNvSpPr txBox="1"/>
          <p:nvPr/>
        </p:nvSpPr>
        <p:spPr>
          <a:xfrm>
            <a:off x="9468000" y="47195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R2 Rendus intérieurs</a:t>
            </a:r>
          </a:p>
        </p:txBody>
      </p:sp>
      <p:sp>
        <p:nvSpPr>
          <p:cNvPr id="59" name="TextBox 58"/>
          <p:cNvSpPr txBox="1"/>
          <p:nvPr/>
        </p:nvSpPr>
        <p:spPr>
          <a:xfrm>
            <a:off x="13680000" y="47195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14</a:t>
            </a:r>
          </a:p>
        </p:txBody>
      </p:sp>
      <p:sp>
        <p:nvSpPr>
          <p:cNvPr id="60" name="TextBox 59"/>
          <p:cNvSpPr txBox="1"/>
          <p:nvPr/>
        </p:nvSpPr>
        <p:spPr>
          <a:xfrm>
            <a:off x="9468000" y="4874399"/>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R3 L'arbre à livres</a:t>
            </a:r>
          </a:p>
        </p:txBody>
      </p:sp>
      <p:sp>
        <p:nvSpPr>
          <p:cNvPr id="61" name="TextBox 60"/>
          <p:cNvSpPr txBox="1"/>
          <p:nvPr/>
        </p:nvSpPr>
        <p:spPr>
          <a:xfrm>
            <a:off x="13680000" y="4874399"/>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15</a:t>
            </a:r>
          </a:p>
        </p:txBody>
      </p:sp>
      <p:sp>
        <p:nvSpPr>
          <p:cNvPr id="62" name="TextBox 61"/>
          <p:cNvSpPr txBox="1"/>
          <p:nvPr/>
        </p:nvSpPr>
        <p:spPr>
          <a:xfrm>
            <a:off x="9468000" y="5029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T01 Courants forts</a:t>
            </a:r>
          </a:p>
        </p:txBody>
      </p:sp>
      <p:sp>
        <p:nvSpPr>
          <p:cNvPr id="63" name="TextBox 62"/>
          <p:cNvSpPr txBox="1"/>
          <p:nvPr/>
        </p:nvSpPr>
        <p:spPr>
          <a:xfrm>
            <a:off x="13680000" y="5029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16</a:t>
            </a:r>
          </a:p>
        </p:txBody>
      </p:sp>
      <p:sp>
        <p:nvSpPr>
          <p:cNvPr id="64" name="TextBox 63"/>
          <p:cNvSpPr txBox="1"/>
          <p:nvPr/>
        </p:nvSpPr>
        <p:spPr>
          <a:xfrm>
            <a:off x="9468000" y="51840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T02 Courants faibles et éclairage</a:t>
            </a:r>
          </a:p>
        </p:txBody>
      </p:sp>
      <p:sp>
        <p:nvSpPr>
          <p:cNvPr id="65" name="TextBox 64"/>
          <p:cNvSpPr txBox="1"/>
          <p:nvPr/>
        </p:nvSpPr>
        <p:spPr>
          <a:xfrm>
            <a:off x="13680000" y="51840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17</a:t>
            </a:r>
          </a:p>
        </p:txBody>
      </p:sp>
      <p:sp>
        <p:nvSpPr>
          <p:cNvPr id="66" name="TextBox 65"/>
          <p:cNvSpPr txBox="1"/>
          <p:nvPr/>
        </p:nvSpPr>
        <p:spPr>
          <a:xfrm>
            <a:off x="9468000" y="53388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T03 Plomberie AEP, EU, EV</a:t>
            </a:r>
          </a:p>
        </p:txBody>
      </p:sp>
      <p:sp>
        <p:nvSpPr>
          <p:cNvPr id="67" name="TextBox 66"/>
          <p:cNvSpPr txBox="1"/>
          <p:nvPr/>
        </p:nvSpPr>
        <p:spPr>
          <a:xfrm>
            <a:off x="13680000" y="53388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18</a:t>
            </a:r>
          </a:p>
        </p:txBody>
      </p:sp>
      <p:sp>
        <p:nvSpPr>
          <p:cNvPr id="68" name="TextBox 67"/>
          <p:cNvSpPr txBox="1"/>
          <p:nvPr/>
        </p:nvSpPr>
        <p:spPr>
          <a:xfrm>
            <a:off x="9468000" y="54936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T04 Détails techniques</a:t>
            </a:r>
          </a:p>
        </p:txBody>
      </p:sp>
      <p:sp>
        <p:nvSpPr>
          <p:cNvPr id="69" name="TextBox 68"/>
          <p:cNvSpPr txBox="1"/>
          <p:nvPr/>
        </p:nvSpPr>
        <p:spPr>
          <a:xfrm>
            <a:off x="13680000" y="54936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19</a:t>
            </a:r>
          </a:p>
        </p:txBody>
      </p:sp>
      <p:sp>
        <p:nvSpPr>
          <p:cNvPr id="70" name="TextBox 69"/>
          <p:cNvSpPr txBox="1"/>
          <p:nvPr/>
        </p:nvSpPr>
        <p:spPr>
          <a:xfrm>
            <a:off x="9468000" y="56484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T05 Unifilaire et bilan de puissance</a:t>
            </a:r>
          </a:p>
        </p:txBody>
      </p:sp>
      <p:sp>
        <p:nvSpPr>
          <p:cNvPr id="71" name="TextBox 70"/>
          <p:cNvSpPr txBox="1"/>
          <p:nvPr/>
        </p:nvSpPr>
        <p:spPr>
          <a:xfrm>
            <a:off x="13680000" y="56484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20</a:t>
            </a:r>
          </a:p>
        </p:txBody>
      </p:sp>
      <p:sp>
        <p:nvSpPr>
          <p:cNvPr id="72" name="TextBox 71"/>
          <p:cNvSpPr txBox="1"/>
          <p:nvPr/>
        </p:nvSpPr>
        <p:spPr>
          <a:xfrm>
            <a:off x="9468000" y="5803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Cohérence et points ouverts</a:t>
            </a:r>
          </a:p>
        </p:txBody>
      </p:sp>
      <p:sp>
        <p:nvSpPr>
          <p:cNvPr id="73" name="TextBox 72"/>
          <p:cNvSpPr txBox="1"/>
          <p:nvPr/>
        </p:nvSpPr>
        <p:spPr>
          <a:xfrm>
            <a:off x="13680000" y="5803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21</a:t>
            </a:r>
          </a:p>
        </p:txBody>
      </p:sp>
      <p:sp>
        <p:nvSpPr>
          <p:cNvPr id="74" name="TextBox 73"/>
          <p:cNvSpPr txBox="1"/>
          <p:nvPr/>
        </p:nvSpPr>
        <p:spPr>
          <a:xfrm>
            <a:off x="9468000" y="608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ESPACES (IFCSPACE DE LA MAQUETTE)</a:t>
            </a:r>
          </a:p>
        </p:txBody>
      </p:sp>
      <p:sp>
        <p:nvSpPr>
          <p:cNvPr id="75" name="TextBox 74"/>
          <p:cNvSpPr txBox="1"/>
          <p:nvPr/>
        </p:nvSpPr>
        <p:spPr>
          <a:xfrm>
            <a:off x="9468000" y="6271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01 Salle de lecture</a:t>
            </a:r>
          </a:p>
        </p:txBody>
      </p:sp>
      <p:sp>
        <p:nvSpPr>
          <p:cNvPr id="76" name="TextBox 75"/>
          <p:cNvSpPr txBox="1"/>
          <p:nvPr/>
        </p:nvSpPr>
        <p:spPr>
          <a:xfrm>
            <a:off x="13680000" y="6271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24,07 m²</a:t>
            </a:r>
          </a:p>
        </p:txBody>
      </p:sp>
      <p:sp>
        <p:nvSpPr>
          <p:cNvPr id="77" name="TextBox 76"/>
          <p:cNvSpPr txBox="1"/>
          <p:nvPr/>
        </p:nvSpPr>
        <p:spPr>
          <a:xfrm>
            <a:off x="9468000" y="64260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02 Coin lecture, vitrine</a:t>
            </a:r>
          </a:p>
        </p:txBody>
      </p:sp>
      <p:sp>
        <p:nvSpPr>
          <p:cNvPr id="78" name="TextBox 77"/>
          <p:cNvSpPr txBox="1"/>
          <p:nvPr/>
        </p:nvSpPr>
        <p:spPr>
          <a:xfrm>
            <a:off x="13680000" y="64260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6,68 m²</a:t>
            </a:r>
          </a:p>
        </p:txBody>
      </p:sp>
      <p:sp>
        <p:nvSpPr>
          <p:cNvPr id="79" name="TextBox 78"/>
          <p:cNvSpPr txBox="1"/>
          <p:nvPr/>
        </p:nvSpPr>
        <p:spPr>
          <a:xfrm>
            <a:off x="9468000" y="65808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03 Salle de réunion</a:t>
            </a:r>
          </a:p>
        </p:txBody>
      </p:sp>
      <p:sp>
        <p:nvSpPr>
          <p:cNvPr id="80" name="TextBox 79"/>
          <p:cNvSpPr txBox="1"/>
          <p:nvPr/>
        </p:nvSpPr>
        <p:spPr>
          <a:xfrm>
            <a:off x="13680000" y="65808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7,21 m²</a:t>
            </a:r>
          </a:p>
        </p:txBody>
      </p:sp>
      <p:sp>
        <p:nvSpPr>
          <p:cNvPr id="81" name="TextBox 80"/>
          <p:cNvSpPr txBox="1"/>
          <p:nvPr/>
        </p:nvSpPr>
        <p:spPr>
          <a:xfrm>
            <a:off x="9468000" y="67356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04 Rangement</a:t>
            </a:r>
          </a:p>
        </p:txBody>
      </p:sp>
      <p:sp>
        <p:nvSpPr>
          <p:cNvPr id="82" name="TextBox 81"/>
          <p:cNvSpPr txBox="1"/>
          <p:nvPr/>
        </p:nvSpPr>
        <p:spPr>
          <a:xfrm>
            <a:off x="13680000" y="67356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1,37 m²</a:t>
            </a:r>
          </a:p>
        </p:txBody>
      </p:sp>
      <p:sp>
        <p:nvSpPr>
          <p:cNvPr id="83" name="TextBox 82"/>
          <p:cNvSpPr txBox="1"/>
          <p:nvPr/>
        </p:nvSpPr>
        <p:spPr>
          <a:xfrm>
            <a:off x="9468000" y="68904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05 Placard technique</a:t>
            </a:r>
          </a:p>
        </p:txBody>
      </p:sp>
      <p:sp>
        <p:nvSpPr>
          <p:cNvPr id="84" name="TextBox 83"/>
          <p:cNvSpPr txBox="1"/>
          <p:nvPr/>
        </p:nvSpPr>
        <p:spPr>
          <a:xfrm>
            <a:off x="13680000" y="68904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0,24 m²</a:t>
            </a:r>
          </a:p>
        </p:txBody>
      </p:sp>
      <p:sp>
        <p:nvSpPr>
          <p:cNvPr id="85" name="TextBox 84"/>
          <p:cNvSpPr txBox="1"/>
          <p:nvPr/>
        </p:nvSpPr>
        <p:spPr>
          <a:xfrm>
            <a:off x="9468000" y="7045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06 Dégagement</a:t>
            </a:r>
          </a:p>
        </p:txBody>
      </p:sp>
      <p:sp>
        <p:nvSpPr>
          <p:cNvPr id="86" name="TextBox 85"/>
          <p:cNvSpPr txBox="1"/>
          <p:nvPr/>
        </p:nvSpPr>
        <p:spPr>
          <a:xfrm>
            <a:off x="13680000" y="7045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1,11 m²</a:t>
            </a:r>
          </a:p>
        </p:txBody>
      </p:sp>
      <p:sp>
        <p:nvSpPr>
          <p:cNvPr id="87" name="TextBox 86"/>
          <p:cNvSpPr txBox="1"/>
          <p:nvPr/>
        </p:nvSpPr>
        <p:spPr>
          <a:xfrm>
            <a:off x="9468000" y="72000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07 WC</a:t>
            </a:r>
          </a:p>
        </p:txBody>
      </p:sp>
      <p:sp>
        <p:nvSpPr>
          <p:cNvPr id="88" name="TextBox 87"/>
          <p:cNvSpPr txBox="1"/>
          <p:nvPr/>
        </p:nvSpPr>
        <p:spPr>
          <a:xfrm>
            <a:off x="13680000" y="72000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2,87 m²</a:t>
            </a:r>
          </a:p>
        </p:txBody>
      </p:sp>
      <p:sp>
        <p:nvSpPr>
          <p:cNvPr id="89" name="TextBox 88"/>
          <p:cNvSpPr txBox="1"/>
          <p:nvPr/>
        </p:nvSpPr>
        <p:spPr>
          <a:xfrm>
            <a:off x="9468000" y="73548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Total intérieur</a:t>
            </a:r>
          </a:p>
        </p:txBody>
      </p:sp>
      <p:sp>
        <p:nvSpPr>
          <p:cNvPr id="90" name="TextBox 89"/>
          <p:cNvSpPr txBox="1"/>
          <p:nvPr/>
        </p:nvSpPr>
        <p:spPr>
          <a:xfrm>
            <a:off x="13680000" y="73548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43,55 m²</a:t>
            </a:r>
          </a:p>
        </p:txBody>
      </p:sp>
      <p:sp>
        <p:nvSpPr>
          <p:cNvPr id="91" name="TextBox 90"/>
          <p:cNvSpPr txBox="1"/>
          <p:nvPr/>
        </p:nvSpPr>
        <p:spPr>
          <a:xfrm>
            <a:off x="9468000" y="75096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08 Terrasse couverte</a:t>
            </a:r>
          </a:p>
        </p:txBody>
      </p:sp>
      <p:sp>
        <p:nvSpPr>
          <p:cNvPr id="92" name="TextBox 91"/>
          <p:cNvSpPr txBox="1"/>
          <p:nvPr/>
        </p:nvSpPr>
        <p:spPr>
          <a:xfrm>
            <a:off x="13680000" y="75096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15,74 m²</a:t>
            </a:r>
          </a:p>
        </p:txBody>
      </p:sp>
      <p:cxnSp>
        <p:nvCxnSpPr>
          <p:cNvPr id="93" name="Connector 92"/>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95" name="TextBox 94"/>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96" name="TextBox 95"/>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97" name="TextBox 96"/>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98" name="TextBox 97"/>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99" name="TextBox 98"/>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02 · Le projet</a:t>
            </a:r>
          </a:p>
        </p:txBody>
      </p:sp>
      <p:sp>
        <p:nvSpPr>
          <p:cNvPr id="100" name="TextBox 99"/>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101" name="TextBox 100"/>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102" name="TextBox 101"/>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103" name="TextBox 102"/>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104" name="TextBox 103"/>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105" name="TextBox 104"/>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106" name="TextBox 105"/>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107" name="TextBox 106"/>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02 · ESQ V5 · Octobre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sp>
        <p:nvSpPr>
          <p:cNvPr id="2" name="Rectangle 1"/>
          <p:cNvSpPr/>
          <p:nvPr/>
        </p:nvSpPr>
        <p:spPr>
          <a:xfrm>
            <a:off x="504000" y="504000"/>
            <a:ext cx="8172000" cy="403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Demi_v3_A_arche_lockup.png"/>
          <p:cNvPicPr>
            <a:picLocks noChangeAspect="1"/>
          </p:cNvPicPr>
          <p:nvPr/>
        </p:nvPicPr>
        <p:blipFill>
          <a:blip r:embed="rId2"/>
          <a:stretch>
            <a:fillRect/>
          </a:stretch>
        </p:blipFill>
        <p:spPr>
          <a:xfrm>
            <a:off x="2466000" y="1799609"/>
            <a:ext cx="4248000" cy="1440780"/>
          </a:xfrm>
          <a:prstGeom prst="rect">
            <a:avLst/>
          </a:prstGeom>
        </p:spPr>
      </p:pic>
      <p:sp>
        <p:nvSpPr>
          <p:cNvPr id="4" name="TextBox 3"/>
          <p:cNvSpPr txBox="1"/>
          <p:nvPr/>
        </p:nvSpPr>
        <p:spPr>
          <a:xfrm>
            <a:off x="504000" y="4680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Version principale : encre sur blanc chaux, « &amp; » en terre cuite. Zone de protection : la moitié de la hauteur du carré tout autour.</a:t>
            </a:r>
          </a:p>
        </p:txBody>
      </p:sp>
      <p:sp>
        <p:nvSpPr>
          <p:cNvPr id="5" name="Rectangle 4"/>
          <p:cNvSpPr/>
          <p:nvPr/>
        </p:nvSpPr>
        <p:spPr>
          <a:xfrm>
            <a:off x="504000" y="5112000"/>
            <a:ext cx="864000" cy="1080000"/>
          </a:xfrm>
          <a:prstGeom prst="rect">
            <a:avLst/>
          </a:prstGeom>
          <a:solidFill>
            <a:srgbClr val="2B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4000" y="6300000"/>
            <a:ext cx="864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Encre</a:t>
            </a:r>
          </a:p>
        </p:txBody>
      </p:sp>
      <p:sp>
        <p:nvSpPr>
          <p:cNvPr id="7" name="TextBox 6"/>
          <p:cNvSpPr txBox="1"/>
          <p:nvPr/>
        </p:nvSpPr>
        <p:spPr>
          <a:xfrm>
            <a:off x="504000" y="6451200"/>
            <a:ext cx="864000" cy="150520"/>
          </a:xfrm>
          <a:prstGeom prst="rect">
            <a:avLst/>
          </a:prstGeom>
          <a:noFill/>
        </p:spPr>
        <p:txBody>
          <a:bodyPr wrap="square" lIns="0" rIns="0" tIns="0" bIns="0" anchor="t">
            <a:spAutoFit/>
          </a:bodyPr>
          <a:lstStyle/>
          <a:p>
            <a:pPr algn="l">
              <a:lnSpc>
                <a:spcPts val="760"/>
              </a:lnSpc>
            </a:pPr>
            <a:r>
              <a:rPr sz="620">
                <a:solidFill>
                  <a:srgbClr val="7D7168"/>
                </a:solidFill>
                <a:latin typeface="Jost"/>
              </a:rPr>
              <a:t>#2B2420 · texte, traits</a:t>
            </a:r>
          </a:p>
        </p:txBody>
      </p:sp>
      <p:sp>
        <p:nvSpPr>
          <p:cNvPr id="8" name="Rectangle 7"/>
          <p:cNvSpPr/>
          <p:nvPr/>
        </p:nvSpPr>
        <p:spPr>
          <a:xfrm>
            <a:off x="1548000" y="5112000"/>
            <a:ext cx="864000" cy="1080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48000" y="6300000"/>
            <a:ext cx="864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Terre cuite</a:t>
            </a:r>
          </a:p>
        </p:txBody>
      </p:sp>
      <p:sp>
        <p:nvSpPr>
          <p:cNvPr id="10" name="TextBox 9"/>
          <p:cNvSpPr txBox="1"/>
          <p:nvPr/>
        </p:nvSpPr>
        <p:spPr>
          <a:xfrm>
            <a:off x="1548000" y="6451200"/>
            <a:ext cx="864000" cy="150520"/>
          </a:xfrm>
          <a:prstGeom prst="rect">
            <a:avLst/>
          </a:prstGeom>
          <a:noFill/>
        </p:spPr>
        <p:txBody>
          <a:bodyPr wrap="square" lIns="0" rIns="0" tIns="0" bIns="0" anchor="t">
            <a:spAutoFit/>
          </a:bodyPr>
          <a:lstStyle/>
          <a:p>
            <a:pPr algn="l">
              <a:lnSpc>
                <a:spcPts val="760"/>
              </a:lnSpc>
            </a:pPr>
            <a:r>
              <a:rPr sz="620">
                <a:solidFill>
                  <a:srgbClr val="7D7168"/>
                </a:solidFill>
                <a:latin typeface="Jost"/>
              </a:rPr>
              <a:t>#B4583E · signature</a:t>
            </a:r>
          </a:p>
        </p:txBody>
      </p:sp>
      <p:sp>
        <p:nvSpPr>
          <p:cNvPr id="11" name="Rectangle 10"/>
          <p:cNvSpPr/>
          <p:nvPr/>
        </p:nvSpPr>
        <p:spPr>
          <a:xfrm>
            <a:off x="2592000" y="5112000"/>
            <a:ext cx="864000" cy="1080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2000" y="6300000"/>
            <a:ext cx="864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Iroko</a:t>
            </a:r>
          </a:p>
        </p:txBody>
      </p:sp>
      <p:sp>
        <p:nvSpPr>
          <p:cNvPr id="13" name="TextBox 12"/>
          <p:cNvSpPr txBox="1"/>
          <p:nvPr/>
        </p:nvSpPr>
        <p:spPr>
          <a:xfrm>
            <a:off x="2592000" y="6451200"/>
            <a:ext cx="864000" cy="150520"/>
          </a:xfrm>
          <a:prstGeom prst="rect">
            <a:avLst/>
          </a:prstGeom>
          <a:noFill/>
        </p:spPr>
        <p:txBody>
          <a:bodyPr wrap="square" lIns="0" rIns="0" tIns="0" bIns="0" anchor="t">
            <a:spAutoFit/>
          </a:bodyPr>
          <a:lstStyle/>
          <a:p>
            <a:pPr algn="l">
              <a:lnSpc>
                <a:spcPts val="760"/>
              </a:lnSpc>
            </a:pPr>
            <a:r>
              <a:rPr sz="620">
                <a:solidFill>
                  <a:srgbClr val="7D7168"/>
                </a:solidFill>
                <a:latin typeface="Jost"/>
              </a:rPr>
              <a:t>#9A6B43 · bois, repères</a:t>
            </a:r>
          </a:p>
        </p:txBody>
      </p:sp>
      <p:sp>
        <p:nvSpPr>
          <p:cNvPr id="14" name="Rectangle 13"/>
          <p:cNvSpPr/>
          <p:nvPr/>
        </p:nvSpPr>
        <p:spPr>
          <a:xfrm>
            <a:off x="3636000" y="5112000"/>
            <a:ext cx="864000" cy="1080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6000" y="6300000"/>
            <a:ext cx="864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Sable</a:t>
            </a:r>
          </a:p>
        </p:txBody>
      </p:sp>
      <p:sp>
        <p:nvSpPr>
          <p:cNvPr id="16" name="TextBox 15"/>
          <p:cNvSpPr txBox="1"/>
          <p:nvPr/>
        </p:nvSpPr>
        <p:spPr>
          <a:xfrm>
            <a:off x="3636000" y="6451200"/>
            <a:ext cx="864000" cy="150520"/>
          </a:xfrm>
          <a:prstGeom prst="rect">
            <a:avLst/>
          </a:prstGeom>
          <a:noFill/>
        </p:spPr>
        <p:txBody>
          <a:bodyPr wrap="square" lIns="0" rIns="0" tIns="0" bIns="0" anchor="t">
            <a:spAutoFit/>
          </a:bodyPr>
          <a:lstStyle/>
          <a:p>
            <a:pPr algn="l">
              <a:lnSpc>
                <a:spcPts val="760"/>
              </a:lnSpc>
            </a:pPr>
            <a:r>
              <a:rPr sz="620">
                <a:solidFill>
                  <a:srgbClr val="7D7168"/>
                </a:solidFill>
                <a:latin typeface="Jost"/>
              </a:rPr>
              <a:t>#E6D6BF · aplats</a:t>
            </a:r>
          </a:p>
        </p:txBody>
      </p:sp>
      <p:sp>
        <p:nvSpPr>
          <p:cNvPr id="17" name="Rectangle 16"/>
          <p:cNvSpPr/>
          <p:nvPr/>
        </p:nvSpPr>
        <p:spPr>
          <a:xfrm>
            <a:off x="4680000" y="5112000"/>
            <a:ext cx="864000" cy="1080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4680000" y="5112000"/>
            <a:ext cx="864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80000" y="6192000"/>
            <a:ext cx="864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80000" y="5112000"/>
            <a:ext cx="0" cy="108000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544000" y="5112000"/>
            <a:ext cx="0" cy="108000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680000" y="6300000"/>
            <a:ext cx="864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Sable clair</a:t>
            </a:r>
          </a:p>
        </p:txBody>
      </p:sp>
      <p:sp>
        <p:nvSpPr>
          <p:cNvPr id="23" name="TextBox 22"/>
          <p:cNvSpPr txBox="1"/>
          <p:nvPr/>
        </p:nvSpPr>
        <p:spPr>
          <a:xfrm>
            <a:off x="4680000" y="6451200"/>
            <a:ext cx="864000" cy="150520"/>
          </a:xfrm>
          <a:prstGeom prst="rect">
            <a:avLst/>
          </a:prstGeom>
          <a:noFill/>
        </p:spPr>
        <p:txBody>
          <a:bodyPr wrap="square" lIns="0" rIns="0" tIns="0" bIns="0" anchor="t">
            <a:spAutoFit/>
          </a:bodyPr>
          <a:lstStyle/>
          <a:p>
            <a:pPr algn="l">
              <a:lnSpc>
                <a:spcPts val="760"/>
              </a:lnSpc>
            </a:pPr>
            <a:r>
              <a:rPr sz="620">
                <a:solidFill>
                  <a:srgbClr val="7D7168"/>
                </a:solidFill>
                <a:latin typeface="Jost"/>
              </a:rPr>
              <a:t>#F4EDE2 · fonds</a:t>
            </a:r>
          </a:p>
        </p:txBody>
      </p:sp>
      <p:sp>
        <p:nvSpPr>
          <p:cNvPr id="24" name="Rectangle 23"/>
          <p:cNvSpPr/>
          <p:nvPr/>
        </p:nvSpPr>
        <p:spPr>
          <a:xfrm>
            <a:off x="5724000" y="5112000"/>
            <a:ext cx="864000" cy="1080000"/>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5724000" y="5112000"/>
            <a:ext cx="864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724000" y="6192000"/>
            <a:ext cx="864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724000" y="5112000"/>
            <a:ext cx="0" cy="108000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588000" y="5112000"/>
            <a:ext cx="0" cy="108000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724000" y="6300000"/>
            <a:ext cx="864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Blanc chaux</a:t>
            </a:r>
          </a:p>
        </p:txBody>
      </p:sp>
      <p:sp>
        <p:nvSpPr>
          <p:cNvPr id="30" name="TextBox 29"/>
          <p:cNvSpPr txBox="1"/>
          <p:nvPr/>
        </p:nvSpPr>
        <p:spPr>
          <a:xfrm>
            <a:off x="5724000" y="6451200"/>
            <a:ext cx="864000" cy="150520"/>
          </a:xfrm>
          <a:prstGeom prst="rect">
            <a:avLst/>
          </a:prstGeom>
          <a:noFill/>
        </p:spPr>
        <p:txBody>
          <a:bodyPr wrap="square" lIns="0" rIns="0" tIns="0" bIns="0" anchor="t">
            <a:spAutoFit/>
          </a:bodyPr>
          <a:lstStyle/>
          <a:p>
            <a:pPr algn="l">
              <a:lnSpc>
                <a:spcPts val="760"/>
              </a:lnSpc>
            </a:pPr>
            <a:r>
              <a:rPr sz="620">
                <a:solidFill>
                  <a:srgbClr val="7D7168"/>
                </a:solidFill>
                <a:latin typeface="Jost"/>
              </a:rPr>
              <a:t>#FBF8F3 · page</a:t>
            </a:r>
          </a:p>
        </p:txBody>
      </p:sp>
      <p:sp>
        <p:nvSpPr>
          <p:cNvPr id="31" name="Rectangle 30"/>
          <p:cNvSpPr/>
          <p:nvPr/>
        </p:nvSpPr>
        <p:spPr>
          <a:xfrm>
            <a:off x="6768000" y="5112000"/>
            <a:ext cx="864000" cy="1080000"/>
          </a:xfrm>
          <a:prstGeom prst="rect">
            <a:avLst/>
          </a:prstGeom>
          <a:solidFill>
            <a:srgbClr val="7D7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8000" y="6300000"/>
            <a:ext cx="864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Taupe</a:t>
            </a:r>
          </a:p>
        </p:txBody>
      </p:sp>
      <p:sp>
        <p:nvSpPr>
          <p:cNvPr id="33" name="TextBox 32"/>
          <p:cNvSpPr txBox="1"/>
          <p:nvPr/>
        </p:nvSpPr>
        <p:spPr>
          <a:xfrm>
            <a:off x="6768000" y="6451200"/>
            <a:ext cx="864000" cy="150520"/>
          </a:xfrm>
          <a:prstGeom prst="rect">
            <a:avLst/>
          </a:prstGeom>
          <a:noFill/>
        </p:spPr>
        <p:txBody>
          <a:bodyPr wrap="square" lIns="0" rIns="0" tIns="0" bIns="0" anchor="t">
            <a:spAutoFit/>
          </a:bodyPr>
          <a:lstStyle/>
          <a:p>
            <a:pPr algn="l">
              <a:lnSpc>
                <a:spcPts val="760"/>
              </a:lnSpc>
            </a:pPr>
            <a:r>
              <a:rPr sz="620">
                <a:solidFill>
                  <a:srgbClr val="7D7168"/>
                </a:solidFill>
                <a:latin typeface="Jost"/>
              </a:rPr>
              <a:t>#7D7168 · texte 2</a:t>
            </a:r>
          </a:p>
        </p:txBody>
      </p:sp>
      <p:sp>
        <p:nvSpPr>
          <p:cNvPr id="34" name="Rectangle 33"/>
          <p:cNvSpPr/>
          <p:nvPr/>
        </p:nvSpPr>
        <p:spPr>
          <a:xfrm>
            <a:off x="7812000" y="5112000"/>
            <a:ext cx="864000" cy="1080000"/>
          </a:xfrm>
          <a:prstGeom prst="rect">
            <a:avLst/>
          </a:prstGeom>
          <a:solidFill>
            <a:srgbClr val="5F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12000" y="6300000"/>
            <a:ext cx="864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Olive</a:t>
            </a:r>
          </a:p>
        </p:txBody>
      </p:sp>
      <p:sp>
        <p:nvSpPr>
          <p:cNvPr id="36" name="TextBox 35"/>
          <p:cNvSpPr txBox="1"/>
          <p:nvPr/>
        </p:nvSpPr>
        <p:spPr>
          <a:xfrm>
            <a:off x="7812000" y="6451200"/>
            <a:ext cx="864000" cy="150520"/>
          </a:xfrm>
          <a:prstGeom prst="rect">
            <a:avLst/>
          </a:prstGeom>
          <a:noFill/>
        </p:spPr>
        <p:txBody>
          <a:bodyPr wrap="square" lIns="0" rIns="0" tIns="0" bIns="0" anchor="t">
            <a:spAutoFit/>
          </a:bodyPr>
          <a:lstStyle/>
          <a:p>
            <a:pPr algn="l">
              <a:lnSpc>
                <a:spcPts val="760"/>
              </a:lnSpc>
            </a:pPr>
            <a:r>
              <a:rPr sz="620">
                <a:solidFill>
                  <a:srgbClr val="7D7168"/>
                </a:solidFill>
                <a:latin typeface="Jost"/>
              </a:rPr>
              <a:t>#5F7A4B · végétal, rare</a:t>
            </a:r>
          </a:p>
        </p:txBody>
      </p:sp>
      <p:cxnSp>
        <p:nvCxnSpPr>
          <p:cNvPr id="37" name="Connector 36"/>
          <p:cNvCxnSpPr/>
          <p:nvPr/>
        </p:nvCxnSpPr>
        <p:spPr>
          <a:xfrm>
            <a:off x="504000" y="6984000"/>
            <a:ext cx="3996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7128000"/>
            <a:ext cx="3996000" cy="409599"/>
          </a:xfrm>
          <a:prstGeom prst="rect">
            <a:avLst/>
          </a:prstGeom>
          <a:noFill/>
        </p:spPr>
        <p:txBody>
          <a:bodyPr wrap="square" lIns="0" rIns="0" tIns="0" bIns="0" anchor="t">
            <a:spAutoFit/>
          </a:bodyPr>
          <a:lstStyle/>
          <a:p>
            <a:pPr algn="l">
              <a:lnSpc>
                <a:spcPts val="2800"/>
              </a:lnSpc>
            </a:pPr>
            <a:r>
              <a:rPr sz="2400">
                <a:solidFill>
                  <a:srgbClr val="2B2420"/>
                </a:solidFill>
                <a:latin typeface="DM Serif Display"/>
              </a:rPr>
              <a:t>DM Serif Display</a:t>
            </a:r>
          </a:p>
        </p:txBody>
      </p:sp>
      <p:sp>
        <p:nvSpPr>
          <p:cNvPr id="39" name="TextBox 38"/>
          <p:cNvSpPr txBox="1"/>
          <p:nvPr/>
        </p:nvSpPr>
        <p:spPr>
          <a:xfrm>
            <a:off x="504000" y="7560000"/>
            <a:ext cx="3996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Titres, chiffres clés, 18 à 36 pt</a:t>
            </a:r>
          </a:p>
        </p:txBody>
      </p:sp>
      <p:sp>
        <p:nvSpPr>
          <p:cNvPr id="40" name="TextBox 39"/>
          <p:cNvSpPr txBox="1"/>
          <p:nvPr/>
        </p:nvSpPr>
        <p:spPr>
          <a:xfrm>
            <a:off x="504000" y="7992000"/>
            <a:ext cx="3996000" cy="409599"/>
          </a:xfrm>
          <a:prstGeom prst="rect">
            <a:avLst/>
          </a:prstGeom>
          <a:noFill/>
        </p:spPr>
        <p:txBody>
          <a:bodyPr wrap="square" lIns="0" rIns="0" tIns="0" bIns="0" anchor="t">
            <a:spAutoFit/>
          </a:bodyPr>
          <a:lstStyle/>
          <a:p>
            <a:pPr algn="l">
              <a:lnSpc>
                <a:spcPts val="2800"/>
              </a:lnSpc>
            </a:pPr>
            <a:r>
              <a:rPr sz="2200">
                <a:solidFill>
                  <a:srgbClr val="2B2420"/>
                </a:solidFill>
                <a:latin typeface="Jost"/>
              </a:rPr>
              <a:t>Jost</a:t>
            </a:r>
          </a:p>
        </p:txBody>
      </p:sp>
      <p:sp>
        <p:nvSpPr>
          <p:cNvPr id="41" name="TextBox 40"/>
          <p:cNvSpPr txBox="1"/>
          <p:nvPr/>
        </p:nvSpPr>
        <p:spPr>
          <a:xfrm>
            <a:off x="504000" y="8388000"/>
            <a:ext cx="3996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Texte 8 à 10 pt, légendes 7 pt, capitales espacées</a:t>
            </a:r>
          </a:p>
        </p:txBody>
      </p:sp>
      <p:sp>
        <p:nvSpPr>
          <p:cNvPr id="42" name="TextBox 41"/>
          <p:cNvSpPr txBox="1"/>
          <p:nvPr/>
        </p:nvSpPr>
        <p:spPr>
          <a:xfrm>
            <a:off x="504000" y="8856000"/>
            <a:ext cx="3996000" cy="409599"/>
          </a:xfrm>
          <a:prstGeom prst="rect">
            <a:avLst/>
          </a:prstGeom>
          <a:noFill/>
        </p:spPr>
        <p:txBody>
          <a:bodyPr wrap="square" lIns="0" rIns="0" tIns="0" bIns="0" anchor="t">
            <a:spAutoFit/>
          </a:bodyPr>
          <a:lstStyle/>
          <a:p>
            <a:pPr algn="l">
              <a:lnSpc>
                <a:spcPts val="2800"/>
              </a:lnSpc>
            </a:pPr>
            <a:r>
              <a:rPr sz="2200">
                <a:solidFill>
                  <a:srgbClr val="2B2420"/>
                </a:solidFill>
                <a:latin typeface="Manrope"/>
              </a:rPr>
              <a:t>Manrope</a:t>
            </a:r>
          </a:p>
        </p:txBody>
      </p:sp>
      <p:sp>
        <p:nvSpPr>
          <p:cNvPr id="43" name="TextBox 42"/>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Réservée au nom K&amp;Démi dans le logo</a:t>
            </a:r>
          </a:p>
        </p:txBody>
      </p:sp>
      <p:sp>
        <p:nvSpPr>
          <p:cNvPr id="44" name="Rectangle 43"/>
          <p:cNvSpPr/>
          <p:nvPr/>
        </p:nvSpPr>
        <p:spPr>
          <a:xfrm>
            <a:off x="4680000" y="6984000"/>
            <a:ext cx="3996000" cy="1512000"/>
          </a:xfrm>
          <a:prstGeom prst="rect">
            <a:avLst/>
          </a:prstGeom>
          <a:solidFill>
            <a:srgbClr val="2B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KDemi_v3_A_arche_lockup_inverse.png"/>
          <p:cNvPicPr>
            <a:picLocks noChangeAspect="1"/>
          </p:cNvPicPr>
          <p:nvPr/>
        </p:nvPicPr>
        <p:blipFill>
          <a:blip r:embed="rId3"/>
          <a:stretch>
            <a:fillRect/>
          </a:stretch>
        </p:blipFill>
        <p:spPr>
          <a:xfrm>
            <a:off x="5598000" y="7373700"/>
            <a:ext cx="2160000" cy="732600"/>
          </a:xfrm>
          <a:prstGeom prst="rect">
            <a:avLst/>
          </a:prstGeom>
        </p:spPr>
      </p:pic>
      <p:sp>
        <p:nvSpPr>
          <p:cNvPr id="46" name="Rectangle 45"/>
          <p:cNvSpPr/>
          <p:nvPr/>
        </p:nvSpPr>
        <p:spPr>
          <a:xfrm>
            <a:off x="4680000" y="8676000"/>
            <a:ext cx="3996000" cy="1512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KDemi_v3_A_arche_lockup_mono.png"/>
          <p:cNvPicPr>
            <a:picLocks noChangeAspect="1"/>
          </p:cNvPicPr>
          <p:nvPr/>
        </p:nvPicPr>
        <p:blipFill>
          <a:blip r:embed="rId4"/>
          <a:stretch>
            <a:fillRect/>
          </a:stretch>
        </p:blipFill>
        <p:spPr>
          <a:xfrm>
            <a:off x="5598000" y="9065700"/>
            <a:ext cx="2160000" cy="732600"/>
          </a:xfrm>
          <a:prstGeom prst="rect">
            <a:avLst/>
          </a:prstGeom>
        </p:spPr>
      </p:pic>
      <p:sp>
        <p:nvSpPr>
          <p:cNvPr id="48" name="Rectangle 47"/>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KDemi_v3_A_arche_lockup_mono.png"/>
          <p:cNvPicPr>
            <a:picLocks noChangeAspect="1"/>
          </p:cNvPicPr>
          <p:nvPr/>
        </p:nvPicPr>
        <p:blipFill>
          <a:blip r:embed="rId4"/>
          <a:stretch>
            <a:fillRect/>
          </a:stretch>
        </p:blipFill>
        <p:spPr>
          <a:xfrm>
            <a:off x="9468000" y="432000"/>
            <a:ext cx="1656000" cy="561660"/>
          </a:xfrm>
          <a:prstGeom prst="rect">
            <a:avLst/>
          </a:prstGeom>
        </p:spPr>
      </p:pic>
      <p:sp>
        <p:nvSpPr>
          <p:cNvPr id="50" name="TextBox 49"/>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Identité K&amp;Démi</a:t>
            </a:r>
          </a:p>
        </p:txBody>
      </p:sp>
      <p:sp>
        <p:nvSpPr>
          <p:cNvPr id="51" name="TextBox 5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L'arche dans le carré</a:t>
            </a:r>
          </a:p>
        </p:txBody>
      </p:sp>
      <p:sp>
        <p:nvSpPr>
          <p:cNvPr id="52" name="TextBox 5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Logo v3 A choisi le 14 octobre 2026</a:t>
            </a:r>
          </a:p>
        </p:txBody>
      </p:sp>
      <p:cxnSp>
        <p:nvCxnSpPr>
          <p:cNvPr id="53" name="Connector 52"/>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LE LOGO</a:t>
            </a:r>
          </a:p>
        </p:txBody>
      </p:sp>
      <p:sp>
        <p:nvSpPr>
          <p:cNvPr id="55" name="TextBox 54"/>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Une arche découpée dans un carré, lue comme une porte. Le nom est composé en Manrope, l'esperluette en terre cuite. C'est le seuil de la devanture Decimo ramené à un signe.</a:t>
            </a:r>
          </a:p>
        </p:txBody>
      </p:sp>
      <p:sp>
        <p:nvSpPr>
          <p:cNvPr id="56" name="TextBox 55"/>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RÈGLES D'USAGE</a:t>
            </a:r>
          </a:p>
        </p:txBody>
      </p:sp>
      <p:sp>
        <p:nvSpPr>
          <p:cNvPr id="57" name="TextBox 56"/>
          <p:cNvSpPr txBox="1"/>
          <p:nvPr/>
        </p:nvSpPr>
        <p:spPr>
          <a:xfrm>
            <a:off x="9468000" y="3361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01</a:t>
            </a:r>
          </a:p>
        </p:txBody>
      </p:sp>
      <p:sp>
        <p:nvSpPr>
          <p:cNvPr id="58" name="TextBox 57"/>
          <p:cNvSpPr txBox="1"/>
          <p:nvPr/>
        </p:nvSpPr>
        <p:spPr>
          <a:xfrm>
            <a:off x="9720000" y="3361200"/>
            <a:ext cx="5040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Le nom est toujours posé à côté du symbole. Le symbole seul est réservé à l'icône d'application et au favicon.</a:t>
            </a:r>
          </a:p>
        </p:txBody>
      </p:sp>
      <p:sp>
        <p:nvSpPr>
          <p:cNvPr id="59" name="TextBox 58"/>
          <p:cNvSpPr txBox="1"/>
          <p:nvPr/>
        </p:nvSpPr>
        <p:spPr>
          <a:xfrm>
            <a:off x="9468000" y="3526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02</a:t>
            </a:r>
          </a:p>
        </p:txBody>
      </p:sp>
      <p:sp>
        <p:nvSpPr>
          <p:cNvPr id="60" name="TextBox 59"/>
          <p:cNvSpPr txBox="1"/>
          <p:nvPr/>
        </p:nvSpPr>
        <p:spPr>
          <a:xfrm>
            <a:off x="9720000" y="3526320"/>
            <a:ext cx="5040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30 mm minimum en impression, 120 px à l'écran.</a:t>
            </a:r>
          </a:p>
        </p:txBody>
      </p:sp>
      <p:sp>
        <p:nvSpPr>
          <p:cNvPr id="61" name="TextBox 60"/>
          <p:cNvSpPr txBox="1"/>
          <p:nvPr/>
        </p:nvSpPr>
        <p:spPr>
          <a:xfrm>
            <a:off x="9468000" y="3691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03</a:t>
            </a:r>
          </a:p>
        </p:txBody>
      </p:sp>
      <p:sp>
        <p:nvSpPr>
          <p:cNvPr id="62" name="TextBox 61"/>
          <p:cNvSpPr txBox="1"/>
          <p:nvPr/>
        </p:nvSpPr>
        <p:spPr>
          <a:xfrm>
            <a:off x="9720000" y="3691440"/>
            <a:ext cx="5040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Version mono sur fond clair, inversée sur fond sombre. Pas de déformation, d'ombre ni de dégradé.</a:t>
            </a:r>
          </a:p>
        </p:txBody>
      </p:sp>
      <p:sp>
        <p:nvSpPr>
          <p:cNvPr id="63" name="TextBox 62"/>
          <p:cNvSpPr txBox="1"/>
          <p:nvPr/>
        </p:nvSpPr>
        <p:spPr>
          <a:xfrm>
            <a:off x="9468000" y="396456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LA PAGE</a:t>
            </a:r>
          </a:p>
        </p:txBody>
      </p:sp>
      <p:sp>
        <p:nvSpPr>
          <p:cNvPr id="64" name="TextBox 63"/>
          <p:cNvSpPr txBox="1"/>
          <p:nvPr/>
        </p:nvSpPr>
        <p:spPr>
          <a:xfrm>
            <a:off x="9468000" y="415176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Toutes les pages du dossier partagent la même grille et le même panneau de droite que les planches de dessin : 12 colonnes, marges de 14 mm, gouttières de 5 mm.</a:t>
            </a:r>
          </a:p>
        </p:txBody>
      </p:sp>
      <p:cxnSp>
        <p:nvCxnSpPr>
          <p:cNvPr id="65" name="Connector 64"/>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67" name="TextBox 66"/>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68" name="TextBox 67"/>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69" name="TextBox 68"/>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70" name="TextBox 69"/>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71" name="TextBox 70"/>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03 · Identité K&amp;Démi</a:t>
            </a:r>
          </a:p>
        </p:txBody>
      </p:sp>
      <p:sp>
        <p:nvSpPr>
          <p:cNvPr id="72" name="TextBox 71"/>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73" name="TextBox 72"/>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74" name="TextBox 73"/>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75" name="TextBox 74"/>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76" name="TextBox 75"/>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77" name="TextBox 76"/>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78" name="TextBox 77"/>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79" name="TextBox 78"/>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03 · ESQ V5 · Octobre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mood.jpg"/>
          <p:cNvPicPr>
            <a:picLocks noChangeAspect="1"/>
          </p:cNvPicPr>
          <p:nvPr/>
        </p:nvPicPr>
        <p:blipFill>
          <a:blip r:embed="rId2"/>
          <a:stretch>
            <a:fillRect/>
          </a:stretch>
        </p:blipFill>
        <p:spPr>
          <a:xfrm>
            <a:off x="504000" y="504000"/>
            <a:ext cx="8172000" cy="5940000"/>
          </a:xfrm>
          <a:prstGeom prst="rect">
            <a:avLst/>
          </a:prstGeom>
        </p:spPr>
      </p:pic>
      <p:sp>
        <p:nvSpPr>
          <p:cNvPr id="3" name="TextBox 2"/>
          <p:cNvSpPr txBox="1"/>
          <p:nvPr/>
        </p:nvSpPr>
        <p:spPr>
          <a:xfrm>
            <a:off x="504000" y="6516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Planche matière : claustra en terre cuite, iroko huilé, chaux sable, enduit terre, grès cérame, acier noir, laine terre cuite, coton indigo, raphia</a:t>
            </a:r>
          </a:p>
        </p:txBody>
      </p:sp>
      <p:sp>
        <p:nvSpPr>
          <p:cNvPr id="4" name="Rectangle 3"/>
          <p:cNvSpPr/>
          <p:nvPr/>
        </p:nvSpPr>
        <p:spPr>
          <a:xfrm>
            <a:off x="504000" y="6804000"/>
            <a:ext cx="1013142" cy="504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4000" y="7380000"/>
            <a:ext cx="1013142" cy="163220"/>
          </a:xfrm>
          <a:prstGeom prst="rect">
            <a:avLst/>
          </a:prstGeom>
          <a:noFill/>
        </p:spPr>
        <p:txBody>
          <a:bodyPr wrap="square" lIns="0" rIns="0" tIns="0" bIns="0" anchor="t">
            <a:spAutoFit/>
          </a:bodyPr>
          <a:lstStyle/>
          <a:p>
            <a:pPr algn="l">
              <a:lnSpc>
                <a:spcPts val="860"/>
              </a:lnSpc>
            </a:pPr>
            <a:r>
              <a:rPr sz="640">
                <a:solidFill>
                  <a:srgbClr val="7D7168"/>
                </a:solidFill>
                <a:latin typeface="Jost"/>
              </a:rPr>
              <a:t>Terre cuite #B4583E</a:t>
            </a:r>
          </a:p>
        </p:txBody>
      </p:sp>
      <p:sp>
        <p:nvSpPr>
          <p:cNvPr id="6" name="Rectangle 5"/>
          <p:cNvSpPr/>
          <p:nvPr/>
        </p:nvSpPr>
        <p:spPr>
          <a:xfrm>
            <a:off x="1697142" y="6804000"/>
            <a:ext cx="1013142" cy="504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7142" y="7380000"/>
            <a:ext cx="1013142" cy="163220"/>
          </a:xfrm>
          <a:prstGeom prst="rect">
            <a:avLst/>
          </a:prstGeom>
          <a:noFill/>
        </p:spPr>
        <p:txBody>
          <a:bodyPr wrap="square" lIns="0" rIns="0" tIns="0" bIns="0" anchor="t">
            <a:spAutoFit/>
          </a:bodyPr>
          <a:lstStyle/>
          <a:p>
            <a:pPr algn="l">
              <a:lnSpc>
                <a:spcPts val="860"/>
              </a:lnSpc>
            </a:pPr>
            <a:r>
              <a:rPr sz="640">
                <a:solidFill>
                  <a:srgbClr val="7D7168"/>
                </a:solidFill>
                <a:latin typeface="Jost"/>
              </a:rPr>
              <a:t>Iroko #9A6B43</a:t>
            </a:r>
          </a:p>
        </p:txBody>
      </p:sp>
      <p:sp>
        <p:nvSpPr>
          <p:cNvPr id="8" name="Rectangle 7"/>
          <p:cNvSpPr/>
          <p:nvPr/>
        </p:nvSpPr>
        <p:spPr>
          <a:xfrm>
            <a:off x="2890285" y="6804000"/>
            <a:ext cx="1013142" cy="504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0285" y="7380000"/>
            <a:ext cx="1013142" cy="163220"/>
          </a:xfrm>
          <a:prstGeom prst="rect">
            <a:avLst/>
          </a:prstGeom>
          <a:noFill/>
        </p:spPr>
        <p:txBody>
          <a:bodyPr wrap="square" lIns="0" rIns="0" tIns="0" bIns="0" anchor="t">
            <a:spAutoFit/>
          </a:bodyPr>
          <a:lstStyle/>
          <a:p>
            <a:pPr algn="l">
              <a:lnSpc>
                <a:spcPts val="860"/>
              </a:lnSpc>
            </a:pPr>
            <a:r>
              <a:rPr sz="640">
                <a:solidFill>
                  <a:srgbClr val="7D7168"/>
                </a:solidFill>
                <a:latin typeface="Jost"/>
              </a:rPr>
              <a:t>Sable #E6D6BF</a:t>
            </a:r>
          </a:p>
        </p:txBody>
      </p:sp>
      <p:sp>
        <p:nvSpPr>
          <p:cNvPr id="10" name="Rectangle 9"/>
          <p:cNvSpPr/>
          <p:nvPr/>
        </p:nvSpPr>
        <p:spPr>
          <a:xfrm>
            <a:off x="4083428" y="6804000"/>
            <a:ext cx="1013142" cy="504000"/>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083428" y="6804000"/>
            <a:ext cx="1013143"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83428" y="7308000"/>
            <a:ext cx="1013143"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83428" y="6804000"/>
            <a:ext cx="0" cy="50400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96571" y="6804000"/>
            <a:ext cx="0" cy="50400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83428" y="7380000"/>
            <a:ext cx="1013142" cy="163220"/>
          </a:xfrm>
          <a:prstGeom prst="rect">
            <a:avLst/>
          </a:prstGeom>
          <a:noFill/>
        </p:spPr>
        <p:txBody>
          <a:bodyPr wrap="square" lIns="0" rIns="0" tIns="0" bIns="0" anchor="t">
            <a:spAutoFit/>
          </a:bodyPr>
          <a:lstStyle/>
          <a:p>
            <a:pPr algn="l">
              <a:lnSpc>
                <a:spcPts val="860"/>
              </a:lnSpc>
            </a:pPr>
            <a:r>
              <a:rPr sz="640">
                <a:solidFill>
                  <a:srgbClr val="7D7168"/>
                </a:solidFill>
                <a:latin typeface="Jost"/>
              </a:rPr>
              <a:t>Chaux #FBF8F3</a:t>
            </a:r>
          </a:p>
        </p:txBody>
      </p:sp>
      <p:sp>
        <p:nvSpPr>
          <p:cNvPr id="16" name="Rectangle 15"/>
          <p:cNvSpPr/>
          <p:nvPr/>
        </p:nvSpPr>
        <p:spPr>
          <a:xfrm>
            <a:off x="5276571" y="6804000"/>
            <a:ext cx="1013142" cy="504000"/>
          </a:xfrm>
          <a:prstGeom prst="rect">
            <a:avLst/>
          </a:prstGeom>
          <a:solidFill>
            <a:srgbClr val="2B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571" y="7380000"/>
            <a:ext cx="1013142" cy="163220"/>
          </a:xfrm>
          <a:prstGeom prst="rect">
            <a:avLst/>
          </a:prstGeom>
          <a:noFill/>
        </p:spPr>
        <p:txBody>
          <a:bodyPr wrap="square" lIns="0" rIns="0" tIns="0" bIns="0" anchor="t">
            <a:spAutoFit/>
          </a:bodyPr>
          <a:lstStyle/>
          <a:p>
            <a:pPr algn="l">
              <a:lnSpc>
                <a:spcPts val="860"/>
              </a:lnSpc>
            </a:pPr>
            <a:r>
              <a:rPr sz="640">
                <a:solidFill>
                  <a:srgbClr val="7D7168"/>
                </a:solidFill>
                <a:latin typeface="Jost"/>
              </a:rPr>
              <a:t>Encre #2B2420</a:t>
            </a:r>
          </a:p>
        </p:txBody>
      </p:sp>
      <p:sp>
        <p:nvSpPr>
          <p:cNvPr id="18" name="Rectangle 17"/>
          <p:cNvSpPr/>
          <p:nvPr/>
        </p:nvSpPr>
        <p:spPr>
          <a:xfrm>
            <a:off x="6469714" y="6804000"/>
            <a:ext cx="1013142" cy="504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9714" y="7380000"/>
            <a:ext cx="1013142" cy="163220"/>
          </a:xfrm>
          <a:prstGeom prst="rect">
            <a:avLst/>
          </a:prstGeom>
          <a:noFill/>
        </p:spPr>
        <p:txBody>
          <a:bodyPr wrap="square" lIns="0" rIns="0" tIns="0" bIns="0" anchor="t">
            <a:spAutoFit/>
          </a:bodyPr>
          <a:lstStyle/>
          <a:p>
            <a:pPr algn="l">
              <a:lnSpc>
                <a:spcPts val="860"/>
              </a:lnSpc>
            </a:pPr>
            <a:r>
              <a:rPr sz="640">
                <a:solidFill>
                  <a:srgbClr val="7D7168"/>
                </a:solidFill>
                <a:latin typeface="Jost"/>
              </a:rPr>
              <a:t>Indigo #2F3A56</a:t>
            </a:r>
          </a:p>
        </p:txBody>
      </p:sp>
      <p:sp>
        <p:nvSpPr>
          <p:cNvPr id="20" name="Rectangle 19"/>
          <p:cNvSpPr/>
          <p:nvPr/>
        </p:nvSpPr>
        <p:spPr>
          <a:xfrm>
            <a:off x="7662857" y="6804000"/>
            <a:ext cx="1013142" cy="504000"/>
          </a:xfrm>
          <a:prstGeom prst="rect">
            <a:avLst/>
          </a:prstGeom>
          <a:solidFill>
            <a:srgbClr val="5F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857" y="7380000"/>
            <a:ext cx="1013142" cy="163220"/>
          </a:xfrm>
          <a:prstGeom prst="rect">
            <a:avLst/>
          </a:prstGeom>
          <a:noFill/>
        </p:spPr>
        <p:txBody>
          <a:bodyPr wrap="square" lIns="0" rIns="0" tIns="0" bIns="0" anchor="t">
            <a:spAutoFit/>
          </a:bodyPr>
          <a:lstStyle/>
          <a:p>
            <a:pPr algn="l">
              <a:lnSpc>
                <a:spcPts val="860"/>
              </a:lnSpc>
            </a:pPr>
            <a:r>
              <a:rPr sz="640">
                <a:solidFill>
                  <a:srgbClr val="7D7168"/>
                </a:solidFill>
                <a:latin typeface="Jost"/>
              </a:rPr>
              <a:t>Olive #5F7A4B</a:t>
            </a:r>
          </a:p>
        </p:txBody>
      </p:sp>
      <p:cxnSp>
        <p:nvCxnSpPr>
          <p:cNvPr id="22" name="Connector 21"/>
          <p:cNvCxnSpPr/>
          <p:nvPr/>
        </p:nvCxnSpPr>
        <p:spPr>
          <a:xfrm>
            <a:off x="504000" y="7776000"/>
            <a:ext cx="1908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4000" y="7920000"/>
            <a:ext cx="1908000" cy="269900"/>
          </a:xfrm>
          <a:prstGeom prst="rect">
            <a:avLst/>
          </a:prstGeom>
          <a:noFill/>
        </p:spPr>
        <p:txBody>
          <a:bodyPr wrap="square" lIns="0" rIns="0" tIns="0" bIns="0" anchor="t">
            <a:spAutoFit/>
          </a:bodyPr>
          <a:lstStyle/>
          <a:p>
            <a:pPr algn="l">
              <a:lnSpc>
                <a:spcPts val="1700"/>
              </a:lnSpc>
            </a:pPr>
            <a:r>
              <a:rPr sz="1250">
                <a:solidFill>
                  <a:srgbClr val="2B2420"/>
                </a:solidFill>
                <a:latin typeface="DM Serif Display"/>
              </a:rPr>
              <a:t>Matériaux</a:t>
            </a:r>
          </a:p>
        </p:txBody>
      </p:sp>
      <p:sp>
        <p:nvSpPr>
          <p:cNvPr id="24" name="TextBox 23"/>
          <p:cNvSpPr txBox="1"/>
          <p:nvPr/>
        </p:nvSpPr>
        <p:spPr>
          <a:xfrm>
            <a:off x="504000" y="8190000"/>
            <a:ext cx="1908000" cy="602640"/>
          </a:xfrm>
          <a:prstGeom prst="rect">
            <a:avLst/>
          </a:prstGeom>
          <a:noFill/>
        </p:spPr>
        <p:txBody>
          <a:bodyPr wrap="square" lIns="0" rIns="0" tIns="0" bIns="0" anchor="t">
            <a:spAutoFit/>
          </a:bodyPr>
          <a:lstStyle/>
          <a:p>
            <a:pPr algn="l">
              <a:lnSpc>
                <a:spcPts val="1080"/>
              </a:lnSpc>
            </a:pPr>
            <a:r>
              <a:rPr sz="780">
                <a:solidFill>
                  <a:srgbClr val="2B2420"/>
                </a:solidFill>
                <a:latin typeface="Jost"/>
              </a:rPr>
              <a:t>Terrazzo clair au sol, parquet iroko dans la salle de lecture, enduit terre et chaux sable aux murs, lambris iroko à claire-voie, acier noir mat pour les châssis et la marquise.</a:t>
            </a:r>
          </a:p>
        </p:txBody>
      </p:sp>
      <p:cxnSp>
        <p:nvCxnSpPr>
          <p:cNvPr id="25" name="Connector 24"/>
          <p:cNvCxnSpPr/>
          <p:nvPr/>
        </p:nvCxnSpPr>
        <p:spPr>
          <a:xfrm>
            <a:off x="2592000" y="7776000"/>
            <a:ext cx="1908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92000" y="7920000"/>
            <a:ext cx="1908000" cy="269900"/>
          </a:xfrm>
          <a:prstGeom prst="rect">
            <a:avLst/>
          </a:prstGeom>
          <a:noFill/>
        </p:spPr>
        <p:txBody>
          <a:bodyPr wrap="square" lIns="0" rIns="0" tIns="0" bIns="0" anchor="t">
            <a:spAutoFit/>
          </a:bodyPr>
          <a:lstStyle/>
          <a:p>
            <a:pPr algn="l">
              <a:lnSpc>
                <a:spcPts val="1700"/>
              </a:lnSpc>
            </a:pPr>
            <a:r>
              <a:rPr sz="1250">
                <a:solidFill>
                  <a:srgbClr val="2B2420"/>
                </a:solidFill>
                <a:latin typeface="DM Serif Display"/>
              </a:rPr>
              <a:t>Mobilier</a:t>
            </a:r>
          </a:p>
        </p:txBody>
      </p:sp>
      <p:sp>
        <p:nvSpPr>
          <p:cNvPr id="27" name="TextBox 26"/>
          <p:cNvSpPr txBox="1"/>
          <p:nvPr/>
        </p:nvSpPr>
        <p:spPr>
          <a:xfrm>
            <a:off x="2592000" y="8190000"/>
            <a:ext cx="1908000" cy="602640"/>
          </a:xfrm>
          <a:prstGeom prst="rect">
            <a:avLst/>
          </a:prstGeom>
          <a:noFill/>
        </p:spPr>
        <p:txBody>
          <a:bodyPr wrap="square" lIns="0" rIns="0" tIns="0" bIns="0" anchor="t">
            <a:spAutoFit/>
          </a:bodyPr>
          <a:lstStyle/>
          <a:p>
            <a:pPr algn="l">
              <a:lnSpc>
                <a:spcPts val="1080"/>
              </a:lnSpc>
            </a:pPr>
            <a:r>
              <a:rPr sz="780">
                <a:solidFill>
                  <a:srgbClr val="2B2420"/>
                </a:solidFill>
                <a:latin typeface="Jost"/>
              </a:rPr>
              <a:t>Iroko sur mesure : arbre à livres, rayonnages, banque d'accueil, banquettes. Chaises courbes, assises en raphia, coussins indigo artisanaux.</a:t>
            </a:r>
          </a:p>
        </p:txBody>
      </p:sp>
      <p:cxnSp>
        <p:nvCxnSpPr>
          <p:cNvPr id="28" name="Connector 27"/>
          <p:cNvCxnSpPr/>
          <p:nvPr/>
        </p:nvCxnSpPr>
        <p:spPr>
          <a:xfrm>
            <a:off x="4680000" y="7776000"/>
            <a:ext cx="1908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80000" y="7920000"/>
            <a:ext cx="1908000" cy="269900"/>
          </a:xfrm>
          <a:prstGeom prst="rect">
            <a:avLst/>
          </a:prstGeom>
          <a:noFill/>
        </p:spPr>
        <p:txBody>
          <a:bodyPr wrap="square" lIns="0" rIns="0" tIns="0" bIns="0" anchor="t">
            <a:spAutoFit/>
          </a:bodyPr>
          <a:lstStyle/>
          <a:p>
            <a:pPr algn="l">
              <a:lnSpc>
                <a:spcPts val="1700"/>
              </a:lnSpc>
            </a:pPr>
            <a:r>
              <a:rPr sz="1250">
                <a:solidFill>
                  <a:srgbClr val="2B2420"/>
                </a:solidFill>
                <a:latin typeface="DM Serif Display"/>
              </a:rPr>
              <a:t>Lumière</a:t>
            </a:r>
          </a:p>
        </p:txBody>
      </p:sp>
      <p:sp>
        <p:nvSpPr>
          <p:cNvPr id="30" name="TextBox 29"/>
          <p:cNvSpPr txBox="1"/>
          <p:nvPr/>
        </p:nvSpPr>
        <p:spPr>
          <a:xfrm>
            <a:off x="4680000" y="8190000"/>
            <a:ext cx="1908000" cy="602640"/>
          </a:xfrm>
          <a:prstGeom prst="rect">
            <a:avLst/>
          </a:prstGeom>
          <a:noFill/>
        </p:spPr>
        <p:txBody>
          <a:bodyPr wrap="square" lIns="0" rIns="0" tIns="0" bIns="0" anchor="t">
            <a:spAutoFit/>
          </a:bodyPr>
          <a:lstStyle/>
          <a:p>
            <a:pPr algn="l">
              <a:lnSpc>
                <a:spcPts val="1080"/>
              </a:lnSpc>
            </a:pPr>
            <a:r>
              <a:rPr sz="780">
                <a:solidFill>
                  <a:srgbClr val="2B2420"/>
                </a:solidFill>
                <a:latin typeface="Jost"/>
              </a:rPr>
              <a:t>Tout en 2700 K. Anneau LED sous la canopée de l'arbre, downlights encastrés, suspensions terre cuite au-dessus des tables, réglette de vitrine, spot IP65 sous marquise.</a:t>
            </a:r>
          </a:p>
        </p:txBody>
      </p:sp>
      <p:cxnSp>
        <p:nvCxnSpPr>
          <p:cNvPr id="31" name="Connector 30"/>
          <p:cNvCxnSpPr/>
          <p:nvPr/>
        </p:nvCxnSpPr>
        <p:spPr>
          <a:xfrm>
            <a:off x="6768000" y="7776000"/>
            <a:ext cx="1908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768000" y="7920000"/>
            <a:ext cx="1908000" cy="269900"/>
          </a:xfrm>
          <a:prstGeom prst="rect">
            <a:avLst/>
          </a:prstGeom>
          <a:noFill/>
        </p:spPr>
        <p:txBody>
          <a:bodyPr wrap="square" lIns="0" rIns="0" tIns="0" bIns="0" anchor="t">
            <a:spAutoFit/>
          </a:bodyPr>
          <a:lstStyle/>
          <a:p>
            <a:pPr algn="l">
              <a:lnSpc>
                <a:spcPts val="1700"/>
              </a:lnSpc>
            </a:pPr>
            <a:r>
              <a:rPr sz="1250">
                <a:solidFill>
                  <a:srgbClr val="2B2420"/>
                </a:solidFill>
                <a:latin typeface="DM Serif Display"/>
              </a:rPr>
              <a:t>Végétal</a:t>
            </a:r>
          </a:p>
        </p:txBody>
      </p:sp>
      <p:sp>
        <p:nvSpPr>
          <p:cNvPr id="33" name="TextBox 32"/>
          <p:cNvSpPr txBox="1"/>
          <p:nvPr/>
        </p:nvSpPr>
        <p:spPr>
          <a:xfrm>
            <a:off x="6768000" y="8190000"/>
            <a:ext cx="1908000" cy="602640"/>
          </a:xfrm>
          <a:prstGeom prst="rect">
            <a:avLst/>
          </a:prstGeom>
          <a:noFill/>
        </p:spPr>
        <p:txBody>
          <a:bodyPr wrap="square" lIns="0" rIns="0" tIns="0" bIns="0" anchor="t">
            <a:spAutoFit/>
          </a:bodyPr>
          <a:lstStyle/>
          <a:p>
            <a:pPr algn="l">
              <a:lnSpc>
                <a:spcPts val="1080"/>
              </a:lnSpc>
            </a:pPr>
            <a:r>
              <a:rPr sz="780">
                <a:solidFill>
                  <a:srgbClr val="2B2420"/>
                </a:solidFill>
                <a:latin typeface="Jost"/>
              </a:rPr>
              <a:t>Ficus lyrata, strelitzia, fougères et dracaena en jardinières sur la terrasse. Le vert reste rare à l'intérieur pour laisser la terre et le bois parler.</a:t>
            </a:r>
          </a:p>
        </p:txBody>
      </p:sp>
      <p:sp>
        <p:nvSpPr>
          <p:cNvPr id="34" name="Rectangle 33"/>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36" name="TextBox 35"/>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D.A de la bibliothèque</a:t>
            </a:r>
          </a:p>
        </p:txBody>
      </p:sp>
      <p:sp>
        <p:nvSpPr>
          <p:cNvPr id="37" name="TextBox 36"/>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Terre, ombre et bois</a:t>
            </a:r>
          </a:p>
        </p:txBody>
      </p:sp>
      <p:sp>
        <p:nvSpPr>
          <p:cNvPr id="38" name="TextBox 37"/>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Direction artistique d'Affoué, visée le 14 octobre 2026</a:t>
            </a:r>
          </a:p>
        </p:txBody>
      </p:sp>
      <p:cxnSp>
        <p:nvCxnSpPr>
          <p:cNvPr id="39" name="Connector 38"/>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PRINCIPES</a:t>
            </a:r>
          </a:p>
        </p:txBody>
      </p:sp>
      <p:sp>
        <p:nvSpPr>
          <p:cNvPr id="41" name="TextBox 40"/>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01</a:t>
            </a:r>
          </a:p>
        </p:txBody>
      </p:sp>
      <p:sp>
        <p:nvSpPr>
          <p:cNvPr id="42" name="TextBox 41"/>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Un seuil cintré centré sur la rue cadre l'arbre à livres.</a:t>
            </a:r>
          </a:p>
        </p:txBody>
      </p:sp>
      <p:sp>
        <p:nvSpPr>
          <p:cNvPr id="43" name="TextBox 42"/>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02</a:t>
            </a:r>
          </a:p>
        </p:txBody>
      </p:sp>
      <p:sp>
        <p:nvSpPr>
          <p:cNvPr id="44" name="TextBox 43"/>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Les baies en claustra terre cuite, à motifs inspirés des Adinkra Adinkrahene et Eban, filtrent le soleil de l'après-midi.</a:t>
            </a:r>
          </a:p>
        </p:txBody>
      </p:sp>
      <p:sp>
        <p:nvSpPr>
          <p:cNvPr id="45" name="TextBox 44"/>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03</a:t>
            </a:r>
          </a:p>
        </p:txBody>
      </p:sp>
      <p:sp>
        <p:nvSpPr>
          <p:cNvPr id="46" name="TextBox 45"/>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La canopée de l'arbre et son oculus indigo sont le seul objet fort de la salle.</a:t>
            </a:r>
          </a:p>
        </p:txBody>
      </p:sp>
      <p:sp>
        <p:nvSpPr>
          <p:cNvPr id="47" name="TextBox 46"/>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04</a:t>
            </a:r>
          </a:p>
        </p:txBody>
      </p:sp>
      <p:sp>
        <p:nvSpPr>
          <p:cNvPr id="48" name="TextBox 47"/>
          <p:cNvSpPr txBox="1"/>
          <p:nvPr/>
        </p:nvSpPr>
        <p:spPr>
          <a:xfrm>
            <a:off x="9720000" y="3202560"/>
            <a:ext cx="5040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Iroko pour tout ce qui se touche, chaux pour tout ce qui se voit.</a:t>
            </a:r>
          </a:p>
        </p:txBody>
      </p:sp>
      <p:sp>
        <p:nvSpPr>
          <p:cNvPr id="49" name="TextBox 48"/>
          <p:cNvSpPr txBox="1"/>
          <p:nvPr/>
        </p:nvSpPr>
        <p:spPr>
          <a:xfrm>
            <a:off x="9468000" y="33676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05</a:t>
            </a:r>
          </a:p>
        </p:txBody>
      </p:sp>
      <p:sp>
        <p:nvSpPr>
          <p:cNvPr id="50" name="TextBox 49"/>
          <p:cNvSpPr txBox="1"/>
          <p:nvPr/>
        </p:nvSpPr>
        <p:spPr>
          <a:xfrm>
            <a:off x="9720000" y="3367680"/>
            <a:ext cx="5040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Ventilation traversante par la claustra et la terrasse, deux splits en appoint dont les unités extérieures vont en courette.</a:t>
            </a:r>
          </a:p>
        </p:txBody>
      </p:sp>
      <p:sp>
        <p:nvSpPr>
          <p:cNvPr id="51" name="TextBox 50"/>
          <p:cNvSpPr txBox="1"/>
          <p:nvPr/>
        </p:nvSpPr>
        <p:spPr>
          <a:xfrm>
            <a:off x="9468000" y="3640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AMBIANCE</a:t>
            </a:r>
          </a:p>
        </p:txBody>
      </p:sp>
      <p:sp>
        <p:nvSpPr>
          <p:cNvPr id="52" name="TextBox 51"/>
          <p:cNvSpPr txBox="1"/>
          <p:nvPr/>
        </p:nvSpPr>
        <p:spPr>
          <a:xfrm>
            <a:off x="9468000" y="38280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Une pénombre fraîche, une lumière tamisée par la claustra le jour et 2700 K le soir. Aucun dégradé, aucun motif plaqué : les motifs naissent de la matière.</a:t>
            </a:r>
          </a:p>
        </p:txBody>
      </p:sp>
      <p:cxnSp>
        <p:nvCxnSpPr>
          <p:cNvPr id="53" name="Connector 52"/>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55" name="TextBox 54"/>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56" name="TextBox 55"/>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57" name="TextBox 56"/>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58" name="TextBox 57"/>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59" name="TextBox 58"/>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04 · D.A de la bibliothèque</a:t>
            </a:r>
          </a:p>
        </p:txBody>
      </p:sp>
      <p:sp>
        <p:nvSpPr>
          <p:cNvPr id="60" name="TextBox 59"/>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61" name="TextBox 60"/>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62" name="TextBox 61"/>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63" name="TextBox 62"/>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64" name="TextBox 63"/>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65" name="TextBox 64"/>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66" name="TextBox 65"/>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67" name="TextBox 66"/>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04 · ESQ V5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A01_plan_RDC.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A02_plan_faux_plafond_reseaux.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A03_coupe_AA.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A04_elevation_devantur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A05_elevations_interieures_est_nor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A06_elevations_interieures_sud_ouest.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A07_vues_3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A08_axonometri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r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R1 · Devanture sur rue, vue piéton depuis le trottoir opposé, œil à 1,60 m</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Vue source 01 : traits et silhouettes</a:t>
            </a:r>
          </a:p>
        </p:txBody>
      </p:sp>
      <p:sp>
        <p:nvSpPr>
          <p:cNvPr id="8" name="Rectangle 7"/>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La devanture</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Le seuil cintré sous la pergola</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Rendu tiré de la maquette IFC V5</a:t>
            </a:r>
          </a:p>
        </p:txBody>
      </p:sp>
      <p:cxnSp>
        <p:nvCxnSpPr>
          <p:cNvPr id="13" name="Connector 12"/>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CE QUE L'ON VOIT</a:t>
            </a:r>
          </a:p>
        </p:txBody>
      </p:sp>
      <p:sp>
        <p:nvSpPr>
          <p:cNvPr id="15" name="TextBox 14"/>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2B2420"/>
                </a:solidFill>
                <a:latin typeface="Jost"/>
              </a:rPr>
              <a:t>Les quatre baies existantes de la V4 gardent leur forme. La vitrine en arche et son châssis en acier noir se posent dans la baie A, la porte vitrée dans le portail en enduit terre cuite. Les deux baies de claustra reçoivent les inserts Adinkra. La pergola en bois de la V4 abrite la terrasse de lecture.</a:t>
            </a:r>
          </a:p>
        </p:txBody>
      </p:sp>
      <p:sp>
        <p:nvSpPr>
          <p:cNvPr id="16" name="TextBox 15"/>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CONTRÔLE</a:t>
            </a:r>
          </a:p>
        </p:txBody>
      </p:sp>
      <p:sp>
        <p:nvSpPr>
          <p:cNvPr id="17" name="TextBox 16"/>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2B2420"/>
                </a:solidFill>
                <a:latin typeface="Jost"/>
              </a:rPr>
              <a:t>Même caméra, mêmes baies, même pergola que la vue source. Le rendu ajoute la matière et la lumière. Les balcons qu'il avait inventés sur l'immeuble voisin ont été retirés : la maquette y montre un mur plein. Écart restant : les jardinières basses de la terrasse sont rendues comme des banquettes. La maquette fait foi.</a:t>
            </a:r>
          </a:p>
        </p:txBody>
      </p:sp>
      <p:sp>
        <p:nvSpPr>
          <p:cNvPr id="18" name="TextBox 17"/>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MÉTHODE</a:t>
            </a:r>
          </a:p>
        </p:txBody>
      </p:sp>
      <p:sp>
        <p:nvSpPr>
          <p:cNvPr id="19" name="TextBox 18"/>
          <p:cNvSpPr txBox="1"/>
          <p:nvPr/>
        </p:nvSpPr>
        <p:spPr>
          <a:xfrm>
            <a:off x="9468000" y="4320000"/>
            <a:ext cx="5292000" cy="511200"/>
          </a:xfrm>
          <a:prstGeom prst="rect">
            <a:avLst/>
          </a:prstGeom>
          <a:noFill/>
        </p:spPr>
        <p:txBody>
          <a:bodyPr wrap="square" lIns="0" rIns="0" tIns="0" bIns="0" anchor="t">
            <a:spAutoFit/>
          </a:bodyPr>
          <a:lstStyle/>
          <a:p>
            <a:pPr algn="l">
              <a:lnSpc>
                <a:spcPts val="1200"/>
              </a:lnSpc>
            </a:pPr>
            <a:r>
              <a:rPr sz="840">
                <a:solidFill>
                  <a:srgbClr val="2B2420"/>
                </a:solidFill>
                <a:latin typeface="Jost"/>
              </a:rPr>
              <a:t>Chaque rendu part d'une vue exportée de l'IFC (v5/vues_rendu, position, cible et focale enregistrées). L'image est retravaillée en matière et lumière sans rien ajouter ni déplacer, puis comparée à sa vue source avant d'entrer au dossier.</a:t>
            </a:r>
          </a:p>
        </p:txBody>
      </p:sp>
      <p:cxnSp>
        <p:nvCxnSpPr>
          <p:cNvPr id="20" name="Connector 19"/>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22" name="TextBox 2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23" name="TextBox 2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24" name="TextBox 2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25" name="TextBox 2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26" name="TextBox 2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13 · R1 Rendu de la devanture</a:t>
            </a:r>
          </a:p>
        </p:txBody>
      </p:sp>
      <p:sp>
        <p:nvSpPr>
          <p:cNvPr id="27" name="TextBox 2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28" name="TextBox 2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29" name="TextBox 2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30" name="TextBox 2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31" name="TextBox 3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32" name="TextBox 3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33" name="TextBox 3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34" name="TextBox 3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13 · ESQ V5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r2a.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R2a · Depuis l'entrée : la banque d'accueil, la salle de lecture et l'arbre à livres au fond</a:t>
            </a:r>
          </a:p>
        </p:txBody>
      </p:sp>
      <p:pic>
        <p:nvPicPr>
          <p:cNvPr id="4" name="Picture 3" descr="r2b.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r2c.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R2b · Vers la devanture : la porte cintrée et la claustra</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R2c · Le coin lecture en vitrine, banquette et rayonnages iroko</a:t>
            </a:r>
          </a:p>
        </p:txBody>
      </p:sp>
      <p:sp>
        <p:nvSpPr>
          <p:cNvPr id="8" name="Rectangle 7"/>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Les intérieurs</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Une pénombre fraîche, du bois et des livres</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Rendus tirés des vues 02, 03 et 05 de la maquette</a:t>
            </a:r>
          </a:p>
        </p:txBody>
      </p:sp>
      <p:cxnSp>
        <p:nvCxnSpPr>
          <p:cNvPr id="13" name="Connector 12"/>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MATIÈRES</a:t>
            </a:r>
          </a:p>
        </p:txBody>
      </p:sp>
      <p:sp>
        <p:nvSpPr>
          <p:cNvPr id="15" name="TextBox 14"/>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Terrazzo clair au sol, enduit terre et chaux aux murs, iroko huilé pour la banque d'accueil, les rayonnages et les banquettes. Le faux-plafond acoustique à +3,00 garde 0,26 m de plénum sous la dalle de l'immeuble.</a:t>
            </a:r>
          </a:p>
        </p:txBody>
      </p:sp>
      <p:sp>
        <p:nvSpPr>
          <p:cNvPr id="16" name="TextBox 15"/>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LUMIÈRE</a:t>
            </a:r>
          </a:p>
        </p:txBody>
      </p:sp>
      <p:sp>
        <p:nvSpPr>
          <p:cNvPr id="17" name="TextBox 16"/>
          <p:cNvSpPr txBox="1"/>
          <p:nvPr/>
        </p:nvSpPr>
        <p:spPr>
          <a:xfrm>
            <a:off x="9468000" y="33612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Downlights 2700 K encastrés, suspensions en terre cuite au-dessus des tables, lumière du jour filtrée par la claustra. Les splits sont posés en hauteur sur des murs pleins, jamais au-dessus des tables.</a:t>
            </a:r>
          </a:p>
        </p:txBody>
      </p:sp>
      <p:sp>
        <p:nvSpPr>
          <p:cNvPr id="18" name="TextBox 17"/>
          <p:cNvSpPr txBox="1"/>
          <p:nvPr/>
        </p:nvSpPr>
        <p:spPr>
          <a:xfrm>
            <a:off x="9468000" y="3828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CONTRÔLE</a:t>
            </a:r>
          </a:p>
        </p:txBody>
      </p:sp>
      <p:sp>
        <p:nvSpPr>
          <p:cNvPr id="19" name="TextBox 18"/>
          <p:cNvSpPr txBox="1"/>
          <p:nvPr/>
        </p:nvSpPr>
        <p:spPr>
          <a:xfrm>
            <a:off x="9468000" y="40152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Comparés à leurs vues sources : murs, baies, mobilier et luminaires sont à leur place. Seuls les livres sur les étagères et la végétation sont ajoutés au rendu.</a:t>
            </a:r>
          </a:p>
        </p:txBody>
      </p:sp>
      <p:cxnSp>
        <p:nvCxnSpPr>
          <p:cNvPr id="20" name="Connector 19"/>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22" name="TextBox 2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23" name="TextBox 2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24" name="TextBox 2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25" name="TextBox 2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26" name="TextBox 2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14 · R2 Rendus intérieurs</a:t>
            </a:r>
          </a:p>
        </p:txBody>
      </p:sp>
      <p:sp>
        <p:nvSpPr>
          <p:cNvPr id="27" name="TextBox 2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28" name="TextBox 2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29" name="TextBox 2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30" name="TextBox 2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31" name="TextBox 3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32" name="TextBox 3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33" name="TextBox 3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34" name="TextBox 3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14 · ESQ V5 · Octobre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r3.jpg"/>
          <p:cNvPicPr>
            <a:picLocks noChangeAspect="1"/>
          </p:cNvPicPr>
          <p:nvPr/>
        </p:nvPicPr>
        <p:blipFill>
          <a:blip r:embed="rId2"/>
          <a:stretch>
            <a:fillRect/>
          </a:stretch>
        </p:blipFill>
        <p:spPr>
          <a:xfrm>
            <a:off x="504000" y="504000"/>
            <a:ext cx="4248000" cy="9396000"/>
          </a:xfrm>
          <a:prstGeom prst="rect">
            <a:avLst/>
          </a:prstGeom>
        </p:spPr>
      </p:pic>
      <p:sp>
        <p:nvSpPr>
          <p:cNvPr id="3" name="TextBox 2"/>
          <p:cNvSpPr txBox="1"/>
          <p:nvPr/>
        </p:nvSpPr>
        <p:spPr>
          <a:xfrm>
            <a:off x="504000" y="10008000"/>
            <a:ext cx="4248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R3 · L'arbre à livres et l'oculus indigo de 2,80 m, anneau LED 2700 K</a:t>
            </a:r>
          </a:p>
        </p:txBody>
      </p:sp>
      <p:pic>
        <p:nvPicPr>
          <p:cNvPr id="4" name="Picture 3" descr="r3_s0.jpg"/>
          <p:cNvPicPr>
            <a:picLocks noChangeAspect="1"/>
          </p:cNvPicPr>
          <p:nvPr/>
        </p:nvPicPr>
        <p:blipFill>
          <a:blip r:embed="rId3"/>
          <a:stretch>
            <a:fillRect/>
          </a:stretch>
        </p:blipFill>
        <p:spPr>
          <a:xfrm>
            <a:off x="4932000" y="504000"/>
            <a:ext cx="3744000" cy="2340000"/>
          </a:xfrm>
          <a:prstGeom prst="rect">
            <a:avLst/>
          </a:prstGeom>
        </p:spPr>
      </p:pic>
      <p:sp>
        <p:nvSpPr>
          <p:cNvPr id="5" name="TextBox 4"/>
          <p:cNvSpPr txBox="1"/>
          <p:nvPr/>
        </p:nvSpPr>
        <p:spPr>
          <a:xfrm>
            <a:off x="4932000" y="2908800"/>
            <a:ext cx="3744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Vue source 02, traits</a:t>
            </a:r>
          </a:p>
        </p:txBody>
      </p:sp>
      <p:pic>
        <p:nvPicPr>
          <p:cNvPr id="6" name="Picture 5" descr="r3_s1.jpg"/>
          <p:cNvPicPr>
            <a:picLocks noChangeAspect="1"/>
          </p:cNvPicPr>
          <p:nvPr/>
        </p:nvPicPr>
        <p:blipFill>
          <a:blip r:embed="rId4"/>
          <a:stretch>
            <a:fillRect/>
          </a:stretch>
        </p:blipFill>
        <p:spPr>
          <a:xfrm>
            <a:off x="4932000" y="3240000"/>
            <a:ext cx="3744000" cy="2340000"/>
          </a:xfrm>
          <a:prstGeom prst="rect">
            <a:avLst/>
          </a:prstGeom>
        </p:spPr>
      </p:pic>
      <p:sp>
        <p:nvSpPr>
          <p:cNvPr id="7" name="TextBox 6"/>
          <p:cNvSpPr txBox="1"/>
          <p:nvPr/>
        </p:nvSpPr>
        <p:spPr>
          <a:xfrm>
            <a:off x="4932000" y="5644800"/>
            <a:ext cx="3744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Vue source 03, traits</a:t>
            </a:r>
          </a:p>
        </p:txBody>
      </p:sp>
      <p:pic>
        <p:nvPicPr>
          <p:cNvPr id="8" name="Picture 7" descr="r3_s2.jpg"/>
          <p:cNvPicPr>
            <a:picLocks noChangeAspect="1"/>
          </p:cNvPicPr>
          <p:nvPr/>
        </p:nvPicPr>
        <p:blipFill>
          <a:blip r:embed="rId5"/>
          <a:stretch>
            <a:fillRect/>
          </a:stretch>
        </p:blipFill>
        <p:spPr>
          <a:xfrm>
            <a:off x="4932000" y="5976000"/>
            <a:ext cx="3744000" cy="2340000"/>
          </a:xfrm>
          <a:prstGeom prst="rect">
            <a:avLst/>
          </a:prstGeom>
        </p:spPr>
      </p:pic>
      <p:sp>
        <p:nvSpPr>
          <p:cNvPr id="9" name="TextBox 8"/>
          <p:cNvSpPr txBox="1"/>
          <p:nvPr/>
        </p:nvSpPr>
        <p:spPr>
          <a:xfrm>
            <a:off x="4932000" y="8380800"/>
            <a:ext cx="3744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Vue source 04, traits</a:t>
            </a:r>
          </a:p>
        </p:txBody>
      </p:sp>
      <p:sp>
        <p:nvSpPr>
          <p:cNvPr id="10" name="TextBox 9"/>
          <p:cNvSpPr txBox="1"/>
          <p:nvPr/>
        </p:nvSpPr>
        <p:spPr>
          <a:xfrm>
            <a:off x="4932000" y="8856000"/>
            <a:ext cx="3744000" cy="297840"/>
          </a:xfrm>
          <a:prstGeom prst="rect">
            <a:avLst/>
          </a:prstGeom>
          <a:noFill/>
        </p:spPr>
        <p:txBody>
          <a:bodyPr wrap="square" lIns="0" rIns="0" tIns="0" bIns="0" anchor="t">
            <a:spAutoFit/>
          </a:bodyPr>
          <a:lstStyle/>
          <a:p>
            <a:pPr algn="l">
              <a:lnSpc>
                <a:spcPts val="960"/>
              </a:lnSpc>
            </a:pPr>
            <a:r>
              <a:rPr sz="720">
                <a:solidFill>
                  <a:srgbClr val="7D7168"/>
                </a:solidFill>
                <a:latin typeface="Jost"/>
              </a:rPr>
              <a:t>Les vues sources sont recalculées depuis l'IFC par v5/scripts/vues_rendu.py, avec la position, la cible et la focale enregistrées pour chaque caméra.</a:t>
            </a:r>
          </a:p>
        </p:txBody>
      </p:sp>
      <p:sp>
        <p:nvSpPr>
          <p:cNvPr id="11" name="Rectangle 10"/>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Demi_v3_A_arche_lockup_mono.png"/>
          <p:cNvPicPr>
            <a:picLocks noChangeAspect="1"/>
          </p:cNvPicPr>
          <p:nvPr/>
        </p:nvPicPr>
        <p:blipFill>
          <a:blip r:embed="rId6"/>
          <a:stretch>
            <a:fillRect/>
          </a:stretch>
        </p:blipFill>
        <p:spPr>
          <a:xfrm>
            <a:off x="9468000" y="432000"/>
            <a:ext cx="1656000" cy="561660"/>
          </a:xfrm>
          <a:prstGeom prst="rect">
            <a:avLst/>
          </a:prstGeom>
        </p:spPr>
      </p:pic>
      <p:sp>
        <p:nvSpPr>
          <p:cNvPr id="13" name="TextBox 12"/>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L'arbre à livres</a:t>
            </a:r>
          </a:p>
        </p:txBody>
      </p:sp>
      <p:sp>
        <p:nvSpPr>
          <p:cNvPr id="14" name="TextBox 13"/>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Le seul objet fort de la salle</a:t>
            </a:r>
          </a:p>
        </p:txBody>
      </p:sp>
      <p:sp>
        <p:nvSpPr>
          <p:cNvPr id="15" name="TextBox 14"/>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Rendu tiré de la vue 04 de la maquette</a:t>
            </a:r>
          </a:p>
        </p:txBody>
      </p:sp>
      <p:cxnSp>
        <p:nvCxnSpPr>
          <p:cNvPr id="16" name="Connector 15"/>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L'OBJET</a:t>
            </a:r>
          </a:p>
        </p:txBody>
      </p:sp>
      <p:sp>
        <p:nvSpPr>
          <p:cNvPr id="18" name="TextBox 17"/>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Un fût d'iroko porte des étagères circulaires et s'évase en canopée sous un oculus de 2,80 m. La sous-face de dalle est laquée indigo et un anneau LED indirect dessine le bord de l'oculus.</a:t>
            </a:r>
          </a:p>
        </p:txBody>
      </p:sp>
      <p:sp>
        <p:nvSpPr>
          <p:cNvPr id="19" name="TextBox 18"/>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DANS LA MAQUETTE</a:t>
            </a:r>
          </a:p>
        </p:txBody>
      </p:sp>
      <p:sp>
        <p:nvSpPr>
          <p:cNvPr id="20" name="TextBox 19"/>
          <p:cNvSpPr txBox="1"/>
          <p:nvPr/>
        </p:nvSpPr>
        <p:spPr>
          <a:xfrm>
            <a:off x="9468000" y="3361200"/>
            <a:ext cx="5292000" cy="511200"/>
          </a:xfrm>
          <a:prstGeom prst="rect">
            <a:avLst/>
          </a:prstGeom>
          <a:noFill/>
        </p:spPr>
        <p:txBody>
          <a:bodyPr wrap="square" lIns="0" rIns="0" tIns="0" bIns="0" anchor="t">
            <a:spAutoFit/>
          </a:bodyPr>
          <a:lstStyle/>
          <a:p>
            <a:pPr algn="l">
              <a:lnSpc>
                <a:spcPts val="1200"/>
              </a:lnSpc>
            </a:pPr>
            <a:r>
              <a:rPr sz="840">
                <a:solidFill>
                  <a:srgbClr val="2B2420"/>
                </a:solidFill>
                <a:latin typeface="Jost"/>
              </a:rPr>
              <a:t>Modélisé en IfcFurniture sculptural au centre de la salle de lecture, avec l'oculus en IfcCovering et l'anneau en IfcLightFixture. Il est fixé sous la dalle sans la traverser : la charge, l'ancrage et la réaction au feu restent à valider par le BET.</a:t>
            </a:r>
          </a:p>
        </p:txBody>
      </p:sp>
      <p:cxnSp>
        <p:nvCxnSpPr>
          <p:cNvPr id="21" name="Connector 20"/>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 R3 L'arbre à livres</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15 · ESQ V5 · Octobre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ghost_A02_plan_faux_plafond_reseaux.jpg"/>
          <p:cNvPicPr>
            <a:picLocks noChangeAspect="1"/>
          </p:cNvPicPr>
          <p:nvPr/>
        </p:nvPicPr>
        <p:blipFill>
          <a:blip r:embed="rId2"/>
          <a:stretch>
            <a:fillRect/>
          </a:stretch>
        </p:blipFill>
        <p:spPr>
          <a:xfrm>
            <a:off x="0" y="0"/>
            <a:ext cx="9180000" cy="10692000"/>
          </a:xfrm>
          <a:prstGeom prst="rect">
            <a:avLst/>
          </a:prstGeom>
        </p:spPr>
      </p:pic>
      <p:sp>
        <p:nvSpPr>
          <p:cNvPr id="3" name="Rectangle 2"/>
          <p:cNvSpPr/>
          <p:nvPr/>
        </p:nvSpPr>
        <p:spPr>
          <a:xfrm>
            <a:off x="1584000" y="3508000"/>
            <a:ext cx="6012000" cy="3244000"/>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584000" y="3508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84000" y="6752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584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596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944000" y="3868000"/>
            <a:ext cx="5292000" cy="155600"/>
          </a:xfrm>
          <a:prstGeom prst="rect">
            <a:avLst/>
          </a:prstGeom>
          <a:noFill/>
        </p:spPr>
        <p:txBody>
          <a:bodyPr wrap="square" lIns="0" rIns="0" tIns="0" bIns="0" anchor="t">
            <a:spAutoFit/>
          </a:bodyPr>
          <a:lstStyle/>
          <a:p>
            <a:pPr algn="l">
              <a:lnSpc>
                <a:spcPts val="800"/>
              </a:lnSpc>
            </a:pPr>
            <a:r>
              <a:rPr sz="700">
                <a:solidFill>
                  <a:srgbClr val="B4583E"/>
                </a:solidFill>
                <a:latin typeface="Jost"/>
              </a:rPr>
              <a:t>PLANCHE T01 · EN COURS</a:t>
            </a:r>
          </a:p>
        </p:txBody>
      </p:sp>
      <p:sp>
        <p:nvSpPr>
          <p:cNvPr id="9" name="TextBox 8"/>
          <p:cNvSpPr txBox="1"/>
          <p:nvPr/>
        </p:nvSpPr>
        <p:spPr>
          <a:xfrm>
            <a:off x="1944000" y="4120000"/>
            <a:ext cx="5292000" cy="409599"/>
          </a:xfrm>
          <a:prstGeom prst="rect">
            <a:avLst/>
          </a:prstGeom>
          <a:noFill/>
        </p:spPr>
        <p:txBody>
          <a:bodyPr wrap="square" lIns="0" rIns="0" tIns="0" bIns="0" anchor="t">
            <a:spAutoFit/>
          </a:bodyPr>
          <a:lstStyle/>
          <a:p>
            <a:pPr algn="l">
              <a:lnSpc>
                <a:spcPts val="2800"/>
              </a:lnSpc>
            </a:pPr>
            <a:r>
              <a:rPr sz="2400">
                <a:solidFill>
                  <a:srgbClr val="2B2420"/>
                </a:solidFill>
                <a:latin typeface="DM Serif Display"/>
              </a:rPr>
              <a:t>Courants forts</a:t>
            </a:r>
          </a:p>
        </p:txBody>
      </p:sp>
      <p:sp>
        <p:nvSpPr>
          <p:cNvPr id="10" name="TextBox 9"/>
          <p:cNvSpPr txBox="1"/>
          <p:nvPr/>
        </p:nvSpPr>
        <p:spPr>
          <a:xfrm>
            <a:off x="1944000" y="4624000"/>
            <a:ext cx="5292000" cy="371499"/>
          </a:xfrm>
          <a:prstGeom prst="rect">
            <a:avLst/>
          </a:prstGeom>
          <a:noFill/>
        </p:spPr>
        <p:txBody>
          <a:bodyPr wrap="square" lIns="0" rIns="0" tIns="0" bIns="0" anchor="t">
            <a:spAutoFit/>
          </a:bodyPr>
          <a:lstStyle/>
          <a:p>
            <a:pPr algn="l">
              <a:lnSpc>
                <a:spcPts val="1250"/>
              </a:lnSpc>
            </a:pPr>
            <a:r>
              <a:rPr sz="900">
                <a:solidFill>
                  <a:srgbClr val="2B2420"/>
                </a:solidFill>
                <a:latin typeface="Jost"/>
              </a:rPr>
              <a:t>Planche d'Ahoua, ingénieur bâtiment, tirée de la maquette IFC V5. Elle prend cette page dès la fusion de la branche des lots techniques.</a:t>
            </a:r>
          </a:p>
        </p:txBody>
      </p:sp>
      <p:cxnSp>
        <p:nvCxnSpPr>
          <p:cNvPr id="11" name="Connector 10"/>
          <p:cNvCxnSpPr/>
          <p:nvPr/>
        </p:nvCxnSpPr>
        <p:spPr>
          <a:xfrm>
            <a:off x="1944000" y="5308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944000" y="5452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CONTENU PRÉVU</a:t>
            </a:r>
          </a:p>
        </p:txBody>
      </p:sp>
      <p:sp>
        <p:nvSpPr>
          <p:cNvPr id="13" name="TextBox 12"/>
          <p:cNvSpPr txBox="1"/>
          <p:nvPr/>
        </p:nvSpPr>
        <p:spPr>
          <a:xfrm>
            <a:off x="1944000" y="5668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01</a:t>
            </a:r>
          </a:p>
        </p:txBody>
      </p:sp>
      <p:sp>
        <p:nvSpPr>
          <p:cNvPr id="14" name="TextBox 13"/>
          <p:cNvSpPr txBox="1"/>
          <p:nvPr/>
        </p:nvSpPr>
        <p:spPr>
          <a:xfrm>
            <a:off x="2196000" y="5668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Prises 2P+T 16 A : banque d'accueil, tables de lecture, salle de réunion, ménage</a:t>
            </a:r>
          </a:p>
        </p:txBody>
      </p:sp>
      <p:sp>
        <p:nvSpPr>
          <p:cNvPr id="15" name="TextBox 14"/>
          <p:cNvSpPr txBox="1"/>
          <p:nvPr/>
        </p:nvSpPr>
        <p:spPr>
          <a:xfrm>
            <a:off x="1944000" y="5867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02</a:t>
            </a:r>
          </a:p>
        </p:txBody>
      </p:sp>
      <p:sp>
        <p:nvSpPr>
          <p:cNvPr id="16" name="TextBox 15"/>
          <p:cNvSpPr txBox="1"/>
          <p:nvPr/>
        </p:nvSpPr>
        <p:spPr>
          <a:xfrm>
            <a:off x="2196000" y="5867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Circuits dédiés : 2 splits 9 000 BTU/h, mini-pompes de relevage des condensats</a:t>
            </a:r>
          </a:p>
        </p:txBody>
      </p:sp>
      <p:sp>
        <p:nvSpPr>
          <p:cNvPr id="17" name="TextBox 16"/>
          <p:cNvSpPr txBox="1"/>
          <p:nvPr/>
        </p:nvSpPr>
        <p:spPr>
          <a:xfrm>
            <a:off x="1944000" y="6066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03</a:t>
            </a:r>
          </a:p>
        </p:txBody>
      </p:sp>
      <p:sp>
        <p:nvSpPr>
          <p:cNvPr id="18" name="TextBox 17"/>
          <p:cNvSpPr txBox="1"/>
          <p:nvPr/>
        </p:nvSpPr>
        <p:spPr>
          <a:xfrm>
            <a:off x="2196000" y="6066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Cheminements sous faux-plafond, descentes en goulotte iroko</a:t>
            </a:r>
          </a:p>
        </p:txBody>
      </p:sp>
      <p:sp>
        <p:nvSpPr>
          <p:cNvPr id="19" name="TextBox 18"/>
          <p:cNvSpPr txBox="1"/>
          <p:nvPr/>
        </p:nvSpPr>
        <p:spPr>
          <a:xfrm>
            <a:off x="1944000" y="6265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04</a:t>
            </a:r>
          </a:p>
        </p:txBody>
      </p:sp>
      <p:sp>
        <p:nvSpPr>
          <p:cNvPr id="20" name="TextBox 19"/>
          <p:cNvSpPr txBox="1"/>
          <p:nvPr/>
        </p:nvSpPr>
        <p:spPr>
          <a:xfrm>
            <a:off x="2196000" y="6265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Tableau divisionnaire raccordé à l'arrivée de l'immeuble</a:t>
            </a:r>
          </a:p>
        </p:txBody>
      </p:sp>
      <p:sp>
        <p:nvSpPr>
          <p:cNvPr id="21" name="TextBox 20"/>
          <p:cNvSpPr txBox="1"/>
          <p:nvPr/>
        </p:nvSpPr>
        <p:spPr>
          <a:xfrm>
            <a:off x="504000" y="9720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En fond : planche A02 de la maquette V5, à titre de repère</a:t>
            </a:r>
          </a:p>
        </p:txBody>
      </p:sp>
      <p:sp>
        <p:nvSpPr>
          <p:cNvPr id="22" name="Rectangle 21"/>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4" name="TextBox 23"/>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Courants forts</a:t>
            </a:r>
          </a:p>
        </p:txBody>
      </p:sp>
      <p:sp>
        <p:nvSpPr>
          <p:cNvPr id="25" name="TextBox 2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Proposition technique</a:t>
            </a:r>
          </a:p>
        </p:txBody>
      </p:sp>
      <p:sp>
        <p:nvSpPr>
          <p:cNvPr id="26" name="TextBox 2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T01 · Ahoua, ingénieur bâtiment</a:t>
            </a:r>
          </a:p>
        </p:txBody>
      </p:sp>
      <p:cxnSp>
        <p:nvCxnSpPr>
          <p:cNvPr id="27" name="Connector 26"/>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DÉJÀ FIXÉ DANS LA MAQUETTE V5</a:t>
            </a:r>
          </a:p>
        </p:txBody>
      </p:sp>
      <p:sp>
        <p:nvSpPr>
          <p:cNvPr id="29" name="TextBox 28"/>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Tableau divisionnaire</a:t>
            </a:r>
          </a:p>
        </p:txBody>
      </p:sp>
      <p:sp>
        <p:nvSpPr>
          <p:cNvPr id="30" name="TextBox 29"/>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1 · 1,00 m dégagé</a:t>
            </a:r>
          </a:p>
        </p:txBody>
      </p:sp>
      <p:sp>
        <p:nvSpPr>
          <p:cNvPr id="31" name="TextBox 30"/>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Splits muraux 9 000 BTU/h</a:t>
            </a:r>
          </a:p>
        </p:txBody>
      </p:sp>
      <p:sp>
        <p:nvSpPr>
          <p:cNvPr id="32" name="TextBox 31"/>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a:t>
            </a:r>
          </a:p>
        </p:txBody>
      </p:sp>
      <p:sp>
        <p:nvSpPr>
          <p:cNvPr id="33" name="TextBox 32"/>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TGBT, groupe électrogène</a:t>
            </a:r>
          </a:p>
        </p:txBody>
      </p:sp>
      <p:sp>
        <p:nvSpPr>
          <p:cNvPr id="34" name="TextBox 33"/>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aucun, côté immeuble</a:t>
            </a:r>
          </a:p>
        </p:txBody>
      </p:sp>
      <p:sp>
        <p:nvSpPr>
          <p:cNvPr id="35" name="TextBox 34"/>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Distance tableau / WC</a:t>
            </a:r>
          </a:p>
        </p:txBody>
      </p:sp>
      <p:sp>
        <p:nvSpPr>
          <p:cNvPr id="36" name="TextBox 35"/>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5,92 m</a:t>
            </a:r>
          </a:p>
        </p:txBody>
      </p:sp>
      <p:sp>
        <p:nvSpPr>
          <p:cNvPr id="37" name="TextBox 36"/>
          <p:cNvSpPr txBox="1"/>
          <p:nvPr/>
        </p:nvSpPr>
        <p:spPr>
          <a:xfrm>
            <a:off x="9468000" y="34523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CADRE</a:t>
            </a:r>
          </a:p>
        </p:txBody>
      </p:sp>
      <p:sp>
        <p:nvSpPr>
          <p:cNvPr id="38" name="TextBox 37"/>
          <p:cNvSpPr txBox="1"/>
          <p:nvPr/>
        </p:nvSpPr>
        <p:spPr>
          <a:xfrm>
            <a:off x="9468000" y="36396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Local commercial unique en RDC sous logements. L'immeuble porte le TGBT, le groupe et les colonnes : le projet part de ses attentes. Rien ne traverse la structure existante.</a:t>
            </a:r>
          </a:p>
        </p:txBody>
      </p:sp>
      <p:cxnSp>
        <p:nvCxnSpPr>
          <p:cNvPr id="39" name="Connector 38"/>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41" name="TextBox 40"/>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42" name="TextBox 41"/>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43" name="TextBox 42"/>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44" name="TextBox 43"/>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45" name="TextBox 44"/>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16 · T01 Courants forts</a:t>
            </a:r>
          </a:p>
        </p:txBody>
      </p:sp>
      <p:sp>
        <p:nvSpPr>
          <p:cNvPr id="46" name="TextBox 45"/>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47" name="TextBox 46"/>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48" name="TextBox 47"/>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49" name="TextBox 48"/>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50" name="TextBox 49"/>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51" name="TextBox 50"/>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52" name="TextBox 51"/>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53" name="TextBox 52"/>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16 · ESQ V5 · Octobre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ghost_A02_plan_faux_plafond_reseaux.jpg"/>
          <p:cNvPicPr>
            <a:picLocks noChangeAspect="1"/>
          </p:cNvPicPr>
          <p:nvPr/>
        </p:nvPicPr>
        <p:blipFill>
          <a:blip r:embed="rId2"/>
          <a:stretch>
            <a:fillRect/>
          </a:stretch>
        </p:blipFill>
        <p:spPr>
          <a:xfrm>
            <a:off x="0" y="0"/>
            <a:ext cx="9180000" cy="10692000"/>
          </a:xfrm>
          <a:prstGeom prst="rect">
            <a:avLst/>
          </a:prstGeom>
        </p:spPr>
      </p:pic>
      <p:sp>
        <p:nvSpPr>
          <p:cNvPr id="3" name="Rectangle 2"/>
          <p:cNvSpPr/>
          <p:nvPr/>
        </p:nvSpPr>
        <p:spPr>
          <a:xfrm>
            <a:off x="1584000" y="3508000"/>
            <a:ext cx="6012000" cy="3244000"/>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584000" y="3508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84000" y="6752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584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596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944000" y="3868000"/>
            <a:ext cx="5292000" cy="155600"/>
          </a:xfrm>
          <a:prstGeom prst="rect">
            <a:avLst/>
          </a:prstGeom>
          <a:noFill/>
        </p:spPr>
        <p:txBody>
          <a:bodyPr wrap="square" lIns="0" rIns="0" tIns="0" bIns="0" anchor="t">
            <a:spAutoFit/>
          </a:bodyPr>
          <a:lstStyle/>
          <a:p>
            <a:pPr algn="l">
              <a:lnSpc>
                <a:spcPts val="800"/>
              </a:lnSpc>
            </a:pPr>
            <a:r>
              <a:rPr sz="700">
                <a:solidFill>
                  <a:srgbClr val="B4583E"/>
                </a:solidFill>
                <a:latin typeface="Jost"/>
              </a:rPr>
              <a:t>PLANCHE T02 · EN COURS</a:t>
            </a:r>
          </a:p>
        </p:txBody>
      </p:sp>
      <p:sp>
        <p:nvSpPr>
          <p:cNvPr id="9" name="TextBox 8"/>
          <p:cNvSpPr txBox="1"/>
          <p:nvPr/>
        </p:nvSpPr>
        <p:spPr>
          <a:xfrm>
            <a:off x="1944000" y="4120000"/>
            <a:ext cx="5292000" cy="409599"/>
          </a:xfrm>
          <a:prstGeom prst="rect">
            <a:avLst/>
          </a:prstGeom>
          <a:noFill/>
        </p:spPr>
        <p:txBody>
          <a:bodyPr wrap="square" lIns="0" rIns="0" tIns="0" bIns="0" anchor="t">
            <a:spAutoFit/>
          </a:bodyPr>
          <a:lstStyle/>
          <a:p>
            <a:pPr algn="l">
              <a:lnSpc>
                <a:spcPts val="2800"/>
              </a:lnSpc>
            </a:pPr>
            <a:r>
              <a:rPr sz="2400">
                <a:solidFill>
                  <a:srgbClr val="2B2420"/>
                </a:solidFill>
                <a:latin typeface="DM Serif Display"/>
              </a:rPr>
              <a:t>Courants faibles et éclairage</a:t>
            </a:r>
          </a:p>
        </p:txBody>
      </p:sp>
      <p:sp>
        <p:nvSpPr>
          <p:cNvPr id="10" name="TextBox 9"/>
          <p:cNvSpPr txBox="1"/>
          <p:nvPr/>
        </p:nvSpPr>
        <p:spPr>
          <a:xfrm>
            <a:off x="1944000" y="4624000"/>
            <a:ext cx="5292000" cy="371499"/>
          </a:xfrm>
          <a:prstGeom prst="rect">
            <a:avLst/>
          </a:prstGeom>
          <a:noFill/>
        </p:spPr>
        <p:txBody>
          <a:bodyPr wrap="square" lIns="0" rIns="0" tIns="0" bIns="0" anchor="t">
            <a:spAutoFit/>
          </a:bodyPr>
          <a:lstStyle/>
          <a:p>
            <a:pPr algn="l">
              <a:lnSpc>
                <a:spcPts val="1250"/>
              </a:lnSpc>
            </a:pPr>
            <a:r>
              <a:rPr sz="900">
                <a:solidFill>
                  <a:srgbClr val="2B2420"/>
                </a:solidFill>
                <a:latin typeface="Jost"/>
              </a:rPr>
              <a:t>Planche d'Ahoua, ingénieur bâtiment, tirée de la maquette IFC V5. Elle prend cette page dès la fusion de la branche des lots techniques.</a:t>
            </a:r>
          </a:p>
        </p:txBody>
      </p:sp>
      <p:cxnSp>
        <p:nvCxnSpPr>
          <p:cNvPr id="11" name="Connector 10"/>
          <p:cNvCxnSpPr/>
          <p:nvPr/>
        </p:nvCxnSpPr>
        <p:spPr>
          <a:xfrm>
            <a:off x="1944000" y="5308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944000" y="5452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CONTENU PRÉVU</a:t>
            </a:r>
          </a:p>
        </p:txBody>
      </p:sp>
      <p:sp>
        <p:nvSpPr>
          <p:cNvPr id="13" name="TextBox 12"/>
          <p:cNvSpPr txBox="1"/>
          <p:nvPr/>
        </p:nvSpPr>
        <p:spPr>
          <a:xfrm>
            <a:off x="1944000" y="5668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01</a:t>
            </a:r>
          </a:p>
        </p:txBody>
      </p:sp>
      <p:sp>
        <p:nvSpPr>
          <p:cNvPr id="14" name="TextBox 13"/>
          <p:cNvSpPr txBox="1"/>
          <p:nvPr/>
        </p:nvSpPr>
        <p:spPr>
          <a:xfrm>
            <a:off x="2196000" y="5668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RJ45 cat. 6 : accueil, tables de travail, salle de réunion, point d'accès Wi-Fi en plafond</a:t>
            </a:r>
          </a:p>
        </p:txBody>
      </p:sp>
      <p:sp>
        <p:nvSpPr>
          <p:cNvPr id="15" name="TextBox 14"/>
          <p:cNvSpPr txBox="1"/>
          <p:nvPr/>
        </p:nvSpPr>
        <p:spPr>
          <a:xfrm>
            <a:off x="1944000" y="5867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02</a:t>
            </a:r>
          </a:p>
        </p:txBody>
      </p:sp>
      <p:sp>
        <p:nvSpPr>
          <p:cNvPr id="16" name="TextBox 15"/>
          <p:cNvSpPr txBox="1"/>
          <p:nvPr/>
        </p:nvSpPr>
        <p:spPr>
          <a:xfrm>
            <a:off x="2196000" y="5867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Baie de brassage murale dans le placard technique</a:t>
            </a:r>
          </a:p>
        </p:txBody>
      </p:sp>
      <p:sp>
        <p:nvSpPr>
          <p:cNvPr id="17" name="TextBox 16"/>
          <p:cNvSpPr txBox="1"/>
          <p:nvPr/>
        </p:nvSpPr>
        <p:spPr>
          <a:xfrm>
            <a:off x="1944000" y="6066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03</a:t>
            </a:r>
          </a:p>
        </p:txBody>
      </p:sp>
      <p:sp>
        <p:nvSpPr>
          <p:cNvPr id="18" name="TextBox 17"/>
          <p:cNvSpPr txBox="1"/>
          <p:nvPr/>
        </p:nvSpPr>
        <p:spPr>
          <a:xfrm>
            <a:off x="2196000" y="6066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Éclairage 2700 K : downlights, suspensions terre cuite, anneau LED de l'oculus, réglette de vitrine</a:t>
            </a:r>
          </a:p>
        </p:txBody>
      </p:sp>
      <p:sp>
        <p:nvSpPr>
          <p:cNvPr id="19" name="TextBox 18"/>
          <p:cNvSpPr txBox="1"/>
          <p:nvPr/>
        </p:nvSpPr>
        <p:spPr>
          <a:xfrm>
            <a:off x="1944000" y="6265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04</a:t>
            </a:r>
          </a:p>
        </p:txBody>
      </p:sp>
      <p:sp>
        <p:nvSpPr>
          <p:cNvPr id="20" name="TextBox 19"/>
          <p:cNvSpPr txBox="1"/>
          <p:nvPr/>
        </p:nvSpPr>
        <p:spPr>
          <a:xfrm>
            <a:off x="2196000" y="6265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Commandes par zone et détection au WC</a:t>
            </a:r>
          </a:p>
        </p:txBody>
      </p:sp>
      <p:sp>
        <p:nvSpPr>
          <p:cNvPr id="21" name="TextBox 20"/>
          <p:cNvSpPr txBox="1"/>
          <p:nvPr/>
        </p:nvSpPr>
        <p:spPr>
          <a:xfrm>
            <a:off x="504000" y="9720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En fond : planche A02 de la maquette V5, à titre de repère</a:t>
            </a:r>
          </a:p>
        </p:txBody>
      </p:sp>
      <p:sp>
        <p:nvSpPr>
          <p:cNvPr id="22" name="Rectangle 21"/>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4" name="TextBox 23"/>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Courants faibles et éclairage</a:t>
            </a:r>
          </a:p>
        </p:txBody>
      </p:sp>
      <p:sp>
        <p:nvSpPr>
          <p:cNvPr id="25" name="TextBox 2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Proposition technique</a:t>
            </a:r>
          </a:p>
        </p:txBody>
      </p:sp>
      <p:sp>
        <p:nvSpPr>
          <p:cNvPr id="26" name="TextBox 2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T02 · Ahoua, ingénieur bâtiment</a:t>
            </a:r>
          </a:p>
        </p:txBody>
      </p:sp>
      <p:cxnSp>
        <p:nvCxnSpPr>
          <p:cNvPr id="27" name="Connector 26"/>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DÉJÀ FIXÉ DANS LA MAQUETTE V5</a:t>
            </a:r>
          </a:p>
        </p:txBody>
      </p:sp>
      <p:sp>
        <p:nvSpPr>
          <p:cNvPr id="29" name="TextBox 28"/>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Luminaires IfcLightFixture</a:t>
            </a:r>
          </a:p>
        </p:txBody>
      </p:sp>
      <p:sp>
        <p:nvSpPr>
          <p:cNvPr id="30" name="TextBox 29"/>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27</a:t>
            </a:r>
          </a:p>
        </p:txBody>
      </p:sp>
      <p:sp>
        <p:nvSpPr>
          <p:cNvPr id="31" name="TextBox 30"/>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Température de couleur</a:t>
            </a:r>
          </a:p>
        </p:txBody>
      </p:sp>
      <p:sp>
        <p:nvSpPr>
          <p:cNvPr id="32" name="TextBox 31"/>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2700 K</a:t>
            </a:r>
          </a:p>
        </p:txBody>
      </p:sp>
      <p:sp>
        <p:nvSpPr>
          <p:cNvPr id="33" name="TextBox 32"/>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Placard technique net</a:t>
            </a:r>
          </a:p>
        </p:txBody>
      </p:sp>
      <p:sp>
        <p:nvSpPr>
          <p:cNvPr id="34" name="TextBox 33"/>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0,60 × 0,40 m</a:t>
            </a:r>
          </a:p>
        </p:txBody>
      </p:sp>
      <p:sp>
        <p:nvSpPr>
          <p:cNvPr id="35" name="TextBox 34"/>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Plénum sous dalle</a:t>
            </a:r>
          </a:p>
        </p:txBody>
      </p:sp>
      <p:sp>
        <p:nvSpPr>
          <p:cNvPr id="36" name="TextBox 35"/>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0,26 m</a:t>
            </a:r>
          </a:p>
        </p:txBody>
      </p:sp>
      <p:sp>
        <p:nvSpPr>
          <p:cNvPr id="37" name="TextBox 36"/>
          <p:cNvSpPr txBox="1"/>
          <p:nvPr/>
        </p:nvSpPr>
        <p:spPr>
          <a:xfrm>
            <a:off x="9468000" y="34523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CADRE</a:t>
            </a:r>
          </a:p>
        </p:txBody>
      </p:sp>
      <p:sp>
        <p:nvSpPr>
          <p:cNvPr id="38" name="TextBox 37"/>
          <p:cNvSpPr txBox="1"/>
          <p:nvPr/>
        </p:nvSpPr>
        <p:spPr>
          <a:xfrm>
            <a:off x="9468000" y="36396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Local commercial unique en RDC sous logements. L'immeuble porte le TGBT, le groupe et les colonnes : le projet part de ses attentes. Rien ne traverse la structure existante.</a:t>
            </a:r>
          </a:p>
        </p:txBody>
      </p:sp>
      <p:cxnSp>
        <p:nvCxnSpPr>
          <p:cNvPr id="39" name="Connector 38"/>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41" name="TextBox 40"/>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42" name="TextBox 41"/>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43" name="TextBox 42"/>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44" name="TextBox 43"/>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45" name="TextBox 44"/>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17 · T02 Courants faibles et éclairage</a:t>
            </a:r>
          </a:p>
        </p:txBody>
      </p:sp>
      <p:sp>
        <p:nvSpPr>
          <p:cNvPr id="46" name="TextBox 45"/>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47" name="TextBox 46"/>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48" name="TextBox 47"/>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49" name="TextBox 48"/>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50" name="TextBox 49"/>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51" name="TextBox 50"/>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52" name="TextBox 51"/>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53" name="TextBox 52"/>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17 · ESQ V5 · Octobre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ghost_A01_plan_RDC.jpg"/>
          <p:cNvPicPr>
            <a:picLocks noChangeAspect="1"/>
          </p:cNvPicPr>
          <p:nvPr/>
        </p:nvPicPr>
        <p:blipFill>
          <a:blip r:embed="rId2"/>
          <a:stretch>
            <a:fillRect/>
          </a:stretch>
        </p:blipFill>
        <p:spPr>
          <a:xfrm>
            <a:off x="0" y="0"/>
            <a:ext cx="9180000" cy="10692000"/>
          </a:xfrm>
          <a:prstGeom prst="rect">
            <a:avLst/>
          </a:prstGeom>
        </p:spPr>
      </p:pic>
      <p:sp>
        <p:nvSpPr>
          <p:cNvPr id="3" name="Rectangle 2"/>
          <p:cNvSpPr/>
          <p:nvPr/>
        </p:nvSpPr>
        <p:spPr>
          <a:xfrm>
            <a:off x="1584000" y="3508000"/>
            <a:ext cx="6012000" cy="3244000"/>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584000" y="3508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84000" y="6752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584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596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944000" y="3868000"/>
            <a:ext cx="5292000" cy="155600"/>
          </a:xfrm>
          <a:prstGeom prst="rect">
            <a:avLst/>
          </a:prstGeom>
          <a:noFill/>
        </p:spPr>
        <p:txBody>
          <a:bodyPr wrap="square" lIns="0" rIns="0" tIns="0" bIns="0" anchor="t">
            <a:spAutoFit/>
          </a:bodyPr>
          <a:lstStyle/>
          <a:p>
            <a:pPr algn="l">
              <a:lnSpc>
                <a:spcPts val="800"/>
              </a:lnSpc>
            </a:pPr>
            <a:r>
              <a:rPr sz="700">
                <a:solidFill>
                  <a:srgbClr val="B4583E"/>
                </a:solidFill>
                <a:latin typeface="Jost"/>
              </a:rPr>
              <a:t>PLANCHE T03 · EN COURS</a:t>
            </a:r>
          </a:p>
        </p:txBody>
      </p:sp>
      <p:sp>
        <p:nvSpPr>
          <p:cNvPr id="9" name="TextBox 8"/>
          <p:cNvSpPr txBox="1"/>
          <p:nvPr/>
        </p:nvSpPr>
        <p:spPr>
          <a:xfrm>
            <a:off x="1944000" y="4120000"/>
            <a:ext cx="5292000" cy="409599"/>
          </a:xfrm>
          <a:prstGeom prst="rect">
            <a:avLst/>
          </a:prstGeom>
          <a:noFill/>
        </p:spPr>
        <p:txBody>
          <a:bodyPr wrap="square" lIns="0" rIns="0" tIns="0" bIns="0" anchor="t">
            <a:spAutoFit/>
          </a:bodyPr>
          <a:lstStyle/>
          <a:p>
            <a:pPr algn="l">
              <a:lnSpc>
                <a:spcPts val="2800"/>
              </a:lnSpc>
            </a:pPr>
            <a:r>
              <a:rPr sz="2400">
                <a:solidFill>
                  <a:srgbClr val="2B2420"/>
                </a:solidFill>
                <a:latin typeface="DM Serif Display"/>
              </a:rPr>
              <a:t>Plomberie AEP, EU, EV</a:t>
            </a:r>
          </a:p>
        </p:txBody>
      </p:sp>
      <p:sp>
        <p:nvSpPr>
          <p:cNvPr id="10" name="TextBox 9"/>
          <p:cNvSpPr txBox="1"/>
          <p:nvPr/>
        </p:nvSpPr>
        <p:spPr>
          <a:xfrm>
            <a:off x="1944000" y="4624000"/>
            <a:ext cx="5292000" cy="371499"/>
          </a:xfrm>
          <a:prstGeom prst="rect">
            <a:avLst/>
          </a:prstGeom>
          <a:noFill/>
        </p:spPr>
        <p:txBody>
          <a:bodyPr wrap="square" lIns="0" rIns="0" tIns="0" bIns="0" anchor="t">
            <a:spAutoFit/>
          </a:bodyPr>
          <a:lstStyle/>
          <a:p>
            <a:pPr algn="l">
              <a:lnSpc>
                <a:spcPts val="1250"/>
              </a:lnSpc>
            </a:pPr>
            <a:r>
              <a:rPr sz="900">
                <a:solidFill>
                  <a:srgbClr val="2B2420"/>
                </a:solidFill>
                <a:latin typeface="Jost"/>
              </a:rPr>
              <a:t>Planche d'Ahoua, ingénieur bâtiment, tirée de la maquette IFC V5. Elle prend cette page dès la fusion de la branche des lots techniques.</a:t>
            </a:r>
          </a:p>
        </p:txBody>
      </p:sp>
      <p:cxnSp>
        <p:nvCxnSpPr>
          <p:cNvPr id="11" name="Connector 10"/>
          <p:cNvCxnSpPr/>
          <p:nvPr/>
        </p:nvCxnSpPr>
        <p:spPr>
          <a:xfrm>
            <a:off x="1944000" y="5308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944000" y="5452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CONTENU PRÉVU</a:t>
            </a:r>
          </a:p>
        </p:txBody>
      </p:sp>
      <p:sp>
        <p:nvSpPr>
          <p:cNvPr id="13" name="TextBox 12"/>
          <p:cNvSpPr txBox="1"/>
          <p:nvPr/>
        </p:nvSpPr>
        <p:spPr>
          <a:xfrm>
            <a:off x="1944000" y="5668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01</a:t>
            </a:r>
          </a:p>
        </p:txBody>
      </p:sp>
      <p:sp>
        <p:nvSpPr>
          <p:cNvPr id="14" name="TextBox 13"/>
          <p:cNvSpPr txBox="1"/>
          <p:nvPr/>
        </p:nvSpPr>
        <p:spPr>
          <a:xfrm>
            <a:off x="2196000" y="5668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Alimentation eau froide depuis l'attente de l'immeuble, vanne d'arrêt et compteur divisionnaire</a:t>
            </a:r>
          </a:p>
        </p:txBody>
      </p:sp>
      <p:sp>
        <p:nvSpPr>
          <p:cNvPr id="15" name="TextBox 14"/>
          <p:cNvSpPr txBox="1"/>
          <p:nvPr/>
        </p:nvSpPr>
        <p:spPr>
          <a:xfrm>
            <a:off x="1944000" y="5867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02</a:t>
            </a:r>
          </a:p>
        </p:txBody>
      </p:sp>
      <p:sp>
        <p:nvSpPr>
          <p:cNvPr id="16" name="TextBox 15"/>
          <p:cNvSpPr txBox="1"/>
          <p:nvPr/>
        </p:nvSpPr>
        <p:spPr>
          <a:xfrm>
            <a:off x="2196000" y="5867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WC 4350629 et lave-mains 4350630/4350631 de la V4 conservés</a:t>
            </a:r>
          </a:p>
        </p:txBody>
      </p:sp>
      <p:sp>
        <p:nvSpPr>
          <p:cNvPr id="17" name="TextBox 16"/>
          <p:cNvSpPr txBox="1"/>
          <p:nvPr/>
        </p:nvSpPr>
        <p:spPr>
          <a:xfrm>
            <a:off x="1944000" y="6066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03</a:t>
            </a:r>
          </a:p>
        </p:txBody>
      </p:sp>
      <p:sp>
        <p:nvSpPr>
          <p:cNvPr id="18" name="TextBox 17"/>
          <p:cNvSpPr txBox="1"/>
          <p:nvPr/>
        </p:nvSpPr>
        <p:spPr>
          <a:xfrm>
            <a:off x="2196000" y="6066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EU/EV vers les descentes existantes en coffrage 0,30 × 0,30</a:t>
            </a:r>
          </a:p>
        </p:txBody>
      </p:sp>
      <p:sp>
        <p:nvSpPr>
          <p:cNvPr id="19" name="TextBox 18"/>
          <p:cNvSpPr txBox="1"/>
          <p:nvPr/>
        </p:nvSpPr>
        <p:spPr>
          <a:xfrm>
            <a:off x="1944000" y="6265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04</a:t>
            </a:r>
          </a:p>
        </p:txBody>
      </p:sp>
      <p:sp>
        <p:nvSpPr>
          <p:cNvPr id="20" name="TextBox 19"/>
          <p:cNvSpPr txBox="1"/>
          <p:nvPr/>
        </p:nvSpPr>
        <p:spPr>
          <a:xfrm>
            <a:off x="2196000" y="6265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Condensats des splits relevés par mini-pompes vers EU</a:t>
            </a:r>
          </a:p>
        </p:txBody>
      </p:sp>
      <p:sp>
        <p:nvSpPr>
          <p:cNvPr id="21" name="TextBox 20"/>
          <p:cNvSpPr txBox="1"/>
          <p:nvPr/>
        </p:nvSpPr>
        <p:spPr>
          <a:xfrm>
            <a:off x="504000" y="9720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En fond : planche A01 de la maquette V5, à titre de repère</a:t>
            </a:r>
          </a:p>
        </p:txBody>
      </p:sp>
      <p:sp>
        <p:nvSpPr>
          <p:cNvPr id="22" name="Rectangle 21"/>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4" name="TextBox 23"/>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Plomberie AEP, EU, EV</a:t>
            </a:r>
          </a:p>
        </p:txBody>
      </p:sp>
      <p:sp>
        <p:nvSpPr>
          <p:cNvPr id="25" name="TextBox 2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Proposition technique</a:t>
            </a:r>
          </a:p>
        </p:txBody>
      </p:sp>
      <p:sp>
        <p:nvSpPr>
          <p:cNvPr id="26" name="TextBox 2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T03 · Ahoua, ingénieur bâtiment</a:t>
            </a:r>
          </a:p>
        </p:txBody>
      </p:sp>
      <p:cxnSp>
        <p:nvCxnSpPr>
          <p:cNvPr id="27" name="Connector 26"/>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DÉJÀ FIXÉ DANS LA MAQUETTE V5</a:t>
            </a:r>
          </a:p>
        </p:txBody>
      </p:sp>
      <p:sp>
        <p:nvSpPr>
          <p:cNvPr id="29" name="TextBox 28"/>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Appareils sanitaires</a:t>
            </a:r>
          </a:p>
        </p:txBody>
      </p:sp>
      <p:sp>
        <p:nvSpPr>
          <p:cNvPr id="30" name="TextBox 29"/>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WC + lave-mains (V4)</a:t>
            </a:r>
          </a:p>
        </p:txBody>
      </p:sp>
      <p:sp>
        <p:nvSpPr>
          <p:cNvPr id="31" name="TextBox 30"/>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Coffrages EU/EV</a:t>
            </a:r>
          </a:p>
        </p:txBody>
      </p:sp>
      <p:sp>
        <p:nvSpPr>
          <p:cNvPr id="32" name="TextBox 31"/>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 · à relever sur site</a:t>
            </a:r>
          </a:p>
        </p:txBody>
      </p:sp>
      <p:sp>
        <p:nvSpPr>
          <p:cNvPr id="33" name="TextBox 32"/>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Réservations Ø 0,10</a:t>
            </a:r>
          </a:p>
        </p:txBody>
      </p:sp>
      <p:sp>
        <p:nvSpPr>
          <p:cNvPr id="34" name="TextBox 33"/>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5 · hors structure</a:t>
            </a:r>
          </a:p>
        </p:txBody>
      </p:sp>
      <p:sp>
        <p:nvSpPr>
          <p:cNvPr id="35" name="TextBox 34"/>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Pénétration dans la structure</a:t>
            </a:r>
          </a:p>
        </p:txBody>
      </p:sp>
      <p:sp>
        <p:nvSpPr>
          <p:cNvPr id="36" name="TextBox 35"/>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a:t>
            </a:r>
          </a:p>
        </p:txBody>
      </p:sp>
      <p:sp>
        <p:nvSpPr>
          <p:cNvPr id="37" name="TextBox 36"/>
          <p:cNvSpPr txBox="1"/>
          <p:nvPr/>
        </p:nvSpPr>
        <p:spPr>
          <a:xfrm>
            <a:off x="9468000" y="34523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CADRE</a:t>
            </a:r>
          </a:p>
        </p:txBody>
      </p:sp>
      <p:sp>
        <p:nvSpPr>
          <p:cNvPr id="38" name="TextBox 37"/>
          <p:cNvSpPr txBox="1"/>
          <p:nvPr/>
        </p:nvSpPr>
        <p:spPr>
          <a:xfrm>
            <a:off x="9468000" y="36396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Local commercial unique en RDC sous logements. L'immeuble porte le TGBT, le groupe et les colonnes : le projet part de ses attentes. Rien ne traverse la structure existante.</a:t>
            </a:r>
          </a:p>
        </p:txBody>
      </p:sp>
      <p:cxnSp>
        <p:nvCxnSpPr>
          <p:cNvPr id="39" name="Connector 38"/>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41" name="TextBox 40"/>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42" name="TextBox 41"/>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43" name="TextBox 42"/>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44" name="TextBox 43"/>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45" name="TextBox 44"/>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18 · T03 Plomberie AEP, EU, EV</a:t>
            </a:r>
          </a:p>
        </p:txBody>
      </p:sp>
      <p:sp>
        <p:nvSpPr>
          <p:cNvPr id="46" name="TextBox 45"/>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47" name="TextBox 46"/>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48" name="TextBox 47"/>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49" name="TextBox 48"/>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50" name="TextBox 49"/>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51" name="TextBox 50"/>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52" name="TextBox 51"/>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53" name="TextBox 52"/>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18 · ESQ V5 · Octobre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ghost_A03_coupe_AA.jpg"/>
          <p:cNvPicPr>
            <a:picLocks noChangeAspect="1"/>
          </p:cNvPicPr>
          <p:nvPr/>
        </p:nvPicPr>
        <p:blipFill>
          <a:blip r:embed="rId2"/>
          <a:stretch>
            <a:fillRect/>
          </a:stretch>
        </p:blipFill>
        <p:spPr>
          <a:xfrm>
            <a:off x="0" y="0"/>
            <a:ext cx="9180000" cy="10692000"/>
          </a:xfrm>
          <a:prstGeom prst="rect">
            <a:avLst/>
          </a:prstGeom>
        </p:spPr>
      </p:pic>
      <p:sp>
        <p:nvSpPr>
          <p:cNvPr id="3" name="Rectangle 2"/>
          <p:cNvSpPr/>
          <p:nvPr/>
        </p:nvSpPr>
        <p:spPr>
          <a:xfrm>
            <a:off x="1584000" y="3508000"/>
            <a:ext cx="6012000" cy="3244000"/>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584000" y="3508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84000" y="6752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584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596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944000" y="3868000"/>
            <a:ext cx="5292000" cy="155600"/>
          </a:xfrm>
          <a:prstGeom prst="rect">
            <a:avLst/>
          </a:prstGeom>
          <a:noFill/>
        </p:spPr>
        <p:txBody>
          <a:bodyPr wrap="square" lIns="0" rIns="0" tIns="0" bIns="0" anchor="t">
            <a:spAutoFit/>
          </a:bodyPr>
          <a:lstStyle/>
          <a:p>
            <a:pPr algn="l">
              <a:lnSpc>
                <a:spcPts val="800"/>
              </a:lnSpc>
            </a:pPr>
            <a:r>
              <a:rPr sz="700">
                <a:solidFill>
                  <a:srgbClr val="B4583E"/>
                </a:solidFill>
                <a:latin typeface="Jost"/>
              </a:rPr>
              <a:t>PLANCHE T04 · EN COURS</a:t>
            </a:r>
          </a:p>
        </p:txBody>
      </p:sp>
      <p:sp>
        <p:nvSpPr>
          <p:cNvPr id="9" name="TextBox 8"/>
          <p:cNvSpPr txBox="1"/>
          <p:nvPr/>
        </p:nvSpPr>
        <p:spPr>
          <a:xfrm>
            <a:off x="1944000" y="4120000"/>
            <a:ext cx="5292000" cy="409599"/>
          </a:xfrm>
          <a:prstGeom prst="rect">
            <a:avLst/>
          </a:prstGeom>
          <a:noFill/>
        </p:spPr>
        <p:txBody>
          <a:bodyPr wrap="square" lIns="0" rIns="0" tIns="0" bIns="0" anchor="t">
            <a:spAutoFit/>
          </a:bodyPr>
          <a:lstStyle/>
          <a:p>
            <a:pPr algn="l">
              <a:lnSpc>
                <a:spcPts val="2800"/>
              </a:lnSpc>
            </a:pPr>
            <a:r>
              <a:rPr sz="2400">
                <a:solidFill>
                  <a:srgbClr val="2B2420"/>
                </a:solidFill>
                <a:latin typeface="DM Serif Display"/>
              </a:rPr>
              <a:t>Détails techniques</a:t>
            </a:r>
          </a:p>
        </p:txBody>
      </p:sp>
      <p:sp>
        <p:nvSpPr>
          <p:cNvPr id="10" name="TextBox 9"/>
          <p:cNvSpPr txBox="1"/>
          <p:nvPr/>
        </p:nvSpPr>
        <p:spPr>
          <a:xfrm>
            <a:off x="1944000" y="4624000"/>
            <a:ext cx="5292000" cy="371499"/>
          </a:xfrm>
          <a:prstGeom prst="rect">
            <a:avLst/>
          </a:prstGeom>
          <a:noFill/>
        </p:spPr>
        <p:txBody>
          <a:bodyPr wrap="square" lIns="0" rIns="0" tIns="0" bIns="0" anchor="t">
            <a:spAutoFit/>
          </a:bodyPr>
          <a:lstStyle/>
          <a:p>
            <a:pPr algn="l">
              <a:lnSpc>
                <a:spcPts val="1250"/>
              </a:lnSpc>
            </a:pPr>
            <a:r>
              <a:rPr sz="900">
                <a:solidFill>
                  <a:srgbClr val="2B2420"/>
                </a:solidFill>
                <a:latin typeface="Jost"/>
              </a:rPr>
              <a:t>Planche d'Ahoua, ingénieur bâtiment, tirée de la maquette IFC V5. Elle prend cette page dès la fusion de la branche des lots techniques.</a:t>
            </a:r>
          </a:p>
        </p:txBody>
      </p:sp>
      <p:cxnSp>
        <p:nvCxnSpPr>
          <p:cNvPr id="11" name="Connector 10"/>
          <p:cNvCxnSpPr/>
          <p:nvPr/>
        </p:nvCxnSpPr>
        <p:spPr>
          <a:xfrm>
            <a:off x="1944000" y="5308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944000" y="5452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CONTENU PRÉVU</a:t>
            </a:r>
          </a:p>
        </p:txBody>
      </p:sp>
      <p:sp>
        <p:nvSpPr>
          <p:cNvPr id="13" name="TextBox 12"/>
          <p:cNvSpPr txBox="1"/>
          <p:nvPr/>
        </p:nvSpPr>
        <p:spPr>
          <a:xfrm>
            <a:off x="1944000" y="5668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01</a:t>
            </a:r>
          </a:p>
        </p:txBody>
      </p:sp>
      <p:sp>
        <p:nvSpPr>
          <p:cNvPr id="14" name="TextBox 13"/>
          <p:cNvSpPr txBox="1"/>
          <p:nvPr/>
        </p:nvSpPr>
        <p:spPr>
          <a:xfrm>
            <a:off x="2196000" y="5668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Fixation non traversante de l'arbre à livres et de l'oculus sous dalle</a:t>
            </a:r>
          </a:p>
        </p:txBody>
      </p:sp>
      <p:sp>
        <p:nvSpPr>
          <p:cNvPr id="15" name="TextBox 14"/>
          <p:cNvSpPr txBox="1"/>
          <p:nvPr/>
        </p:nvSpPr>
        <p:spPr>
          <a:xfrm>
            <a:off x="1944000" y="5867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02</a:t>
            </a:r>
          </a:p>
        </p:txBody>
      </p:sp>
      <p:sp>
        <p:nvSpPr>
          <p:cNvPr id="16" name="TextBox 15"/>
          <p:cNvSpPr txBox="1"/>
          <p:nvPr/>
        </p:nvSpPr>
        <p:spPr>
          <a:xfrm>
            <a:off x="2196000" y="5867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Faux-plafond acoustique +3,00 et trappes de visite des splits</a:t>
            </a:r>
          </a:p>
        </p:txBody>
      </p:sp>
      <p:sp>
        <p:nvSpPr>
          <p:cNvPr id="17" name="TextBox 16"/>
          <p:cNvSpPr txBox="1"/>
          <p:nvPr/>
        </p:nvSpPr>
        <p:spPr>
          <a:xfrm>
            <a:off x="1944000" y="6066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03</a:t>
            </a:r>
          </a:p>
        </p:txBody>
      </p:sp>
      <p:sp>
        <p:nvSpPr>
          <p:cNvPr id="18" name="TextBox 17"/>
          <p:cNvSpPr txBox="1"/>
          <p:nvPr/>
        </p:nvSpPr>
        <p:spPr>
          <a:xfrm>
            <a:off x="2196000" y="6066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Châssis acier noir dans les baies cintrées V4, inserts claustra Adinkra</a:t>
            </a:r>
          </a:p>
        </p:txBody>
      </p:sp>
      <p:sp>
        <p:nvSpPr>
          <p:cNvPr id="19" name="TextBox 18"/>
          <p:cNvSpPr txBox="1"/>
          <p:nvPr/>
        </p:nvSpPr>
        <p:spPr>
          <a:xfrm>
            <a:off x="1944000" y="6265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04</a:t>
            </a:r>
          </a:p>
        </p:txBody>
      </p:sp>
      <p:sp>
        <p:nvSpPr>
          <p:cNvPr id="20" name="TextBox 19"/>
          <p:cNvSpPr txBox="1"/>
          <p:nvPr/>
        </p:nvSpPr>
        <p:spPr>
          <a:xfrm>
            <a:off x="2196000" y="6265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Passage des liaisons frigorifiques par la baie arrière existante</a:t>
            </a:r>
          </a:p>
        </p:txBody>
      </p:sp>
      <p:sp>
        <p:nvSpPr>
          <p:cNvPr id="21" name="TextBox 20"/>
          <p:cNvSpPr txBox="1"/>
          <p:nvPr/>
        </p:nvSpPr>
        <p:spPr>
          <a:xfrm>
            <a:off x="504000" y="9720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En fond : planche A03 de la maquette V5, à titre de repère</a:t>
            </a:r>
          </a:p>
        </p:txBody>
      </p:sp>
      <p:sp>
        <p:nvSpPr>
          <p:cNvPr id="22" name="Rectangle 21"/>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4" name="TextBox 23"/>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Détails techniques</a:t>
            </a:r>
          </a:p>
        </p:txBody>
      </p:sp>
      <p:sp>
        <p:nvSpPr>
          <p:cNvPr id="25" name="TextBox 2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Proposition technique</a:t>
            </a:r>
          </a:p>
        </p:txBody>
      </p:sp>
      <p:sp>
        <p:nvSpPr>
          <p:cNvPr id="26" name="TextBox 2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T04 · Ahoua, ingénieur bâtiment</a:t>
            </a:r>
          </a:p>
        </p:txBody>
      </p:sp>
      <p:cxnSp>
        <p:nvCxnSpPr>
          <p:cNvPr id="27" name="Connector 26"/>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DÉJÀ FIXÉ DANS LA MAQUETTE V5</a:t>
            </a:r>
          </a:p>
        </p:txBody>
      </p:sp>
      <p:sp>
        <p:nvSpPr>
          <p:cNvPr id="29" name="TextBox 28"/>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Faux-plafond</a:t>
            </a:r>
          </a:p>
        </p:txBody>
      </p:sp>
      <p:sp>
        <p:nvSpPr>
          <p:cNvPr id="30" name="TextBox 29"/>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+3,00 / +3,04</a:t>
            </a:r>
          </a:p>
        </p:txBody>
      </p:sp>
      <p:sp>
        <p:nvSpPr>
          <p:cNvPr id="31" name="TextBox 30"/>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Sous-face de dalle (hypothèse)</a:t>
            </a:r>
          </a:p>
        </p:txBody>
      </p:sp>
      <p:sp>
        <p:nvSpPr>
          <p:cNvPr id="32" name="TextBox 31"/>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+3,30</a:t>
            </a:r>
          </a:p>
        </p:txBody>
      </p:sp>
      <p:sp>
        <p:nvSpPr>
          <p:cNvPr id="33" name="TextBox 32"/>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Liaisons frigorifiques</a:t>
            </a:r>
          </a:p>
        </p:txBody>
      </p:sp>
      <p:sp>
        <p:nvSpPr>
          <p:cNvPr id="34" name="TextBox 33"/>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 faisceaux</a:t>
            </a:r>
          </a:p>
        </p:txBody>
      </p:sp>
      <p:sp>
        <p:nvSpPr>
          <p:cNvPr id="35" name="TextBox 34"/>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Intersections structure</a:t>
            </a:r>
          </a:p>
        </p:txBody>
      </p:sp>
      <p:sp>
        <p:nvSpPr>
          <p:cNvPr id="36" name="TextBox 35"/>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a:t>
            </a:r>
          </a:p>
        </p:txBody>
      </p:sp>
      <p:sp>
        <p:nvSpPr>
          <p:cNvPr id="37" name="TextBox 36"/>
          <p:cNvSpPr txBox="1"/>
          <p:nvPr/>
        </p:nvSpPr>
        <p:spPr>
          <a:xfrm>
            <a:off x="9468000" y="34523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CADRE</a:t>
            </a:r>
          </a:p>
        </p:txBody>
      </p:sp>
      <p:sp>
        <p:nvSpPr>
          <p:cNvPr id="38" name="TextBox 37"/>
          <p:cNvSpPr txBox="1"/>
          <p:nvPr/>
        </p:nvSpPr>
        <p:spPr>
          <a:xfrm>
            <a:off x="9468000" y="36396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Local commercial unique en RDC sous logements. L'immeuble porte le TGBT, le groupe et les colonnes : le projet part de ses attentes. Rien ne traverse la structure existante.</a:t>
            </a:r>
          </a:p>
        </p:txBody>
      </p:sp>
      <p:cxnSp>
        <p:nvCxnSpPr>
          <p:cNvPr id="39" name="Connector 38"/>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41" name="TextBox 40"/>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42" name="TextBox 41"/>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43" name="TextBox 42"/>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44" name="TextBox 43"/>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45" name="TextBox 44"/>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19 · T04 Détails techniques</a:t>
            </a:r>
          </a:p>
        </p:txBody>
      </p:sp>
      <p:sp>
        <p:nvSpPr>
          <p:cNvPr id="46" name="TextBox 45"/>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47" name="TextBox 46"/>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48" name="TextBox 47"/>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49" name="TextBox 48"/>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50" name="TextBox 49"/>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51" name="TextBox 50"/>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52" name="TextBox 51"/>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53" name="TextBox 52"/>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19 · ESQ V5 · Octobre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pic>
        <p:nvPicPr>
          <p:cNvPr id="2" name="Picture 1" descr="ghost_A02_plan_faux_plafond_reseaux.jpg"/>
          <p:cNvPicPr>
            <a:picLocks noChangeAspect="1"/>
          </p:cNvPicPr>
          <p:nvPr/>
        </p:nvPicPr>
        <p:blipFill>
          <a:blip r:embed="rId2"/>
          <a:stretch>
            <a:fillRect/>
          </a:stretch>
        </p:blipFill>
        <p:spPr>
          <a:xfrm>
            <a:off x="0" y="0"/>
            <a:ext cx="9180000" cy="10692000"/>
          </a:xfrm>
          <a:prstGeom prst="rect">
            <a:avLst/>
          </a:prstGeom>
        </p:spPr>
      </p:pic>
      <p:sp>
        <p:nvSpPr>
          <p:cNvPr id="3" name="Rectangle 2"/>
          <p:cNvSpPr/>
          <p:nvPr/>
        </p:nvSpPr>
        <p:spPr>
          <a:xfrm>
            <a:off x="1584000" y="3508000"/>
            <a:ext cx="6012000" cy="3244000"/>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584000" y="3508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84000" y="6752000"/>
            <a:ext cx="6012000" cy="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584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596000" y="3508000"/>
            <a:ext cx="0" cy="3244000"/>
          </a:xfrm>
          <a:prstGeom prst="line">
            <a:avLst/>
          </a:prstGeom>
          <a:ln w="6350">
            <a:solidFill>
              <a:srgbClr val="B4583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944000" y="3868000"/>
            <a:ext cx="5292000" cy="155600"/>
          </a:xfrm>
          <a:prstGeom prst="rect">
            <a:avLst/>
          </a:prstGeom>
          <a:noFill/>
        </p:spPr>
        <p:txBody>
          <a:bodyPr wrap="square" lIns="0" rIns="0" tIns="0" bIns="0" anchor="t">
            <a:spAutoFit/>
          </a:bodyPr>
          <a:lstStyle/>
          <a:p>
            <a:pPr algn="l">
              <a:lnSpc>
                <a:spcPts val="800"/>
              </a:lnSpc>
            </a:pPr>
            <a:r>
              <a:rPr sz="700">
                <a:solidFill>
                  <a:srgbClr val="B4583E"/>
                </a:solidFill>
                <a:latin typeface="Jost"/>
              </a:rPr>
              <a:t>PLANCHE T05 · EN COURS</a:t>
            </a:r>
          </a:p>
        </p:txBody>
      </p:sp>
      <p:sp>
        <p:nvSpPr>
          <p:cNvPr id="9" name="TextBox 8"/>
          <p:cNvSpPr txBox="1"/>
          <p:nvPr/>
        </p:nvSpPr>
        <p:spPr>
          <a:xfrm>
            <a:off x="1944000" y="4120000"/>
            <a:ext cx="5292000" cy="409599"/>
          </a:xfrm>
          <a:prstGeom prst="rect">
            <a:avLst/>
          </a:prstGeom>
          <a:noFill/>
        </p:spPr>
        <p:txBody>
          <a:bodyPr wrap="square" lIns="0" rIns="0" tIns="0" bIns="0" anchor="t">
            <a:spAutoFit/>
          </a:bodyPr>
          <a:lstStyle/>
          <a:p>
            <a:pPr algn="l">
              <a:lnSpc>
                <a:spcPts val="2800"/>
              </a:lnSpc>
            </a:pPr>
            <a:r>
              <a:rPr sz="2400">
                <a:solidFill>
                  <a:srgbClr val="2B2420"/>
                </a:solidFill>
                <a:latin typeface="DM Serif Display"/>
              </a:rPr>
              <a:t>Unifilaire et bilan de puissance</a:t>
            </a:r>
          </a:p>
        </p:txBody>
      </p:sp>
      <p:sp>
        <p:nvSpPr>
          <p:cNvPr id="10" name="TextBox 9"/>
          <p:cNvSpPr txBox="1"/>
          <p:nvPr/>
        </p:nvSpPr>
        <p:spPr>
          <a:xfrm>
            <a:off x="1944000" y="4624000"/>
            <a:ext cx="5292000" cy="371499"/>
          </a:xfrm>
          <a:prstGeom prst="rect">
            <a:avLst/>
          </a:prstGeom>
          <a:noFill/>
        </p:spPr>
        <p:txBody>
          <a:bodyPr wrap="square" lIns="0" rIns="0" tIns="0" bIns="0" anchor="t">
            <a:spAutoFit/>
          </a:bodyPr>
          <a:lstStyle/>
          <a:p>
            <a:pPr algn="l">
              <a:lnSpc>
                <a:spcPts val="1250"/>
              </a:lnSpc>
            </a:pPr>
            <a:r>
              <a:rPr sz="900">
                <a:solidFill>
                  <a:srgbClr val="2B2420"/>
                </a:solidFill>
                <a:latin typeface="Jost"/>
              </a:rPr>
              <a:t>Planche d'Ahoua, ingénieur bâtiment, tirée de la maquette IFC V5. Elle prend cette page dès la fusion de la branche des lots techniques.</a:t>
            </a:r>
          </a:p>
        </p:txBody>
      </p:sp>
      <p:cxnSp>
        <p:nvCxnSpPr>
          <p:cNvPr id="11" name="Connector 10"/>
          <p:cNvCxnSpPr/>
          <p:nvPr/>
        </p:nvCxnSpPr>
        <p:spPr>
          <a:xfrm>
            <a:off x="1944000" y="5308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944000" y="5452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CONTENU PRÉVU</a:t>
            </a:r>
          </a:p>
        </p:txBody>
      </p:sp>
      <p:sp>
        <p:nvSpPr>
          <p:cNvPr id="13" name="TextBox 12"/>
          <p:cNvSpPr txBox="1"/>
          <p:nvPr/>
        </p:nvSpPr>
        <p:spPr>
          <a:xfrm>
            <a:off x="1944000" y="5668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01</a:t>
            </a:r>
          </a:p>
        </p:txBody>
      </p:sp>
      <p:sp>
        <p:nvSpPr>
          <p:cNvPr id="14" name="TextBox 13"/>
          <p:cNvSpPr txBox="1"/>
          <p:nvPr/>
        </p:nvSpPr>
        <p:spPr>
          <a:xfrm>
            <a:off x="2196000" y="5668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Schéma unifilaire du tableau divisionnaire : interrupteurs différentiels 30 mA, départs par usage</a:t>
            </a:r>
          </a:p>
        </p:txBody>
      </p:sp>
      <p:sp>
        <p:nvSpPr>
          <p:cNvPr id="15" name="TextBox 14"/>
          <p:cNvSpPr txBox="1"/>
          <p:nvPr/>
        </p:nvSpPr>
        <p:spPr>
          <a:xfrm>
            <a:off x="1944000" y="5867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02</a:t>
            </a:r>
          </a:p>
        </p:txBody>
      </p:sp>
      <p:sp>
        <p:nvSpPr>
          <p:cNvPr id="16" name="TextBox 15"/>
          <p:cNvSpPr txBox="1"/>
          <p:nvPr/>
        </p:nvSpPr>
        <p:spPr>
          <a:xfrm>
            <a:off x="2196000" y="5867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Bilan de puissance : éclairage, prises, climatisation, informatique</a:t>
            </a:r>
          </a:p>
        </p:txBody>
      </p:sp>
      <p:sp>
        <p:nvSpPr>
          <p:cNvPr id="17" name="TextBox 16"/>
          <p:cNvSpPr txBox="1"/>
          <p:nvPr/>
        </p:nvSpPr>
        <p:spPr>
          <a:xfrm>
            <a:off x="1944000" y="6066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03</a:t>
            </a:r>
          </a:p>
        </p:txBody>
      </p:sp>
      <p:sp>
        <p:nvSpPr>
          <p:cNvPr id="18" name="TextBox 17"/>
          <p:cNvSpPr txBox="1"/>
          <p:nvPr/>
        </p:nvSpPr>
        <p:spPr>
          <a:xfrm>
            <a:off x="2196000" y="6066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Puissance à demander au syndic et section du câble d'alimentation</a:t>
            </a:r>
          </a:p>
        </p:txBody>
      </p:sp>
      <p:sp>
        <p:nvSpPr>
          <p:cNvPr id="19" name="TextBox 18"/>
          <p:cNvSpPr txBox="1"/>
          <p:nvPr/>
        </p:nvSpPr>
        <p:spPr>
          <a:xfrm>
            <a:off x="1944000" y="62650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Jost"/>
              </a:rPr>
              <a:t>04</a:t>
            </a:r>
          </a:p>
        </p:txBody>
      </p:sp>
      <p:sp>
        <p:nvSpPr>
          <p:cNvPr id="20" name="TextBox 19"/>
          <p:cNvSpPr txBox="1"/>
          <p:nvPr/>
        </p:nvSpPr>
        <p:spPr>
          <a:xfrm>
            <a:off x="2196000" y="6265000"/>
            <a:ext cx="5040000" cy="180999"/>
          </a:xfrm>
          <a:prstGeom prst="rect">
            <a:avLst/>
          </a:prstGeom>
          <a:noFill/>
        </p:spPr>
        <p:txBody>
          <a:bodyPr wrap="square" lIns="0" rIns="0" tIns="0" bIns="0" anchor="t">
            <a:spAutoFit/>
          </a:bodyPr>
          <a:lstStyle/>
          <a:p>
            <a:pPr algn="l">
              <a:lnSpc>
                <a:spcPts val="1000"/>
              </a:lnSpc>
            </a:pPr>
            <a:r>
              <a:rPr sz="780">
                <a:solidFill>
                  <a:srgbClr val="2B2420"/>
                </a:solidFill>
                <a:latin typeface="Jost"/>
              </a:rPr>
              <a:t>Note technique et contrôle V4/V5 à 0 écart</a:t>
            </a:r>
          </a:p>
        </p:txBody>
      </p:sp>
      <p:sp>
        <p:nvSpPr>
          <p:cNvPr id="21" name="TextBox 20"/>
          <p:cNvSpPr txBox="1"/>
          <p:nvPr/>
        </p:nvSpPr>
        <p:spPr>
          <a:xfrm>
            <a:off x="504000" y="9720000"/>
            <a:ext cx="8172000" cy="163220"/>
          </a:xfrm>
          <a:prstGeom prst="rect">
            <a:avLst/>
          </a:prstGeom>
          <a:noFill/>
        </p:spPr>
        <p:txBody>
          <a:bodyPr wrap="square" lIns="0" rIns="0" tIns="0" bIns="0" anchor="t">
            <a:spAutoFit/>
          </a:bodyPr>
          <a:lstStyle/>
          <a:p>
            <a:pPr algn="l">
              <a:lnSpc>
                <a:spcPts val="860"/>
              </a:lnSpc>
            </a:pPr>
            <a:r>
              <a:rPr sz="680">
                <a:solidFill>
                  <a:srgbClr val="7D7168"/>
                </a:solidFill>
                <a:latin typeface="Jost"/>
              </a:rPr>
              <a:t>En fond : planche A02 de la maquette V5, à titre de repère</a:t>
            </a:r>
          </a:p>
        </p:txBody>
      </p:sp>
      <p:sp>
        <p:nvSpPr>
          <p:cNvPr id="22" name="Rectangle 21"/>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4" name="TextBox 23"/>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Unifilaire et bilan de puissance</a:t>
            </a:r>
          </a:p>
        </p:txBody>
      </p:sp>
      <p:sp>
        <p:nvSpPr>
          <p:cNvPr id="25" name="TextBox 2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Proposition technique</a:t>
            </a:r>
          </a:p>
        </p:txBody>
      </p:sp>
      <p:sp>
        <p:nvSpPr>
          <p:cNvPr id="26" name="TextBox 2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T05 · Ahoua, ingénieur bâtiment</a:t>
            </a:r>
          </a:p>
        </p:txBody>
      </p:sp>
      <p:cxnSp>
        <p:nvCxnSpPr>
          <p:cNvPr id="27" name="Connector 26"/>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DÉJÀ FIXÉ DANS LA MAQUETTE V5</a:t>
            </a:r>
          </a:p>
        </p:txBody>
      </p:sp>
      <p:sp>
        <p:nvSpPr>
          <p:cNvPr id="29" name="TextBox 28"/>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Départs clim dédiés</a:t>
            </a:r>
          </a:p>
        </p:txBody>
      </p:sp>
      <p:sp>
        <p:nvSpPr>
          <p:cNvPr id="30" name="TextBox 29"/>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2</a:t>
            </a:r>
          </a:p>
        </p:txBody>
      </p:sp>
      <p:sp>
        <p:nvSpPr>
          <p:cNvPr id="31" name="TextBox 30"/>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Protection des personnes</a:t>
            </a:r>
          </a:p>
        </p:txBody>
      </p:sp>
      <p:sp>
        <p:nvSpPr>
          <p:cNvPr id="32" name="TextBox 31"/>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DDR 30 mA</a:t>
            </a:r>
          </a:p>
        </p:txBody>
      </p:sp>
      <p:sp>
        <p:nvSpPr>
          <p:cNvPr id="33" name="TextBox 32"/>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Puissance souscrite</a:t>
            </a:r>
          </a:p>
        </p:txBody>
      </p:sp>
      <p:sp>
        <p:nvSpPr>
          <p:cNvPr id="34" name="TextBox 33"/>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à confirmer</a:t>
            </a:r>
          </a:p>
        </p:txBody>
      </p:sp>
      <p:sp>
        <p:nvSpPr>
          <p:cNvPr id="35" name="TextBox 34"/>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2B2420"/>
                </a:solidFill>
                <a:latin typeface="Jost"/>
              </a:rPr>
              <a:t>Écart V4/V5</a:t>
            </a:r>
          </a:p>
        </p:txBody>
      </p:sp>
      <p:sp>
        <p:nvSpPr>
          <p:cNvPr id="36" name="TextBox 35"/>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2B2420"/>
                </a:solidFill>
                <a:latin typeface="Jost"/>
              </a:rPr>
              <a:t>0</a:t>
            </a:r>
          </a:p>
        </p:txBody>
      </p:sp>
      <p:sp>
        <p:nvSpPr>
          <p:cNvPr id="37" name="TextBox 36"/>
          <p:cNvSpPr txBox="1"/>
          <p:nvPr/>
        </p:nvSpPr>
        <p:spPr>
          <a:xfrm>
            <a:off x="9468000" y="34523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CADRE</a:t>
            </a:r>
          </a:p>
        </p:txBody>
      </p:sp>
      <p:sp>
        <p:nvSpPr>
          <p:cNvPr id="38" name="TextBox 37"/>
          <p:cNvSpPr txBox="1"/>
          <p:nvPr/>
        </p:nvSpPr>
        <p:spPr>
          <a:xfrm>
            <a:off x="9468000" y="3639600"/>
            <a:ext cx="5292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Local commercial unique en RDC sous logements. L'immeuble porte le TGBT, le groupe et les colonnes : le projet part de ses attentes. Rien ne traverse la structure existante.</a:t>
            </a:r>
          </a:p>
        </p:txBody>
      </p:sp>
      <p:cxnSp>
        <p:nvCxnSpPr>
          <p:cNvPr id="39" name="Connector 38"/>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41" name="TextBox 40"/>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42" name="TextBox 41"/>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43" name="TextBox 42"/>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44" name="TextBox 43"/>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45" name="TextBox 44"/>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20 · T05 Unifilaire et bilan de puissance</a:t>
            </a:r>
          </a:p>
        </p:txBody>
      </p:sp>
      <p:sp>
        <p:nvSpPr>
          <p:cNvPr id="46" name="TextBox 45"/>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47" name="TextBox 46"/>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48" name="TextBox 47"/>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49" name="TextBox 48"/>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50" name="TextBox 49"/>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51" name="TextBox 50"/>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52" name="TextBox 51"/>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53" name="TextBox 52"/>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20 · ESQ V5 · Octobre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3"/>
        </a:solidFill>
        <a:effectLst/>
      </p:bgPr>
    </p:bg>
    <p:spTree>
      <p:nvGrpSpPr>
        <p:cNvPr id="1" name=""/>
        <p:cNvGrpSpPr/>
        <p:nvPr/>
      </p:nvGrpSpPr>
      <p:grpSpPr/>
      <p:sp>
        <p:nvSpPr>
          <p:cNvPr id="2" name="TextBox 1"/>
          <p:cNvSpPr txBox="1"/>
          <p:nvPr/>
        </p:nvSpPr>
        <p:spPr>
          <a:xfrm>
            <a:off x="504000" y="504000"/>
            <a:ext cx="2016000" cy="155600"/>
          </a:xfrm>
          <a:prstGeom prst="rect">
            <a:avLst/>
          </a:prstGeom>
          <a:noFill/>
        </p:spPr>
        <p:txBody>
          <a:bodyPr wrap="square" lIns="0" rIns="0" tIns="0" bIns="0" anchor="t">
            <a:spAutoFit/>
          </a:bodyPr>
          <a:lstStyle/>
          <a:p>
            <a:pPr algn="l">
              <a:lnSpc>
                <a:spcPts val="800"/>
              </a:lnSpc>
            </a:pPr>
            <a:r>
              <a:rPr sz="660">
                <a:solidFill>
                  <a:srgbClr val="B4583E"/>
                </a:solidFill>
                <a:latin typeface="Jost"/>
              </a:rPr>
              <a:t>ÉLÉMENT</a:t>
            </a:r>
          </a:p>
        </p:txBody>
      </p:sp>
      <p:sp>
        <p:nvSpPr>
          <p:cNvPr id="3" name="TextBox 2"/>
          <p:cNvSpPr txBox="1"/>
          <p:nvPr/>
        </p:nvSpPr>
        <p:spPr>
          <a:xfrm>
            <a:off x="2682000" y="504000"/>
            <a:ext cx="864000" cy="155600"/>
          </a:xfrm>
          <a:prstGeom prst="rect">
            <a:avLst/>
          </a:prstGeom>
          <a:noFill/>
        </p:spPr>
        <p:txBody>
          <a:bodyPr wrap="square" lIns="0" rIns="0" tIns="0" bIns="0" anchor="t">
            <a:spAutoFit/>
          </a:bodyPr>
          <a:lstStyle/>
          <a:p>
            <a:pPr algn="l">
              <a:lnSpc>
                <a:spcPts val="800"/>
              </a:lnSpc>
            </a:pPr>
            <a:r>
              <a:rPr sz="660">
                <a:solidFill>
                  <a:srgbClr val="B4583E"/>
                </a:solidFill>
                <a:latin typeface="Jost"/>
              </a:rPr>
              <a:t>D.A</a:t>
            </a:r>
          </a:p>
        </p:txBody>
      </p:sp>
      <p:sp>
        <p:nvSpPr>
          <p:cNvPr id="4" name="TextBox 3"/>
          <p:cNvSpPr txBox="1"/>
          <p:nvPr/>
        </p:nvSpPr>
        <p:spPr>
          <a:xfrm>
            <a:off x="3708000" y="504000"/>
            <a:ext cx="2304000" cy="155600"/>
          </a:xfrm>
          <a:prstGeom prst="rect">
            <a:avLst/>
          </a:prstGeom>
          <a:noFill/>
        </p:spPr>
        <p:txBody>
          <a:bodyPr wrap="square" lIns="0" rIns="0" tIns="0" bIns="0" anchor="t">
            <a:spAutoFit/>
          </a:bodyPr>
          <a:lstStyle/>
          <a:p>
            <a:pPr algn="l">
              <a:lnSpc>
                <a:spcPts val="800"/>
              </a:lnSpc>
            </a:pPr>
            <a:r>
              <a:rPr sz="660">
                <a:solidFill>
                  <a:srgbClr val="B4583E"/>
                </a:solidFill>
                <a:latin typeface="Jost"/>
              </a:rPr>
              <a:t>MAQUETTE IFC V5</a:t>
            </a:r>
          </a:p>
        </p:txBody>
      </p:sp>
      <p:sp>
        <p:nvSpPr>
          <p:cNvPr id="5" name="TextBox 4"/>
          <p:cNvSpPr txBox="1"/>
          <p:nvPr/>
        </p:nvSpPr>
        <p:spPr>
          <a:xfrm>
            <a:off x="6174000" y="504000"/>
            <a:ext cx="1512000" cy="155600"/>
          </a:xfrm>
          <a:prstGeom prst="rect">
            <a:avLst/>
          </a:prstGeom>
          <a:noFill/>
        </p:spPr>
        <p:txBody>
          <a:bodyPr wrap="square" lIns="0" rIns="0" tIns="0" bIns="0" anchor="t">
            <a:spAutoFit/>
          </a:bodyPr>
          <a:lstStyle/>
          <a:p>
            <a:pPr algn="l">
              <a:lnSpc>
                <a:spcPts val="800"/>
              </a:lnSpc>
            </a:pPr>
            <a:r>
              <a:rPr sz="660">
                <a:solidFill>
                  <a:srgbClr val="B4583E"/>
                </a:solidFill>
                <a:latin typeface="Jost"/>
              </a:rPr>
              <a:t>PLANS</a:t>
            </a:r>
          </a:p>
        </p:txBody>
      </p:sp>
      <p:sp>
        <p:nvSpPr>
          <p:cNvPr id="6" name="TextBox 5"/>
          <p:cNvSpPr txBox="1"/>
          <p:nvPr/>
        </p:nvSpPr>
        <p:spPr>
          <a:xfrm>
            <a:off x="7848000" y="504000"/>
            <a:ext cx="756000" cy="155600"/>
          </a:xfrm>
          <a:prstGeom prst="rect">
            <a:avLst/>
          </a:prstGeom>
          <a:noFill/>
        </p:spPr>
        <p:txBody>
          <a:bodyPr wrap="square" lIns="0" rIns="0" tIns="0" bIns="0" anchor="t">
            <a:spAutoFit/>
          </a:bodyPr>
          <a:lstStyle/>
          <a:p>
            <a:pPr algn="l">
              <a:lnSpc>
                <a:spcPts val="800"/>
              </a:lnSpc>
            </a:pPr>
            <a:r>
              <a:rPr sz="660">
                <a:solidFill>
                  <a:srgbClr val="B4583E"/>
                </a:solidFill>
                <a:latin typeface="Jost"/>
              </a:rPr>
              <a:t>RENDUS</a:t>
            </a:r>
          </a:p>
        </p:txBody>
      </p:sp>
      <p:cxnSp>
        <p:nvCxnSpPr>
          <p:cNvPr id="7" name="Connector 6"/>
          <p:cNvCxnSpPr/>
          <p:nvPr/>
        </p:nvCxnSpPr>
        <p:spPr>
          <a:xfrm>
            <a:off x="504000" y="684000"/>
            <a:ext cx="817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4000" y="763200"/>
            <a:ext cx="2016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Devanture : 4 baies V4, vitrine en arche, portail terre cuite, claustra Adinkra</a:t>
            </a:r>
          </a:p>
        </p:txBody>
      </p:sp>
      <p:sp>
        <p:nvSpPr>
          <p:cNvPr id="9" name="TextBox 8"/>
          <p:cNvSpPr txBox="1"/>
          <p:nvPr/>
        </p:nvSpPr>
        <p:spPr>
          <a:xfrm>
            <a:off x="2682000" y="763200"/>
            <a:ext cx="86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p. 04</a:t>
            </a:r>
          </a:p>
        </p:txBody>
      </p:sp>
      <p:sp>
        <p:nvSpPr>
          <p:cNvPr id="10" name="TextBox 9"/>
          <p:cNvSpPr txBox="1"/>
          <p:nvPr/>
        </p:nvSpPr>
        <p:spPr>
          <a:xfrm>
            <a:off x="3708000" y="763200"/>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IfcWindow, IfcDoor, IfcMember dans les baies V4</a:t>
            </a:r>
          </a:p>
        </p:txBody>
      </p:sp>
      <p:sp>
        <p:nvSpPr>
          <p:cNvPr id="11" name="TextBox 10"/>
          <p:cNvSpPr txBox="1"/>
          <p:nvPr/>
        </p:nvSpPr>
        <p:spPr>
          <a:xfrm>
            <a:off x="6174000" y="763200"/>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A01, A04</a:t>
            </a:r>
          </a:p>
        </p:txBody>
      </p:sp>
      <p:sp>
        <p:nvSpPr>
          <p:cNvPr id="12" name="TextBox 11"/>
          <p:cNvSpPr txBox="1"/>
          <p:nvPr/>
        </p:nvSpPr>
        <p:spPr>
          <a:xfrm>
            <a:off x="7848000" y="763200"/>
            <a:ext cx="756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R1</a:t>
            </a:r>
          </a:p>
        </p:txBody>
      </p:sp>
      <p:cxnSp>
        <p:nvCxnSpPr>
          <p:cNvPr id="13" name="Connector 12"/>
          <p:cNvCxnSpPr/>
          <p:nvPr/>
        </p:nvCxnSpPr>
        <p:spPr>
          <a:xfrm>
            <a:off x="504000" y="1125600"/>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1197600"/>
            <a:ext cx="2016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Arbre à livres et oculus indigo Ø 2,80</a:t>
            </a:r>
          </a:p>
        </p:txBody>
      </p:sp>
      <p:sp>
        <p:nvSpPr>
          <p:cNvPr id="15" name="TextBox 14"/>
          <p:cNvSpPr txBox="1"/>
          <p:nvPr/>
        </p:nvSpPr>
        <p:spPr>
          <a:xfrm>
            <a:off x="2682000" y="1197600"/>
            <a:ext cx="86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p. 04</a:t>
            </a:r>
          </a:p>
        </p:txBody>
      </p:sp>
      <p:sp>
        <p:nvSpPr>
          <p:cNvPr id="16" name="TextBox 15"/>
          <p:cNvSpPr txBox="1"/>
          <p:nvPr/>
        </p:nvSpPr>
        <p:spPr>
          <a:xfrm>
            <a:off x="3708000" y="1197600"/>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IfcFurniture, IfcCovering, anneau IfcLightFixture</a:t>
            </a:r>
          </a:p>
        </p:txBody>
      </p:sp>
      <p:sp>
        <p:nvSpPr>
          <p:cNvPr id="17" name="TextBox 16"/>
          <p:cNvSpPr txBox="1"/>
          <p:nvPr/>
        </p:nvSpPr>
        <p:spPr>
          <a:xfrm>
            <a:off x="6174000" y="1197600"/>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A01, A02, A03</a:t>
            </a:r>
          </a:p>
        </p:txBody>
      </p:sp>
      <p:sp>
        <p:nvSpPr>
          <p:cNvPr id="18" name="TextBox 17"/>
          <p:cNvSpPr txBox="1"/>
          <p:nvPr/>
        </p:nvSpPr>
        <p:spPr>
          <a:xfrm>
            <a:off x="7848000" y="1197600"/>
            <a:ext cx="756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R2, R3</a:t>
            </a:r>
          </a:p>
        </p:txBody>
      </p:sp>
      <p:cxnSp>
        <p:nvCxnSpPr>
          <p:cNvPr id="19" name="Connector 18"/>
          <p:cNvCxnSpPr/>
          <p:nvPr/>
        </p:nvCxnSpPr>
        <p:spPr>
          <a:xfrm>
            <a:off x="504000" y="14075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4000" y="1479599"/>
            <a:ext cx="2016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Matériaux : terrazzo, iroko, enduit terre, chaux, acier noir</a:t>
            </a:r>
          </a:p>
        </p:txBody>
      </p:sp>
      <p:sp>
        <p:nvSpPr>
          <p:cNvPr id="21" name="TextBox 20"/>
          <p:cNvSpPr txBox="1"/>
          <p:nvPr/>
        </p:nvSpPr>
        <p:spPr>
          <a:xfrm>
            <a:off x="2682000" y="1479599"/>
            <a:ext cx="86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p. 04</a:t>
            </a:r>
          </a:p>
        </p:txBody>
      </p:sp>
      <p:sp>
        <p:nvSpPr>
          <p:cNvPr id="22" name="TextBox 21"/>
          <p:cNvSpPr txBox="1"/>
          <p:nvPr/>
        </p:nvSpPr>
        <p:spPr>
          <a:xfrm>
            <a:off x="3708000" y="1479599"/>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IfcMaterial et styles de surface D.A</a:t>
            </a:r>
          </a:p>
        </p:txBody>
      </p:sp>
      <p:sp>
        <p:nvSpPr>
          <p:cNvPr id="23" name="TextBox 22"/>
          <p:cNvSpPr txBox="1"/>
          <p:nvPr/>
        </p:nvSpPr>
        <p:spPr>
          <a:xfrm>
            <a:off x="6174000" y="1479599"/>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A05, A06</a:t>
            </a:r>
          </a:p>
        </p:txBody>
      </p:sp>
      <p:sp>
        <p:nvSpPr>
          <p:cNvPr id="24" name="TextBox 23"/>
          <p:cNvSpPr txBox="1"/>
          <p:nvPr/>
        </p:nvSpPr>
        <p:spPr>
          <a:xfrm>
            <a:off x="7848000" y="1479599"/>
            <a:ext cx="756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R1 à R3</a:t>
            </a:r>
          </a:p>
        </p:txBody>
      </p:sp>
      <p:cxnSp>
        <p:nvCxnSpPr>
          <p:cNvPr id="25" name="Connector 24"/>
          <p:cNvCxnSpPr/>
          <p:nvPr/>
        </p:nvCxnSpPr>
        <p:spPr>
          <a:xfrm>
            <a:off x="504000" y="18419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4000" y="1913999"/>
            <a:ext cx="2016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Lumière 2700 K</a:t>
            </a:r>
          </a:p>
        </p:txBody>
      </p:sp>
      <p:sp>
        <p:nvSpPr>
          <p:cNvPr id="27" name="TextBox 26"/>
          <p:cNvSpPr txBox="1"/>
          <p:nvPr/>
        </p:nvSpPr>
        <p:spPr>
          <a:xfrm>
            <a:off x="2682000" y="1913999"/>
            <a:ext cx="86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p. 04</a:t>
            </a:r>
          </a:p>
        </p:txBody>
      </p:sp>
      <p:sp>
        <p:nvSpPr>
          <p:cNvPr id="28" name="TextBox 27"/>
          <p:cNvSpPr txBox="1"/>
          <p:nvPr/>
        </p:nvSpPr>
        <p:spPr>
          <a:xfrm>
            <a:off x="3708000" y="1913999"/>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27 IfcLightFixture</a:t>
            </a:r>
          </a:p>
        </p:txBody>
      </p:sp>
      <p:sp>
        <p:nvSpPr>
          <p:cNvPr id="29" name="TextBox 28"/>
          <p:cNvSpPr txBox="1"/>
          <p:nvPr/>
        </p:nvSpPr>
        <p:spPr>
          <a:xfrm>
            <a:off x="6174000" y="1913999"/>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A02</a:t>
            </a:r>
          </a:p>
        </p:txBody>
      </p:sp>
      <p:sp>
        <p:nvSpPr>
          <p:cNvPr id="30" name="TextBox 29"/>
          <p:cNvSpPr txBox="1"/>
          <p:nvPr/>
        </p:nvSpPr>
        <p:spPr>
          <a:xfrm>
            <a:off x="7848000" y="1913999"/>
            <a:ext cx="756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R2, R3</a:t>
            </a:r>
          </a:p>
        </p:txBody>
      </p:sp>
      <p:cxnSp>
        <p:nvCxnSpPr>
          <p:cNvPr id="31" name="Connector 30"/>
          <p:cNvCxnSpPr/>
          <p:nvPr/>
        </p:nvCxnSpPr>
        <p:spPr>
          <a:xfrm>
            <a:off x="504000" y="21239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4000" y="2195999"/>
            <a:ext cx="2016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Programme du 14/10 : un seul WC, salle de réunion</a:t>
            </a:r>
          </a:p>
        </p:txBody>
      </p:sp>
      <p:sp>
        <p:nvSpPr>
          <p:cNvPr id="33" name="TextBox 32"/>
          <p:cNvSpPr txBox="1"/>
          <p:nvPr/>
        </p:nvSpPr>
        <p:spPr>
          <a:xfrm>
            <a:off x="2682000" y="2195999"/>
            <a:ext cx="864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sp>
        <p:nvSpPr>
          <p:cNvPr id="34" name="TextBox 33"/>
          <p:cNvSpPr txBox="1"/>
          <p:nvPr/>
        </p:nvSpPr>
        <p:spPr>
          <a:xfrm>
            <a:off x="3708000" y="2195999"/>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IfcSpace 03 et 07</a:t>
            </a:r>
          </a:p>
        </p:txBody>
      </p:sp>
      <p:sp>
        <p:nvSpPr>
          <p:cNvPr id="35" name="TextBox 34"/>
          <p:cNvSpPr txBox="1"/>
          <p:nvPr/>
        </p:nvSpPr>
        <p:spPr>
          <a:xfrm>
            <a:off x="6174000" y="2195999"/>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A01</a:t>
            </a:r>
          </a:p>
        </p:txBody>
      </p:sp>
      <p:sp>
        <p:nvSpPr>
          <p:cNvPr id="36" name="TextBox 35"/>
          <p:cNvSpPr txBox="1"/>
          <p:nvPr/>
        </p:nvSpPr>
        <p:spPr>
          <a:xfrm>
            <a:off x="7848000" y="2195999"/>
            <a:ext cx="756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cxnSp>
        <p:nvCxnSpPr>
          <p:cNvPr id="37" name="Connector 36"/>
          <p:cNvCxnSpPr/>
          <p:nvPr/>
        </p:nvCxnSpPr>
        <p:spPr>
          <a:xfrm>
            <a:off x="504000" y="25583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2630399"/>
            <a:ext cx="2016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Climatisation : 2 splits 9 000 BTU/h sur murs pleins, hors tables</a:t>
            </a:r>
          </a:p>
        </p:txBody>
      </p:sp>
      <p:sp>
        <p:nvSpPr>
          <p:cNvPr id="39" name="TextBox 38"/>
          <p:cNvSpPr txBox="1"/>
          <p:nvPr/>
        </p:nvSpPr>
        <p:spPr>
          <a:xfrm>
            <a:off x="2682000" y="2630399"/>
            <a:ext cx="86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p. 04</a:t>
            </a:r>
          </a:p>
        </p:txBody>
      </p:sp>
      <p:sp>
        <p:nvSpPr>
          <p:cNvPr id="40" name="TextBox 39"/>
          <p:cNvSpPr txBox="1"/>
          <p:nvPr/>
        </p:nvSpPr>
        <p:spPr>
          <a:xfrm>
            <a:off x="3708000" y="2630399"/>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2 IfcUnitaryEquipment, 2 mini-pompes</a:t>
            </a:r>
          </a:p>
        </p:txBody>
      </p:sp>
      <p:sp>
        <p:nvSpPr>
          <p:cNvPr id="41" name="TextBox 40"/>
          <p:cNvSpPr txBox="1"/>
          <p:nvPr/>
        </p:nvSpPr>
        <p:spPr>
          <a:xfrm>
            <a:off x="6174000" y="2630399"/>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A02</a:t>
            </a:r>
          </a:p>
        </p:txBody>
      </p:sp>
      <p:sp>
        <p:nvSpPr>
          <p:cNvPr id="42" name="TextBox 41"/>
          <p:cNvSpPr txBox="1"/>
          <p:nvPr/>
        </p:nvSpPr>
        <p:spPr>
          <a:xfrm>
            <a:off x="7848000" y="2630399"/>
            <a:ext cx="756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R2</a:t>
            </a:r>
          </a:p>
        </p:txBody>
      </p:sp>
      <p:cxnSp>
        <p:nvCxnSpPr>
          <p:cNvPr id="43" name="Connector 42"/>
          <p:cNvCxnSpPr/>
          <p:nvPr/>
        </p:nvCxnSpPr>
        <p:spPr>
          <a:xfrm>
            <a:off x="504000" y="29927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4000" y="3064799"/>
            <a:ext cx="2016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Tableau divisionnaire, 1,00 m dégagé, loin de l'eau</a:t>
            </a:r>
          </a:p>
        </p:txBody>
      </p:sp>
      <p:sp>
        <p:nvSpPr>
          <p:cNvPr id="45" name="TextBox 44"/>
          <p:cNvSpPr txBox="1"/>
          <p:nvPr/>
        </p:nvSpPr>
        <p:spPr>
          <a:xfrm>
            <a:off x="2682000" y="3064799"/>
            <a:ext cx="864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sp>
        <p:nvSpPr>
          <p:cNvPr id="46" name="TextBox 45"/>
          <p:cNvSpPr txBox="1"/>
          <p:nvPr/>
        </p:nvSpPr>
        <p:spPr>
          <a:xfrm>
            <a:off x="3708000" y="3064799"/>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IfcElectricDistributionBoard</a:t>
            </a:r>
          </a:p>
        </p:txBody>
      </p:sp>
      <p:sp>
        <p:nvSpPr>
          <p:cNvPr id="47" name="TextBox 46"/>
          <p:cNvSpPr txBox="1"/>
          <p:nvPr/>
        </p:nvSpPr>
        <p:spPr>
          <a:xfrm>
            <a:off x="6174000" y="3064799"/>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A01, A02</a:t>
            </a:r>
          </a:p>
        </p:txBody>
      </p:sp>
      <p:sp>
        <p:nvSpPr>
          <p:cNvPr id="48" name="TextBox 47"/>
          <p:cNvSpPr txBox="1"/>
          <p:nvPr/>
        </p:nvSpPr>
        <p:spPr>
          <a:xfrm>
            <a:off x="7848000" y="3064799"/>
            <a:ext cx="756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cxnSp>
        <p:nvCxnSpPr>
          <p:cNvPr id="49" name="Connector 48"/>
          <p:cNvCxnSpPr/>
          <p:nvPr/>
        </p:nvCxnSpPr>
        <p:spPr>
          <a:xfrm>
            <a:off x="504000" y="34271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4000" y="3499199"/>
            <a:ext cx="2016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Placard technique 0,60 × 0,40, porte pleine</a:t>
            </a:r>
          </a:p>
        </p:txBody>
      </p:sp>
      <p:sp>
        <p:nvSpPr>
          <p:cNvPr id="51" name="TextBox 50"/>
          <p:cNvSpPr txBox="1"/>
          <p:nvPr/>
        </p:nvSpPr>
        <p:spPr>
          <a:xfrm>
            <a:off x="2682000" y="3499199"/>
            <a:ext cx="864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sp>
        <p:nvSpPr>
          <p:cNvPr id="52" name="TextBox 51"/>
          <p:cNvSpPr txBox="1"/>
          <p:nvPr/>
        </p:nvSpPr>
        <p:spPr>
          <a:xfrm>
            <a:off x="3708000" y="3499199"/>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IfcSpace 05 et IfcDoor</a:t>
            </a:r>
          </a:p>
        </p:txBody>
      </p:sp>
      <p:sp>
        <p:nvSpPr>
          <p:cNvPr id="53" name="TextBox 52"/>
          <p:cNvSpPr txBox="1"/>
          <p:nvPr/>
        </p:nvSpPr>
        <p:spPr>
          <a:xfrm>
            <a:off x="6174000" y="3499199"/>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A01, A02</a:t>
            </a:r>
          </a:p>
        </p:txBody>
      </p:sp>
      <p:sp>
        <p:nvSpPr>
          <p:cNvPr id="54" name="TextBox 53"/>
          <p:cNvSpPr txBox="1"/>
          <p:nvPr/>
        </p:nvSpPr>
        <p:spPr>
          <a:xfrm>
            <a:off x="7848000" y="3499199"/>
            <a:ext cx="756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cxnSp>
        <p:nvCxnSpPr>
          <p:cNvPr id="55" name="Connector 54"/>
          <p:cNvCxnSpPr/>
          <p:nvPr/>
        </p:nvCxnSpPr>
        <p:spPr>
          <a:xfrm>
            <a:off x="504000" y="38615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4000" y="3933599"/>
            <a:ext cx="2016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Descentes EU/EV de l'immeuble en coffrage 0,30 × 0,30</a:t>
            </a:r>
          </a:p>
        </p:txBody>
      </p:sp>
      <p:sp>
        <p:nvSpPr>
          <p:cNvPr id="57" name="TextBox 56"/>
          <p:cNvSpPr txBox="1"/>
          <p:nvPr/>
        </p:nvSpPr>
        <p:spPr>
          <a:xfrm>
            <a:off x="2682000" y="3933599"/>
            <a:ext cx="864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sp>
        <p:nvSpPr>
          <p:cNvPr id="58" name="TextBox 57"/>
          <p:cNvSpPr txBox="1"/>
          <p:nvPr/>
        </p:nvSpPr>
        <p:spPr>
          <a:xfrm>
            <a:off x="3708000" y="3933599"/>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Coffrages « à relever sur site »</a:t>
            </a:r>
          </a:p>
        </p:txBody>
      </p:sp>
      <p:sp>
        <p:nvSpPr>
          <p:cNvPr id="59" name="TextBox 58"/>
          <p:cNvSpPr txBox="1"/>
          <p:nvPr/>
        </p:nvSpPr>
        <p:spPr>
          <a:xfrm>
            <a:off x="6174000" y="3933599"/>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A02</a:t>
            </a:r>
          </a:p>
        </p:txBody>
      </p:sp>
      <p:sp>
        <p:nvSpPr>
          <p:cNvPr id="60" name="TextBox 59"/>
          <p:cNvSpPr txBox="1"/>
          <p:nvPr/>
        </p:nvSpPr>
        <p:spPr>
          <a:xfrm>
            <a:off x="7848000" y="3933599"/>
            <a:ext cx="756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cxnSp>
        <p:nvCxnSpPr>
          <p:cNvPr id="61" name="Connector 60"/>
          <p:cNvCxnSpPr/>
          <p:nvPr/>
        </p:nvCxnSpPr>
        <p:spPr>
          <a:xfrm>
            <a:off x="504000" y="42959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4000" y="4367999"/>
            <a:ext cx="2016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Existant V4 : murs, poteau, ouvertures, emprise 6,78 × 7,68</a:t>
            </a:r>
          </a:p>
        </p:txBody>
      </p:sp>
      <p:sp>
        <p:nvSpPr>
          <p:cNvPr id="63" name="TextBox 62"/>
          <p:cNvSpPr txBox="1"/>
          <p:nvPr/>
        </p:nvSpPr>
        <p:spPr>
          <a:xfrm>
            <a:off x="2682000" y="4367999"/>
            <a:ext cx="864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sp>
        <p:nvSpPr>
          <p:cNvPr id="64" name="TextBox 63"/>
          <p:cNvSpPr txBox="1"/>
          <p:nvPr/>
        </p:nvSpPr>
        <p:spPr>
          <a:xfrm>
            <a:off x="3708000" y="4367999"/>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141 / 141 identiques, 0 pénétration</a:t>
            </a:r>
          </a:p>
        </p:txBody>
      </p:sp>
      <p:sp>
        <p:nvSpPr>
          <p:cNvPr id="65" name="TextBox 64"/>
          <p:cNvSpPr txBox="1"/>
          <p:nvPr/>
        </p:nvSpPr>
        <p:spPr>
          <a:xfrm>
            <a:off x="6174000" y="4367999"/>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toutes</a:t>
            </a:r>
          </a:p>
        </p:txBody>
      </p:sp>
      <p:sp>
        <p:nvSpPr>
          <p:cNvPr id="66" name="TextBox 65"/>
          <p:cNvSpPr txBox="1"/>
          <p:nvPr/>
        </p:nvSpPr>
        <p:spPr>
          <a:xfrm>
            <a:off x="7848000" y="4367999"/>
            <a:ext cx="756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toutes</a:t>
            </a:r>
          </a:p>
        </p:txBody>
      </p:sp>
      <p:cxnSp>
        <p:nvCxnSpPr>
          <p:cNvPr id="67" name="Connector 66"/>
          <p:cNvCxnSpPr/>
          <p:nvPr/>
        </p:nvCxnSpPr>
        <p:spPr>
          <a:xfrm>
            <a:off x="504000" y="47303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4000" y="4802399"/>
            <a:ext cx="2016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Lots techniques : électricité, CFA, AEP, EU, EV, détails</a:t>
            </a:r>
          </a:p>
        </p:txBody>
      </p:sp>
      <p:sp>
        <p:nvSpPr>
          <p:cNvPr id="69" name="TextBox 68"/>
          <p:cNvSpPr txBox="1"/>
          <p:nvPr/>
        </p:nvSpPr>
        <p:spPr>
          <a:xfrm>
            <a:off x="2682000" y="4802399"/>
            <a:ext cx="864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sp>
        <p:nvSpPr>
          <p:cNvPr id="70" name="TextBox 69"/>
          <p:cNvSpPr txBox="1"/>
          <p:nvPr/>
        </p:nvSpPr>
        <p:spPr>
          <a:xfrm>
            <a:off x="3708000" y="4802399"/>
            <a:ext cx="230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branche lots techniques d'Ahoua, en cours</a:t>
            </a:r>
          </a:p>
        </p:txBody>
      </p:sp>
      <p:sp>
        <p:nvSpPr>
          <p:cNvPr id="71" name="TextBox 70"/>
          <p:cNvSpPr txBox="1"/>
          <p:nvPr/>
        </p:nvSpPr>
        <p:spPr>
          <a:xfrm>
            <a:off x="6174000" y="4802399"/>
            <a:ext cx="151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T01 à T05</a:t>
            </a:r>
          </a:p>
        </p:txBody>
      </p:sp>
      <p:sp>
        <p:nvSpPr>
          <p:cNvPr id="72" name="TextBox 71"/>
          <p:cNvSpPr txBox="1"/>
          <p:nvPr/>
        </p:nvSpPr>
        <p:spPr>
          <a:xfrm>
            <a:off x="7848000" y="4802399"/>
            <a:ext cx="756000" cy="206399"/>
          </a:xfrm>
          <a:prstGeom prst="rect">
            <a:avLst/>
          </a:prstGeom>
          <a:noFill/>
        </p:spPr>
        <p:txBody>
          <a:bodyPr wrap="square" lIns="0" rIns="0" tIns="0" bIns="0" anchor="t">
            <a:spAutoFit/>
          </a:bodyPr>
          <a:lstStyle/>
          <a:p>
            <a:pPr algn="l">
              <a:lnSpc>
                <a:spcPts val="1200"/>
              </a:lnSpc>
            </a:pPr>
            <a:r>
              <a:rPr sz="840">
                <a:solidFill>
                  <a:srgbClr val="7D7168"/>
                </a:solidFill>
                <a:latin typeface="Jost"/>
              </a:rPr>
              <a:t>·</a:t>
            </a:r>
          </a:p>
        </p:txBody>
      </p:sp>
      <p:cxnSp>
        <p:nvCxnSpPr>
          <p:cNvPr id="73" name="Connector 72"/>
          <p:cNvCxnSpPr/>
          <p:nvPr/>
        </p:nvCxnSpPr>
        <p:spPr>
          <a:xfrm>
            <a:off x="504000" y="5164799"/>
            <a:ext cx="8172000" cy="0"/>
          </a:xfrm>
          <a:prstGeom prst="line">
            <a:avLst/>
          </a:prstGeom>
          <a:ln w="3175">
            <a:solidFill>
              <a:srgbClr val="7D716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4000" y="5416799"/>
            <a:ext cx="8172000" cy="269900"/>
          </a:xfrm>
          <a:prstGeom prst="rect">
            <a:avLst/>
          </a:prstGeom>
          <a:noFill/>
        </p:spPr>
        <p:txBody>
          <a:bodyPr wrap="square" lIns="0" rIns="0" tIns="0" bIns="0" anchor="t">
            <a:spAutoFit/>
          </a:bodyPr>
          <a:lstStyle/>
          <a:p>
            <a:pPr algn="l">
              <a:lnSpc>
                <a:spcPts val="1700"/>
              </a:lnSpc>
            </a:pPr>
            <a:r>
              <a:rPr sz="1400">
                <a:solidFill>
                  <a:srgbClr val="2B2420"/>
                </a:solidFill>
                <a:latin typeface="DM Serif Display"/>
              </a:rPr>
              <a:t>Points ouverts, à lever en APS</a:t>
            </a:r>
          </a:p>
        </p:txBody>
      </p:sp>
      <p:sp>
        <p:nvSpPr>
          <p:cNvPr id="75" name="TextBox 74"/>
          <p:cNvSpPr txBox="1"/>
          <p:nvPr/>
        </p:nvSpPr>
        <p:spPr>
          <a:xfrm>
            <a:off x="504000" y="5704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Jost"/>
              </a:rPr>
              <a:t>01</a:t>
            </a:r>
          </a:p>
        </p:txBody>
      </p:sp>
      <p:sp>
        <p:nvSpPr>
          <p:cNvPr id="76" name="TextBox 75"/>
          <p:cNvSpPr txBox="1"/>
          <p:nvPr/>
        </p:nvSpPr>
        <p:spPr>
          <a:xfrm>
            <a:off x="756000" y="5704799"/>
            <a:ext cx="3744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Relevé de l'existant : dalle haute (épaisseur 0,20 et sous-face +3,30 en hypothèse), descentes EU/EV, arrivée électrique de l'immeuble.</a:t>
            </a:r>
          </a:p>
        </p:txBody>
      </p:sp>
      <p:sp>
        <p:nvSpPr>
          <p:cNvPr id="77" name="TextBox 76"/>
          <p:cNvSpPr txBox="1"/>
          <p:nvPr/>
        </p:nvSpPr>
        <p:spPr>
          <a:xfrm>
            <a:off x="504000" y="6081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Jost"/>
              </a:rPr>
              <a:t>02</a:t>
            </a:r>
          </a:p>
        </p:txBody>
      </p:sp>
      <p:sp>
        <p:nvSpPr>
          <p:cNvPr id="78" name="TextBox 77"/>
          <p:cNvSpPr txBox="1"/>
          <p:nvPr/>
        </p:nvSpPr>
        <p:spPr>
          <a:xfrm>
            <a:off x="756000" y="6081599"/>
            <a:ext cx="3744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BET : statut porteur des refends en agglos, fixations non traversantes sous dalle, charge et ancrage de l'arbre à livres et de l'oculus.</a:t>
            </a:r>
          </a:p>
        </p:txBody>
      </p:sp>
      <p:sp>
        <p:nvSpPr>
          <p:cNvPr id="79" name="TextBox 78"/>
          <p:cNvSpPr txBox="1"/>
          <p:nvPr/>
        </p:nvSpPr>
        <p:spPr>
          <a:xfrm>
            <a:off x="504000" y="6458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Jost"/>
              </a:rPr>
              <a:t>03</a:t>
            </a:r>
          </a:p>
        </p:txBody>
      </p:sp>
      <p:sp>
        <p:nvSpPr>
          <p:cNvPr id="80" name="TextBox 79"/>
          <p:cNvSpPr txBox="1"/>
          <p:nvPr/>
        </p:nvSpPr>
        <p:spPr>
          <a:xfrm>
            <a:off x="756000" y="6458399"/>
            <a:ext cx="3744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Copropriété : sortie des liaisons de clim et des unités extérieures en courette, adaptation de l'imposte de la baie arrière.</a:t>
            </a:r>
          </a:p>
        </p:txBody>
      </p:sp>
      <p:sp>
        <p:nvSpPr>
          <p:cNvPr id="81" name="TextBox 80"/>
          <p:cNvSpPr txBox="1"/>
          <p:nvPr/>
        </p:nvSpPr>
        <p:spPr>
          <a:xfrm>
            <a:off x="504000" y="6835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Jost"/>
              </a:rPr>
              <a:t>04</a:t>
            </a:r>
          </a:p>
        </p:txBody>
      </p:sp>
      <p:sp>
        <p:nvSpPr>
          <p:cNvPr id="82" name="TextBox 81"/>
          <p:cNvSpPr txBox="1"/>
          <p:nvPr/>
        </p:nvSpPr>
        <p:spPr>
          <a:xfrm>
            <a:off x="756000" y="6835199"/>
            <a:ext cx="3744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MOA : maintien des claustras V4 devant la vitrine de la baie A, fabrication des inserts Adinkra avec l'artisan.</a:t>
            </a:r>
          </a:p>
        </p:txBody>
      </p:sp>
      <p:sp>
        <p:nvSpPr>
          <p:cNvPr id="83" name="TextBox 82"/>
          <p:cNvSpPr txBox="1"/>
          <p:nvPr/>
        </p:nvSpPr>
        <p:spPr>
          <a:xfrm>
            <a:off x="4680000" y="5704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Jost"/>
              </a:rPr>
              <a:t>05</a:t>
            </a:r>
          </a:p>
        </p:txBody>
      </p:sp>
      <p:sp>
        <p:nvSpPr>
          <p:cNvPr id="84" name="TextBox 83"/>
          <p:cNvSpPr txBox="1"/>
          <p:nvPr/>
        </p:nvSpPr>
        <p:spPr>
          <a:xfrm>
            <a:off x="4932000" y="5704799"/>
            <a:ext cx="3744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APS : reprise des rails et suspensions V4 qui tombent dans le plénum, condensats relevés par mini-pompes faute de pente gravitaire.</a:t>
            </a:r>
          </a:p>
        </p:txBody>
      </p:sp>
      <p:sp>
        <p:nvSpPr>
          <p:cNvPr id="85" name="TextBox 84"/>
          <p:cNvSpPr txBox="1"/>
          <p:nvPr/>
        </p:nvSpPr>
        <p:spPr>
          <a:xfrm>
            <a:off x="4680000" y="6081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Jost"/>
              </a:rPr>
              <a:t>06</a:t>
            </a:r>
          </a:p>
        </p:txBody>
      </p:sp>
      <p:sp>
        <p:nvSpPr>
          <p:cNvPr id="86" name="TextBox 85"/>
          <p:cNvSpPr txBox="1"/>
          <p:nvPr/>
        </p:nvSpPr>
        <p:spPr>
          <a:xfrm>
            <a:off x="4932000" y="6081599"/>
            <a:ext cx="3744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Accessibilité PMR du WC et réaction au feu des éléments en bois à vérifier.</a:t>
            </a:r>
          </a:p>
        </p:txBody>
      </p:sp>
      <p:sp>
        <p:nvSpPr>
          <p:cNvPr id="87" name="TextBox 86"/>
          <p:cNvSpPr txBox="1"/>
          <p:nvPr/>
        </p:nvSpPr>
        <p:spPr>
          <a:xfrm>
            <a:off x="4680000" y="63059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Jost"/>
              </a:rPr>
              <a:t>07</a:t>
            </a:r>
          </a:p>
        </p:txBody>
      </p:sp>
      <p:sp>
        <p:nvSpPr>
          <p:cNvPr id="88" name="TextBox 87"/>
          <p:cNvSpPr txBox="1"/>
          <p:nvPr/>
        </p:nvSpPr>
        <p:spPr>
          <a:xfrm>
            <a:off x="4932000" y="6305999"/>
            <a:ext cx="3744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Planches T01 à T05 d'Ahoua (courants forts, courants faibles et éclairage, AEP/EU/EV, détails, unifilaire et bilan) à insérer pages 16 à 20.</a:t>
            </a:r>
          </a:p>
        </p:txBody>
      </p:sp>
      <p:sp>
        <p:nvSpPr>
          <p:cNvPr id="89" name="TextBox 88"/>
          <p:cNvSpPr txBox="1"/>
          <p:nvPr/>
        </p:nvSpPr>
        <p:spPr>
          <a:xfrm>
            <a:off x="4680000" y="6682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Jost"/>
              </a:rPr>
              <a:t>08</a:t>
            </a:r>
          </a:p>
        </p:txBody>
      </p:sp>
      <p:sp>
        <p:nvSpPr>
          <p:cNvPr id="90" name="TextBox 89"/>
          <p:cNvSpPr txBox="1"/>
          <p:nvPr/>
        </p:nvSpPr>
        <p:spPr>
          <a:xfrm>
            <a:off x="4932000" y="6682799"/>
            <a:ext cx="3744000" cy="358799"/>
          </a:xfrm>
          <a:prstGeom prst="rect">
            <a:avLst/>
          </a:prstGeom>
          <a:noFill/>
        </p:spPr>
        <p:txBody>
          <a:bodyPr wrap="square" lIns="0" rIns="0" tIns="0" bIns="0" anchor="t">
            <a:spAutoFit/>
          </a:bodyPr>
          <a:lstStyle/>
          <a:p>
            <a:pPr algn="l">
              <a:lnSpc>
                <a:spcPts val="1200"/>
              </a:lnSpc>
            </a:pPr>
            <a:r>
              <a:rPr sz="840">
                <a:solidFill>
                  <a:srgbClr val="2B2420"/>
                </a:solidFill>
                <a:latin typeface="Jost"/>
              </a:rPr>
              <a:t>Rendu R1 : jardinières de la terrasse rendues en banquettes, à reprendre pour coller à la maquette.</a:t>
            </a:r>
          </a:p>
        </p:txBody>
      </p:sp>
      <p:cxnSp>
        <p:nvCxnSpPr>
          <p:cNvPr id="91" name="Connector 90"/>
          <p:cNvCxnSpPr/>
          <p:nvPr/>
        </p:nvCxnSpPr>
        <p:spPr>
          <a:xfrm>
            <a:off x="504000" y="9000000"/>
            <a:ext cx="1908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504000" y="9144000"/>
            <a:ext cx="1908000" cy="409599"/>
          </a:xfrm>
          <a:prstGeom prst="rect">
            <a:avLst/>
          </a:prstGeom>
          <a:noFill/>
        </p:spPr>
        <p:txBody>
          <a:bodyPr wrap="square" lIns="0" rIns="0" tIns="0" bIns="0" anchor="t">
            <a:spAutoFit/>
          </a:bodyPr>
          <a:lstStyle/>
          <a:p>
            <a:pPr algn="l">
              <a:lnSpc>
                <a:spcPts val="2800"/>
              </a:lnSpc>
            </a:pPr>
            <a:r>
              <a:rPr sz="2600">
                <a:solidFill>
                  <a:srgbClr val="B4583E"/>
                </a:solidFill>
                <a:latin typeface="DM Serif Display"/>
              </a:rPr>
              <a:t>0 erreur</a:t>
            </a:r>
          </a:p>
        </p:txBody>
      </p:sp>
      <p:sp>
        <p:nvSpPr>
          <p:cNvPr id="93" name="TextBox 92"/>
          <p:cNvSpPr txBox="1"/>
          <p:nvPr/>
        </p:nvSpPr>
        <p:spPr>
          <a:xfrm>
            <a:off x="504000" y="9576000"/>
            <a:ext cx="1908000" cy="173380"/>
          </a:xfrm>
          <a:prstGeom prst="rect">
            <a:avLst/>
          </a:prstGeom>
          <a:noFill/>
        </p:spPr>
        <p:txBody>
          <a:bodyPr wrap="square" lIns="0" rIns="0" tIns="0" bIns="0" anchor="t">
            <a:spAutoFit/>
          </a:bodyPr>
          <a:lstStyle/>
          <a:p>
            <a:pPr algn="l">
              <a:lnSpc>
                <a:spcPts val="940"/>
              </a:lnSpc>
            </a:pPr>
            <a:r>
              <a:rPr sz="740">
                <a:solidFill>
                  <a:srgbClr val="7D7168"/>
                </a:solidFill>
                <a:latin typeface="Jost"/>
              </a:rPr>
              <a:t>validation IFC4, natif et variante Revit</a:t>
            </a:r>
          </a:p>
        </p:txBody>
      </p:sp>
      <p:cxnSp>
        <p:nvCxnSpPr>
          <p:cNvPr id="94" name="Connector 93"/>
          <p:cNvCxnSpPr/>
          <p:nvPr/>
        </p:nvCxnSpPr>
        <p:spPr>
          <a:xfrm>
            <a:off x="2592000" y="9000000"/>
            <a:ext cx="1908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2592000" y="9144000"/>
            <a:ext cx="1908000" cy="409599"/>
          </a:xfrm>
          <a:prstGeom prst="rect">
            <a:avLst/>
          </a:prstGeom>
          <a:noFill/>
        </p:spPr>
        <p:txBody>
          <a:bodyPr wrap="square" lIns="0" rIns="0" tIns="0" bIns="0" anchor="t">
            <a:spAutoFit/>
          </a:bodyPr>
          <a:lstStyle/>
          <a:p>
            <a:pPr algn="l">
              <a:lnSpc>
                <a:spcPts val="2800"/>
              </a:lnSpc>
            </a:pPr>
            <a:r>
              <a:rPr sz="2600">
                <a:solidFill>
                  <a:srgbClr val="B4583E"/>
                </a:solidFill>
                <a:latin typeface="DM Serif Display"/>
              </a:rPr>
              <a:t>141 / 141</a:t>
            </a:r>
          </a:p>
        </p:txBody>
      </p:sp>
      <p:sp>
        <p:nvSpPr>
          <p:cNvPr id="96" name="TextBox 95"/>
          <p:cNvSpPr txBox="1"/>
          <p:nvPr/>
        </p:nvSpPr>
        <p:spPr>
          <a:xfrm>
            <a:off x="2592000" y="9576000"/>
            <a:ext cx="1908000" cy="173380"/>
          </a:xfrm>
          <a:prstGeom prst="rect">
            <a:avLst/>
          </a:prstGeom>
          <a:noFill/>
        </p:spPr>
        <p:txBody>
          <a:bodyPr wrap="square" lIns="0" rIns="0" tIns="0" bIns="0" anchor="t">
            <a:spAutoFit/>
          </a:bodyPr>
          <a:lstStyle/>
          <a:p>
            <a:pPr algn="l">
              <a:lnSpc>
                <a:spcPts val="940"/>
              </a:lnSpc>
            </a:pPr>
            <a:r>
              <a:rPr sz="740">
                <a:solidFill>
                  <a:srgbClr val="7D7168"/>
                </a:solidFill>
                <a:latin typeface="Jost"/>
              </a:rPr>
              <a:t>produits V4 identiques en V5</a:t>
            </a:r>
          </a:p>
        </p:txBody>
      </p:sp>
      <p:cxnSp>
        <p:nvCxnSpPr>
          <p:cNvPr id="97" name="Connector 96"/>
          <p:cNvCxnSpPr/>
          <p:nvPr/>
        </p:nvCxnSpPr>
        <p:spPr>
          <a:xfrm>
            <a:off x="4680000" y="9000000"/>
            <a:ext cx="1908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4680000" y="9144000"/>
            <a:ext cx="1908000" cy="409599"/>
          </a:xfrm>
          <a:prstGeom prst="rect">
            <a:avLst/>
          </a:prstGeom>
          <a:noFill/>
        </p:spPr>
        <p:txBody>
          <a:bodyPr wrap="square" lIns="0" rIns="0" tIns="0" bIns="0" anchor="t">
            <a:spAutoFit/>
          </a:bodyPr>
          <a:lstStyle/>
          <a:p>
            <a:pPr algn="l">
              <a:lnSpc>
                <a:spcPts val="2800"/>
              </a:lnSpc>
            </a:pPr>
            <a:r>
              <a:rPr sz="2600">
                <a:solidFill>
                  <a:srgbClr val="B4583E"/>
                </a:solidFill>
                <a:latin typeface="DM Serif Display"/>
              </a:rPr>
              <a:t>0</a:t>
            </a:r>
          </a:p>
        </p:txBody>
      </p:sp>
      <p:sp>
        <p:nvSpPr>
          <p:cNvPr id="99" name="TextBox 98"/>
          <p:cNvSpPr txBox="1"/>
          <p:nvPr/>
        </p:nvSpPr>
        <p:spPr>
          <a:xfrm>
            <a:off x="4680000" y="9576000"/>
            <a:ext cx="1908000" cy="173380"/>
          </a:xfrm>
          <a:prstGeom prst="rect">
            <a:avLst/>
          </a:prstGeom>
          <a:noFill/>
        </p:spPr>
        <p:txBody>
          <a:bodyPr wrap="square" lIns="0" rIns="0" tIns="0" bIns="0" anchor="t">
            <a:spAutoFit/>
          </a:bodyPr>
          <a:lstStyle/>
          <a:p>
            <a:pPr algn="l">
              <a:lnSpc>
                <a:spcPts val="940"/>
              </a:lnSpc>
            </a:pPr>
            <a:r>
              <a:rPr sz="740">
                <a:solidFill>
                  <a:srgbClr val="7D7168"/>
                </a:solidFill>
                <a:latin typeface="Jost"/>
              </a:rPr>
              <a:t>pénétration d'un ajout dans la structure</a:t>
            </a:r>
          </a:p>
        </p:txBody>
      </p:sp>
      <p:cxnSp>
        <p:nvCxnSpPr>
          <p:cNvPr id="100" name="Connector 99"/>
          <p:cNvCxnSpPr/>
          <p:nvPr/>
        </p:nvCxnSpPr>
        <p:spPr>
          <a:xfrm>
            <a:off x="6768000" y="9000000"/>
            <a:ext cx="1908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6768000" y="9144000"/>
            <a:ext cx="1908000" cy="409599"/>
          </a:xfrm>
          <a:prstGeom prst="rect">
            <a:avLst/>
          </a:prstGeom>
          <a:noFill/>
        </p:spPr>
        <p:txBody>
          <a:bodyPr wrap="square" lIns="0" rIns="0" tIns="0" bIns="0" anchor="t">
            <a:spAutoFit/>
          </a:bodyPr>
          <a:lstStyle/>
          <a:p>
            <a:pPr algn="l">
              <a:lnSpc>
                <a:spcPts val="2800"/>
              </a:lnSpc>
            </a:pPr>
            <a:r>
              <a:rPr sz="2600">
                <a:solidFill>
                  <a:srgbClr val="B4583E"/>
                </a:solidFill>
                <a:latin typeface="DM Serif Display"/>
              </a:rPr>
              <a:t>8</a:t>
            </a:r>
          </a:p>
        </p:txBody>
      </p:sp>
      <p:sp>
        <p:nvSpPr>
          <p:cNvPr id="102" name="TextBox 101"/>
          <p:cNvSpPr txBox="1"/>
          <p:nvPr/>
        </p:nvSpPr>
        <p:spPr>
          <a:xfrm>
            <a:off x="6768000" y="9576000"/>
            <a:ext cx="1908000" cy="173380"/>
          </a:xfrm>
          <a:prstGeom prst="rect">
            <a:avLst/>
          </a:prstGeom>
          <a:noFill/>
        </p:spPr>
        <p:txBody>
          <a:bodyPr wrap="square" lIns="0" rIns="0" tIns="0" bIns="0" anchor="t">
            <a:spAutoFit/>
          </a:bodyPr>
          <a:lstStyle/>
          <a:p>
            <a:pPr algn="l">
              <a:lnSpc>
                <a:spcPts val="940"/>
              </a:lnSpc>
            </a:pPr>
            <a:r>
              <a:rPr sz="740">
                <a:solidFill>
                  <a:srgbClr val="7D7168"/>
                </a:solidFill>
                <a:latin typeface="Jost"/>
              </a:rPr>
              <a:t>espaces IfcSpace nommés et métrés</a:t>
            </a:r>
          </a:p>
        </p:txBody>
      </p:sp>
      <p:sp>
        <p:nvSpPr>
          <p:cNvPr id="103" name="Rectangle 102"/>
          <p:cNvSpPr/>
          <p:nvPr/>
        </p:nvSpPr>
        <p:spPr>
          <a:xfrm>
            <a:off x="9180000" y="0"/>
            <a:ext cx="5940000" cy="10692000"/>
          </a:xfrm>
          <a:prstGeom prst="rect">
            <a:avLst/>
          </a:prstGeom>
          <a:solidFill>
            <a:srgbClr val="F4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4" name="Picture 103" descr="KDemi_v3_A_arche_lockup_mono.png"/>
          <p:cNvPicPr>
            <a:picLocks noChangeAspect="1"/>
          </p:cNvPicPr>
          <p:nvPr/>
        </p:nvPicPr>
        <p:blipFill>
          <a:blip r:embed="rId2"/>
          <a:stretch>
            <a:fillRect/>
          </a:stretch>
        </p:blipFill>
        <p:spPr>
          <a:xfrm>
            <a:off x="9468000" y="432000"/>
            <a:ext cx="1656000" cy="561660"/>
          </a:xfrm>
          <a:prstGeom prst="rect">
            <a:avLst/>
          </a:prstGeom>
        </p:spPr>
      </p:pic>
      <p:sp>
        <p:nvSpPr>
          <p:cNvPr id="105" name="TextBox 104"/>
          <p:cNvSpPr txBox="1"/>
          <p:nvPr/>
        </p:nvSpPr>
        <p:spPr>
          <a:xfrm>
            <a:off x="9468000" y="1440000"/>
            <a:ext cx="5292000" cy="409599"/>
          </a:xfrm>
          <a:prstGeom prst="rect">
            <a:avLst/>
          </a:prstGeom>
          <a:noFill/>
        </p:spPr>
        <p:txBody>
          <a:bodyPr wrap="square" lIns="0" rIns="0" tIns="0" bIns="0" anchor="t">
            <a:spAutoFit/>
          </a:bodyPr>
          <a:lstStyle/>
          <a:p>
            <a:pPr algn="l">
              <a:lnSpc>
                <a:spcPts val="2800"/>
              </a:lnSpc>
            </a:pPr>
            <a:r>
              <a:rPr sz="2500">
                <a:solidFill>
                  <a:srgbClr val="2B2420"/>
                </a:solidFill>
                <a:latin typeface="DM Serif Display"/>
              </a:rPr>
              <a:t>Cohérence</a:t>
            </a:r>
          </a:p>
        </p:txBody>
      </p:sp>
      <p:sp>
        <p:nvSpPr>
          <p:cNvPr id="106" name="TextBox 105"/>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100">
                <a:solidFill>
                  <a:srgbClr val="B4583E"/>
                </a:solidFill>
                <a:latin typeface="Jost"/>
              </a:rPr>
              <a:t>D.A, maquette, plans et technique</a:t>
            </a:r>
          </a:p>
        </p:txBody>
      </p:sp>
      <p:sp>
        <p:nvSpPr>
          <p:cNvPr id="107" name="TextBox 106"/>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7D7168"/>
                </a:solidFill>
                <a:latin typeface="Jost"/>
              </a:rPr>
              <a:t>Contrôle croisé du 15 octobre 2026</a:t>
            </a:r>
          </a:p>
        </p:txBody>
      </p:sp>
      <p:cxnSp>
        <p:nvCxnSpPr>
          <p:cNvPr id="108" name="Connector 107"/>
          <p:cNvCxnSpPr/>
          <p:nvPr/>
        </p:nvCxnSpPr>
        <p:spPr>
          <a:xfrm>
            <a:off x="9468000" y="2304000"/>
            <a:ext cx="5292000" cy="0"/>
          </a:xfrm>
          <a:prstGeom prst="line">
            <a:avLst/>
          </a:prstGeom>
          <a:ln w="7620">
            <a:solidFill>
              <a:srgbClr val="B4583E"/>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VALIDATIONS</a:t>
            </a:r>
          </a:p>
        </p:txBody>
      </p:sp>
      <p:sp>
        <p:nvSpPr>
          <p:cNvPr id="110" name="TextBox 109"/>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2B2420"/>
                </a:solidFill>
                <a:latin typeface="Jost"/>
              </a:rPr>
              <a:t>IFC4 natif et variante maillée pour Revit : 0 erreur au validateur ifcopenshell 0.9.0, schéma et règles EXPRESS. Contre-vérification indépendante sur main : les 141 produits V4 sont retrouvés par GlobalId, placements et géométries identiques (écart 0), emprise 6,78 × 7,68 m, WC 4350629 et lave-mains 4350630/4350631 conservés.</a:t>
            </a:r>
          </a:p>
        </p:txBody>
      </p:sp>
      <p:sp>
        <p:nvSpPr>
          <p:cNvPr id="111" name="TextBox 110"/>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LIVRABLES</a:t>
            </a:r>
          </a:p>
        </p:txBody>
      </p:sp>
      <p:sp>
        <p:nvSpPr>
          <p:cNvPr id="112" name="TextBox 111"/>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2B2420"/>
                </a:solidFill>
                <a:latin typeface="Jost"/>
              </a:rPr>
              <a:t>Maquette v5/DECIMO_ESQ_V5.ifc et sa variante maillée pour Revit, planches A01 à A08 en PDF, PNG et SVG, vues de rendu avec leurs caméras, rapports de vérification. Tout est sur la branche main du dépôt jeemake/bibliothequeNandjuiS.Simon.</a:t>
            </a:r>
          </a:p>
        </p:txBody>
      </p:sp>
      <p:sp>
        <p:nvSpPr>
          <p:cNvPr id="113" name="TextBox 112"/>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Jost"/>
              </a:rPr>
              <a:t>LECTURE</a:t>
            </a:r>
          </a:p>
        </p:txBody>
      </p:sp>
      <p:sp>
        <p:nvSpPr>
          <p:cNvPr id="114" name="TextBox 113"/>
          <p:cNvSpPr txBox="1"/>
          <p:nvPr/>
        </p:nvSpPr>
        <p:spPr>
          <a:xfrm>
            <a:off x="9468000" y="4320000"/>
            <a:ext cx="5292000" cy="206399"/>
          </a:xfrm>
          <a:prstGeom prst="rect">
            <a:avLst/>
          </a:prstGeom>
          <a:noFill/>
        </p:spPr>
        <p:txBody>
          <a:bodyPr wrap="square" lIns="0" rIns="0" tIns="0" bIns="0" anchor="t">
            <a:spAutoFit/>
          </a:bodyPr>
          <a:lstStyle/>
          <a:p>
            <a:pPr algn="l">
              <a:lnSpc>
                <a:spcPts val="1200"/>
              </a:lnSpc>
            </a:pPr>
            <a:r>
              <a:rPr sz="840">
                <a:solidFill>
                  <a:srgbClr val="2B2420"/>
                </a:solidFill>
                <a:latin typeface="Jost"/>
              </a:rPr>
              <a:t>Les cotes et surfaces sont indicatives au stade de l'esquisse. L'existant V4 reste à relever sur site avant l'APS.</a:t>
            </a:r>
          </a:p>
        </p:txBody>
      </p:sp>
      <p:cxnSp>
        <p:nvCxnSpPr>
          <p:cNvPr id="115" name="Connector 114"/>
          <p:cNvCxnSpPr/>
          <p:nvPr/>
        </p:nvCxnSpPr>
        <p:spPr>
          <a:xfrm>
            <a:off x="9468000" y="8856000"/>
            <a:ext cx="5292000" cy="0"/>
          </a:xfrm>
          <a:prstGeom prst="line">
            <a:avLst/>
          </a:prstGeom>
          <a:ln w="3810">
            <a:solidFill>
              <a:srgbClr val="7D7168"/>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PROJET</a:t>
            </a:r>
          </a:p>
        </p:txBody>
      </p:sp>
      <p:sp>
        <p:nvSpPr>
          <p:cNvPr id="117" name="TextBox 116"/>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Bibliothèque Decimo · RDC sous logements, Deux Plateaux, Abidjan</a:t>
            </a:r>
          </a:p>
        </p:txBody>
      </p:sp>
      <p:sp>
        <p:nvSpPr>
          <p:cNvPr id="118" name="TextBox 117"/>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PHASE</a:t>
            </a:r>
          </a:p>
        </p:txBody>
      </p:sp>
      <p:sp>
        <p:nvSpPr>
          <p:cNvPr id="119" name="TextBox 118"/>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ESQ V5 · aménagement sur existant V4</a:t>
            </a:r>
          </a:p>
        </p:txBody>
      </p:sp>
      <p:sp>
        <p:nvSpPr>
          <p:cNvPr id="120" name="TextBox 119"/>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PLANCHE</a:t>
            </a:r>
          </a:p>
        </p:txBody>
      </p:sp>
      <p:sp>
        <p:nvSpPr>
          <p:cNvPr id="121" name="TextBox 120"/>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21 · Cohérence et points ouverts</a:t>
            </a:r>
          </a:p>
        </p:txBody>
      </p:sp>
      <p:sp>
        <p:nvSpPr>
          <p:cNvPr id="122" name="TextBox 121"/>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ÉCHELLE</a:t>
            </a:r>
          </a:p>
        </p:txBody>
      </p:sp>
      <p:sp>
        <p:nvSpPr>
          <p:cNvPr id="123" name="TextBox 122"/>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sans échelle · format A3 paysage</a:t>
            </a:r>
          </a:p>
        </p:txBody>
      </p:sp>
      <p:sp>
        <p:nvSpPr>
          <p:cNvPr id="124" name="TextBox 123"/>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MAQUETTE</a:t>
            </a:r>
          </a:p>
        </p:txBody>
      </p:sp>
      <p:sp>
        <p:nvSpPr>
          <p:cNvPr id="125" name="TextBox 124"/>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v5/DECIMO_ESQ_V5.ifc (IFC4)</a:t>
            </a:r>
          </a:p>
        </p:txBody>
      </p:sp>
      <p:sp>
        <p:nvSpPr>
          <p:cNvPr id="126" name="TextBox 125"/>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7D7168"/>
                </a:solidFill>
                <a:latin typeface="Jost"/>
              </a:rPr>
              <a:t>DATE</a:t>
            </a:r>
          </a:p>
        </p:txBody>
      </p:sp>
      <p:sp>
        <p:nvSpPr>
          <p:cNvPr id="127" name="TextBox 126"/>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2B2420"/>
                </a:solidFill>
                <a:latin typeface="Jost"/>
              </a:rPr>
              <a:t>15 octobre 2026 · indice A</a:t>
            </a:r>
          </a:p>
        </p:txBody>
      </p:sp>
      <p:sp>
        <p:nvSpPr>
          <p:cNvPr id="128" name="TextBox 127"/>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2B2420"/>
                </a:solidFill>
                <a:latin typeface="Manrope"/>
              </a:rPr>
              <a:t>K&amp;Démi</a:t>
            </a:r>
          </a:p>
        </p:txBody>
      </p:sp>
      <p:sp>
        <p:nvSpPr>
          <p:cNvPr id="129" name="TextBox 128"/>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B4583E"/>
                </a:solidFill>
                <a:latin typeface="Jost"/>
              </a:rPr>
              <a:t>21 · ESQ V5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